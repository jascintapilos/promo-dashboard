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7ed7f74744296" /><Relationship Type="http://schemas.openxmlformats.org/officeDocument/2006/relationships/extended-properties" Target="/docProps/app.xml" Id="R8725aefa40f64217" /><Relationship Type="http://schemas.openxmlformats.org/officeDocument/2006/relationships/officeDocument" Target="/ppt/presentation.xml" Id="R3f17c61d0bd2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94f6bcc0d3455d"/>
  </p:sldMasterIdLst>
  <p:notesMasterIdLst>
    <p:notesMasterId xmlns:r="http://schemas.openxmlformats.org/officeDocument/2006/relationships" r:id="R7d6a96131d98448a"/>
  </p:notesMasterIdLst>
  <p:sldIdLst>
    <p:sldId xmlns:r="http://schemas.openxmlformats.org/officeDocument/2006/relationships" id="256" r:id="R681313677a884c22"/>
    <p:sldId xmlns:r="http://schemas.openxmlformats.org/officeDocument/2006/relationships" id="257" r:id="R8e03a89a25b24461"/>
    <p:sldId xmlns:r="http://schemas.openxmlformats.org/officeDocument/2006/relationships" id="258" r:id="Rd01ac403f86e4f33"/>
    <p:sldId xmlns:r="http://schemas.openxmlformats.org/officeDocument/2006/relationships" id="259" r:id="Re9e4b8a16e924c3b"/>
    <p:sldId xmlns:r="http://schemas.openxmlformats.org/officeDocument/2006/relationships" id="260" r:id="Rd1cdb380b9274357"/>
    <p:sldId xmlns:r="http://schemas.openxmlformats.org/officeDocument/2006/relationships" id="261" r:id="R4ea0c8a4479042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bc55b72954009" /><Relationship Type="http://schemas.openxmlformats.org/officeDocument/2006/relationships/slideMaster" Target="/ppt/slideMasters/slideMaster1.xml" Id="Rf094f6bcc0d3455d" /><Relationship Type="http://schemas.openxmlformats.org/officeDocument/2006/relationships/notesMaster" Target="/ppt/notesMasters/notesMaster1.xml" Id="R7d6a96131d98448a" /><Relationship Type="http://schemas.openxmlformats.org/officeDocument/2006/relationships/presProps" Target="/ppt/presProps.xml" Id="Rd752eab4444846e1" /><Relationship Type="http://schemas.openxmlformats.org/officeDocument/2006/relationships/tableStyles" Target="/ppt/tableStyles.xml" Id="Rd7fd282f22244500" /><Relationship Type="http://schemas.openxmlformats.org/officeDocument/2006/relationships/slide" Target="/ppt/slides/slide1.xml" Id="R681313677a884c22" /><Relationship Type="http://schemas.openxmlformats.org/officeDocument/2006/relationships/slide" Target="/ppt/slides/slide2.xml" Id="R8e03a89a25b24461" /><Relationship Type="http://schemas.openxmlformats.org/officeDocument/2006/relationships/slide" Target="/ppt/slides/slide3.xml" Id="Rd01ac403f86e4f33" /><Relationship Type="http://schemas.openxmlformats.org/officeDocument/2006/relationships/slide" Target="/ppt/slides/slide4.xml" Id="Re9e4b8a16e924c3b" /><Relationship Type="http://schemas.openxmlformats.org/officeDocument/2006/relationships/slide" Target="/ppt/slides/slide5.xml" Id="Rd1cdb380b9274357" /><Relationship Type="http://schemas.openxmlformats.org/officeDocument/2006/relationships/slide" Target="/ppt/slides/slide6.xml" Id="R4ea0c8a4479042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d532b5b744a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7e786582874792" /><Relationship Type="http://schemas.openxmlformats.org/officeDocument/2006/relationships/notesMaster" Target="/ppt/notesMasters/notesMaster1.xml" Id="Raeadad94022b4f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9806875c84dcb" /><Relationship Type="http://schemas.openxmlformats.org/officeDocument/2006/relationships/notesMaster" Target="/ppt/notesMasters/notesMaster1.xml" Id="Ra71b1c63db3345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208d04adcf4ca3" /><Relationship Type="http://schemas.openxmlformats.org/officeDocument/2006/relationships/notesMaster" Target="/ppt/notesMasters/notesMaster1.xml" Id="R6a303b81da024f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0a6c6a20284417" /><Relationship Type="http://schemas.openxmlformats.org/officeDocument/2006/relationships/notesMaster" Target="/ppt/notesMasters/notesMaster1.xml" Id="R677690f4516f41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0860560944111" /><Relationship Type="http://schemas.openxmlformats.org/officeDocument/2006/relationships/notesMaster" Target="/ppt/notesMasters/notesMaster1.xml" Id="Rc93c185341324e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c8a1c080d48de" /><Relationship Type="http://schemas.openxmlformats.org/officeDocument/2006/relationships/notesMaster" Target="/ppt/notesMasters/notesMaster1.xml" Id="R9eea7e1323284d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63a0ab9f5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261a71da6f489e" /><Relationship Type="http://schemas.openxmlformats.org/officeDocument/2006/relationships/slideLayout" Target="/ppt/slideLayouts/slideLayout1.xml" Id="R58560d4a4c76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60d4a4c76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1424833014999" /><Relationship Type="http://schemas.openxmlformats.org/officeDocument/2006/relationships/notesSlide" Target="/ppt/notesSlides/notesSlide1.xml" Id="R0dcb1f049a09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4830fd944a77" /><Relationship Type="http://schemas.openxmlformats.org/officeDocument/2006/relationships/image" Target="/ppt/media/image.png" Id="R47e874cf87ec430c" /><Relationship Type="http://schemas.openxmlformats.org/officeDocument/2006/relationships/notesSlide" Target="/ppt/notesSlides/notesSlide2.xml" Id="R4107aeba2374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c922aa2f4fa0" /><Relationship Type="http://schemas.openxmlformats.org/officeDocument/2006/relationships/notesSlide" Target="/ppt/notesSlides/notesSlide3.xml" Id="Rec5803ebe26942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d54d3043540d5" /><Relationship Type="http://schemas.openxmlformats.org/officeDocument/2006/relationships/notesSlide" Target="/ppt/notesSlides/notesSlide4.xml" Id="R37d0b371e50447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3de2101e74dc6" /><Relationship Type="http://schemas.openxmlformats.org/officeDocument/2006/relationships/notesSlide" Target="/ppt/notesSlides/notesSlide5.xml" Id="Red2205dee31144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c5fe678ab4ff1" /><Relationship Type="http://schemas.openxmlformats.org/officeDocument/2006/relationships/notesSlide" Target="/ppt/notesSlides/notesSlide6.xml" Id="Red196c1c9c1442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9B692-1245-42DC-8AC1-F46D29D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190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EA65B-6017-4D82-937A-54192CEB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SUBSCRIPTION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76E54-63AA-4EC2-9780-E4888665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Approve ChatGPT Pro</a:t>
            </a:r>
          </a:p>
          <a:p xmlns:a="http://schemas.openxmlformats.org/drawingml/2006/main">
            <a:pPr algn="l">
              <a:defRPr sz="43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for a 30-day capacity trial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8A042-80CF-4D07-BD92-86A45E0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Recommendation: Pro 5× at RM420/month, while retaining two Claude Team Premium accounts for continuity.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C349F-B2F0-46EA-959A-DC2C5A6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04950"/>
            <a:ext cx="1762125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EA343-7AC7-4FA3-9E6B-1BAF5B26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95450"/>
            <a:ext cx="1381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RM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3912A-65A3-4DAB-9BA2-6D36326F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C9B65-95C6-411D-B649-6982F32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B4F32-52FF-42B5-BEA5-03E4CE2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102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Approve one month, then review measured utilization and workload coverage.</a:t>
            </a:r>
          </a:p>
        </p:txBody>
      </p:sp>
    </p:spTree>
    <p:extLst>
      <p:ext uri="{BB962C8B-B14F-4D97-AF65-F5344CB8AC3E}">
        <p14:creationId xmlns:p14="http://schemas.microsoft.com/office/powerpoint/2010/main" val="2093211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9B506-505C-42E4-9384-137AA6A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22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Current subscriptions do not provide enough fixed-cost automation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201C4-7E8E-4692-B191-868E4A3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F8DE0-D6E5-40A9-919C-84C61ADA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AA821-F9D5-43C0-9C7D-6B82D69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ChatGPT Plus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37798-646F-4F02-A748-248A866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Current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426F0-E52D-4D40-943B-B25A4B5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Weekly allowance is already being consumed by Codex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AE401-68F0-4DF1-AD34-A96CF51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287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7119C-13B8-46F5-8EC2-33805B5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Claude Team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246EC-DEBC-4F45-B01F-00285A6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2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243C6-4940-42D5-9941-EBCDA8D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Supports production automation, troubleshooting and urgent fixes.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3871F-09AF-4D96-BCEF-E4CEDA5E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4076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2313A-99EB-40F6-B558-C1413EEE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Capacity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B1365-BF63-4EAF-B7AD-7A61BA7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52%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0E7CF-8C38-44E0-97B0-70B5128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717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weekly usage remaining</a:t>
            </a:r>
          </a:p>
          <a:p xmlns:a="http://schemas.openxmlformats.org/drawingml/2006/main">
            <a:pPr algn="l">
              <a:defRPr sz="142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after Codex work began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A26D4-3D26-482E-8880-A1D86790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The issue is capacity, not tool adoption.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EC6F9-E27E-4977-A2A9-29BACA79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Work is already active across both platforms; limits now interrupt automation building and force remaining credits to be reserved for production issues.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874cf87ec430c"/>
          <a:srcRect xmlns:a="http://schemas.openxmlformats.org/drawingml/2006/main" l="0" t="29907" r="0" b="29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5695950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</p:spTree>
    <p:extLst>
      <p:ext uri="{BB962C8B-B14F-4D97-AF65-F5344CB8AC3E}">
        <p14:creationId xmlns:p14="http://schemas.microsoft.com/office/powerpoint/2010/main" val="2001521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A08AA-AB45-43DA-83DA-A530FAE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2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The workload is sustained operational automation—not normal chat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EDADE-F4B8-49BA-A7A2-1D29BE6D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A985F-77CD-4FC0-8BA8-30EC142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133.3k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5D34F-4BF3-4869-AA03-40E9E9F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tokens of context before the current working conversation was compacted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68F8B-A498-488A-91BC-C60787F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570BA-6701-4B60-8438-282D4EBF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Promo creation &amp; QC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55194-2427-499B-A039-7F7D4538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0455C-0BA4-41F7-968A-DA67A2EC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954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IGMP API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A881E-833E-4F32-932E-2EEF907D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24125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0A8AA-0AD7-4C20-8D45-434F995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384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Campaign 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C0DE9-2818-4FC4-B5E0-0745349F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24125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E1C40-A62B-4788-8C32-2D3F6A1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Canary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A32E3-E02D-4854-A306-9E3BD22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578AD-B9C5-45C0-A0E9-8C44F573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Monitoring dashboards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2EB32-870B-444C-A748-67A60D1A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66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556FF-92BD-46CD-8659-607FE57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814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Urgent fixes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B4BE4-BE17-4AA8-B0A5-D43BA854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Management implication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65C35-AAF6-4513-8CD6-9CE19FBC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94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A higher fixed monthly allowance can absorb repeatable development work and reduce dependence on variable usage credits.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A1ACA-E23D-4B9C-BB25-DF7C7BC6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A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7A53"/>
                </a:solidFill>
                <a:latin typeface="Aptos"/>
                <a:ea typeface="Aptos"/>
                <a:cs typeface="Aptos"/>
              </a:rPr>
              <a:t>Business continuity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1B5B1-3908-4CD5-BC35-62931897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1114"/>
                </a:solidFill>
                <a:latin typeface="Aptos"/>
                <a:ea typeface="Aptos"/>
                <a:cs typeface="Aptos"/>
              </a:rPr>
              <a:t>Keep both Claude accounts during the trial; shift suitable Codex and general automation work to ChatGPT Pro.</a:t>
            </a:r>
          </a:p>
        </p:txBody>
      </p:sp>
    </p:spTree>
    <p:extLst>
      <p:ext uri="{BB962C8B-B14F-4D97-AF65-F5344CB8AC3E}">
        <p14:creationId xmlns:p14="http://schemas.microsoft.com/office/powerpoint/2010/main" val="311096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6C521-82D0-4C0E-A3AB-12A37691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13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Variable Claude credits are being consumed faster than a monthly fixed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715B9-CD92-4C5B-B9CA-8D4FA9DF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C3CE-D1E0-4F4A-BE49-BDC244A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EC2F3-74AF-4571-BD0E-2042F7F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USD100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E491B-C51E-404B-AF75-480FE27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additional credits approved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85482-5D8B-426D-A081-06102AFE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C475B-2FC8-4D6B-A7E7-67BE5099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USD80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EC898-329E-4757-A49F-A0320EAF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used in 2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BAC74-AF6B-41BA-84C8-5E4E9200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8112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98883-E24B-4F4D-A951-2C438E4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~USD40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A6F00-2EF7-433E-A2D5-DB26117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observed cost per active 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C394C-57C9-4C78-A20C-E09C14E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At the initial observed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CF0BB-E8B5-499C-816E-808C150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5 working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5897F-C3BB-4035-B33E-E5386FF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45C0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45C00"/>
                </a:solidFill>
                <a:latin typeface="Aptos"/>
                <a:ea typeface="Aptos"/>
                <a:cs typeface="Aptos"/>
              </a:rPr>
              <a:t>≈ USD200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7D752-B578-492C-A846-82BC13F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20 working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303A3-CBCF-49F7-9253-3C2ACE85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434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45C0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45C00"/>
                </a:solidFill>
                <a:latin typeface="Aptos"/>
                <a:ea typeface="Aptos"/>
                <a:cs typeface="Aptos"/>
              </a:rPr>
              <a:t>≈ USD800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E3657-99F5-40E2-B195-71B2B11A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51244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74A71-2B84-477E-BE1C-0BF18B3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 5× creates a predictable ceiling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CC741-EA12-448C-82A1-618C7C39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RM420/month for materially higher ChatGPT capacity, while Claude remains available for specialized or overflow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0FC4F-C7DD-4BC1-BAFF-FD139623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Note: the USD40/day figure is based on only two intensive days and should be treated as an initial benchmark.</a:t>
            </a:r>
          </a:p>
        </p:txBody>
      </p:sp>
    </p:spTree>
    <p:extLst>
      <p:ext uri="{BB962C8B-B14F-4D97-AF65-F5344CB8AC3E}">
        <p14:creationId xmlns:p14="http://schemas.microsoft.com/office/powerpoint/2010/main" val="211763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8966E-C247-438A-B684-26763040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Start with Pro 5×; the 20× tier is premature without measured demand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25AEF-3789-456B-B3DE-A2A11CB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9743-B062-4D42-A442-7CA08B4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581400" cy="4095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A6A77-64E7-4020-9489-E7CB27AE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45535-D509-453D-98C6-8196CB2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666D"/>
                </a:solidFill>
                <a:latin typeface="Aptos"/>
                <a:ea typeface="Aptos"/>
                <a:cs typeface="Aptos"/>
              </a:rPr>
              <a:t>NOT PREFERRED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E5389-F8E5-447F-A48A-89EB534F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Remain on Plus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C8739-F23A-4AE9-957C-C335A69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Lowest commitment, but weekly capacity pressure continues.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5DBDA-F078-4488-AB4B-47505A0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62666D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9378A-252E-4233-9EDE-EE780166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existing subscription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81C8E-F8AE-46EC-B139-B5FD849C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76375"/>
            <a:ext cx="3581400" cy="4095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50683-564A-46B0-B57B-AA8DC7A4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6466B-A5AE-41E4-9CFB-C5161649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05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FF716-102C-43BB-AD84-51BCC6A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ChatGPT Pro 5×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B4285-4868-4E3A-BFC5-D5222D33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5× Plus usage, maximum Codex access and a controlled fixed-cost trial.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EFE33-8E9D-4970-AF26-80CE978F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338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RM420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E9512-A8B0-4FC6-8638-E2199D9C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53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per month, VAT included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5E874-1B5F-45B6-9E89-184655D4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581400" cy="4095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46651-4D20-4B54-AF74-6EF5B534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0C077-1B24-44D6-9706-74E376AF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666D"/>
                </a:solidFill>
                <a:latin typeface="Aptos"/>
                <a:ea typeface="Aptos"/>
                <a:cs typeface="Aptos"/>
              </a:rPr>
              <a:t>FUTURE 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109CC-555A-44FC-87BE-7E67DD67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ChatGPT Pro 20×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EF94E-A386-4767-8F8A-71550FD6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20× Plus usage; reserve for proven demand above the 5× tier.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9E6C3-1120-4C47-A62D-F543FA85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33875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62666D"/>
                </a:solidFill>
                <a:latin typeface="Aptos"/>
                <a:ea typeface="Aptos"/>
                <a:cs typeface="Aptos"/>
              </a:rPr>
              <a:t>RM999.90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A50D2-633D-4DFE-A0E6-4582C76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per month, VAT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04CA7-CA00-47F8-BE2C-7481282B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Pricing and plan benefits are based on the supplied ChatGPT subscription screenshots.</a:t>
            </a:r>
          </a:p>
        </p:txBody>
      </p:sp>
    </p:spTree>
    <p:extLst>
      <p:ext uri="{BB962C8B-B14F-4D97-AF65-F5344CB8AC3E}">
        <p14:creationId xmlns:p14="http://schemas.microsoft.com/office/powerpoint/2010/main" val="1850789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FB0E13-3F39-4E06-A741-B33136B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Approve RM420 for one month, with clear usage and value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9CB6D-263C-4772-BCD9-7DE57673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189DC-A154-4DEB-8B6F-4A182A49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8D635-A28D-439A-BB6E-DD201643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26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Upgrade the current ChatGPT Plus account to Pro 5×.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3D9BC-6D73-4F01-84BA-C0FBCFC1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8F0AC-5E71-4D95-9B83-6CD6A55B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Activate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F3C0F-5432-4CC1-ACF9-FDDDF36E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Subscribe for one month at RM420.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AC3A8-E270-4331-968E-8F180EE6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80A64-F6E0-4018-B0BE-40CA715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Allocate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47574-AE8A-4788-BB9D-4138949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052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Use ChatGPT Pro for Codex and repeatable automation workloads.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C4C47-7A50-4A4B-BCB5-A1BA5C5E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377FF-C786-447D-BE02-35A10D87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A6A46-D1BC-44FC-92C1-677B607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481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Track weekly utilization, tasks completed and Claude credit spend.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09D51-8ACD-464B-B940-548D21BE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D9279-1253-4C46-8FD2-A0603640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1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114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75E74-90BC-46BA-A8EA-8C4AFA4F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911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After 30 days: retain, revert, or move to 20× only with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A41BC-9B14-4B16-88E8-FBFBF2D8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2051F-E7D5-43FA-8438-297539B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Approval requested: RM420/month for a controlled 30-day ChatGPT Pro 5× trial.</a:t>
            </a:r>
          </a:p>
        </p:txBody>
      </p:sp>
    </p:spTree>
    <p:extLst>
      <p:ext uri="{BB962C8B-B14F-4D97-AF65-F5344CB8AC3E}">
        <p14:creationId xmlns:p14="http://schemas.microsoft.com/office/powerpoint/2010/main" val="394319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2026-07-16T04:18:28.6460000Z</dcterms:created>
  <dcterms:modified xsi:type="dcterms:W3CDTF">2026-07-16T04:18:28.6460000Z</dcterms:modified>
</coreProperties>
</file>