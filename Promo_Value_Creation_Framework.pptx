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6534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Promo moved under Sales — this session is about how Promo contributes to business outcomes, not just task execution. Three goals: increase promotion effectiveness, decrease promo cost, increase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Five-point story: broader role, less waste, revenue support, control before scale, and a measurable operating system. Be honest on June — it was the trigger to strengthen controls, and cleanup is already underway.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slide view of the whole framework. Goal A = effectiveness, Goal B = cost, Goal C = revenue. Each pillar has practical actions and a measurement basis — nothing here is theoretical.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Initiatives 1–5: quality gate, segmentation, reactivation, cap audit, sunset list. Note the effort/impact balance — most are low effort. Metrics are defined upfront for every initiative.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Initiatives 6–10: abuse control, calendar timing, dashboard, automation exception log, post-mortems. The exception log responds directly to June. Post-mortems close the loop so campaign learnings compound.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Sequencing logic: control and cleanup first (all seven Now items use existing data), campaign work once Sales alignment is in place, and revenue tracking last because it depends on a data-sharing agreement. Q2 items are deliberately not promised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 of Sales, framed constructively: nine inputs. Emphasise #9 — post-campaign result sharing is the single input that unlocks all revenue measurement. Numbers 1, 2 and 6 fix most of the rework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metric families. Operational metrics we can start measuring immediately; cost metrics as audits are approved; revenue metrics only become credible once Sales shares deposit data. Say clearly: no ROI claims until attribution is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 of this slide: show management the risks are already understood and each has a concrete mitigation. Highlight the automation and overpromising rows — those two demonstrate self-awareness after June.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Realistic 30-day plan. Weeks 1–2 are alignment, audits and the dashboard skeleton; pilots only start week 3 once the quality gate and exception log exist. Week 4 ends with a management snapshot and a decision on what becomes monthly rhythm.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summary — usable as the leave-behind. Four questions management will ask: value, cost, revenue, next step. Each answer is four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ask: (1) agree the request template and campaign objectives, (2) commit to post-campaign deposit data sharing, (3) support the Now-phase audits. Everything else in the plan follows from those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640080"/>
            <a:ext cx="3108960" cy="3108960"/>
          </a:xfrm>
          <a:prstGeom prst="ellipse">
            <a:avLst/>
          </a:prstGeom>
          <a:solidFill>
            <a:srgbClr val="B5924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75120" y="1737360"/>
            <a:ext cx="2194560" cy="2194560"/>
          </a:xfrm>
          <a:prstGeom prst="ellipse">
            <a:avLst/>
          </a:prstGeom>
          <a:solidFill>
            <a:srgbClr val="B5924A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52360" y="2606040"/>
            <a:ext cx="1234440" cy="1234440"/>
          </a:xfrm>
          <a:prstGeom prst="ellipse">
            <a:avLst/>
          </a:prstGeom>
          <a:solidFill>
            <a:srgbClr val="B5924A">
              <a:alpha val="3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344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5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DEPARTMENT  ·  MANAGEMENT REVIEW  ·  JULY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Creation Framework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2542032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Promo supports Sales and business growth through better targeting,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control, measurable tracking, and execution discipline.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794760"/>
            <a:ext cx="1642262" cy="384048"/>
          </a:xfrm>
          <a:prstGeom prst="roundRect">
            <a:avLst>
              <a:gd name="adj" fmla="val 14286"/>
            </a:avLst>
          </a:prstGeom>
          <a:solidFill>
            <a:srgbClr val="18181F"/>
          </a:solidFill>
          <a:ln w="12700">
            <a:solidFill>
              <a:srgbClr val="3A3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" y="3950208"/>
            <a:ext cx="73152" cy="73152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3794760"/>
            <a:ext cx="13679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8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PROMOTION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09774" y="3794760"/>
            <a:ext cx="1717243" cy="384048"/>
          </a:xfrm>
          <a:prstGeom prst="roundRect">
            <a:avLst>
              <a:gd name="adj" fmla="val 14286"/>
            </a:avLst>
          </a:prstGeom>
          <a:solidFill>
            <a:srgbClr val="18181F"/>
          </a:solidFill>
          <a:ln w="12700">
            <a:solidFill>
              <a:srgbClr val="3A3A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37790" y="3950208"/>
            <a:ext cx="73152" cy="73152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13" name="Text 11"/>
          <p:cNvSpPr/>
          <p:nvPr/>
        </p:nvSpPr>
        <p:spPr>
          <a:xfrm>
            <a:off x="2556662" y="3794760"/>
            <a:ext cx="14429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8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 PROMO COST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91610" y="3794760"/>
            <a:ext cx="1492301" cy="384048"/>
          </a:xfrm>
          <a:prstGeom prst="roundRect">
            <a:avLst>
              <a:gd name="adj" fmla="val 14286"/>
            </a:avLst>
          </a:prstGeom>
          <a:solidFill>
            <a:srgbClr val="18181F"/>
          </a:solidFill>
          <a:ln w="12700">
            <a:solidFill>
              <a:srgbClr val="3A3A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19626" y="3950208"/>
            <a:ext cx="73152" cy="73152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16" name="Text 14"/>
          <p:cNvSpPr/>
          <p:nvPr/>
        </p:nvSpPr>
        <p:spPr>
          <a:xfrm>
            <a:off x="4438498" y="3794760"/>
            <a:ext cx="12179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8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REVENUE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EXECUTIVE 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execution support to business partner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B59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20700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request execution.  </a:t>
            </a:r>
            <a:r>
              <a:rPr lang="en-US" sz="11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can help Sales improve campaign effectiveness — the right offer, to the right player, at the right time and channel.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B59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77393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waste.  </a:t>
            </a:r>
            <a:r>
              <a:rPr lang="en-US" sz="11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QC, cap reviews, duplicate cleanup, and abuse control can cut bonus cost and overhead without cutting campaign volume.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304288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B59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234086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revenue growth.  </a:t>
            </a:r>
            <a:r>
              <a:rPr lang="en-US" sz="11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reactivation, enable segmentation, support cross-product offers, and build the tracking needed to validate what works.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871216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B59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2907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before scale.  </a:t>
            </a:r>
            <a:r>
              <a:rPr lang="en-US" sz="11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is useful, but June showed that QC, SOP, and dashboard visibility must be strengthened before full scaling.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438144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B59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34747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measurable operating system.  </a:t>
            </a:r>
            <a:r>
              <a:rPr lang="en-US" sz="11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quality → setup accuracy → campaign performance → cost and revenue review. This framework sets out how we get there.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8229600" cy="658368"/>
          </a:xfrm>
          <a:prstGeom prst="rect">
            <a:avLst/>
          </a:prstGeom>
          <a:solidFill>
            <a:srgbClr val="F5EDD8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4169664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8A6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June:  </a:t>
            </a:r>
            <a:r>
              <a:rPr lang="en-US" sz="10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as automation stabilisation and control-building. Issues surfaced gaps in QC, exception tracking, and legacy records — cleanup is underway (WS1 dedupe, QC checklists, SOP documentation).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13816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VALUE PILLARS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business goals, one operating model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2724912" cy="3584448"/>
          </a:xfrm>
          <a:prstGeom prst="rect">
            <a:avLst/>
          </a:prstGeom>
          <a:solidFill>
            <a:srgbClr val="F2F1EF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335024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8A6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8368" y="1536192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8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Increase Promotion</a:t>
            </a:r>
            <a:endParaRPr lang="en-US" sz="14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8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Effectiveness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58368" y="2139696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player, right offer, right time and channel.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58368" y="2578608"/>
            <a:ext cx="2322576" cy="0"/>
          </a:xfrm>
          <a:prstGeom prst="line">
            <a:avLst/>
          </a:prstGeom>
          <a:noFill/>
          <a:ln w="12700">
            <a:solidFill>
              <a:srgbClr val="DDDB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747772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688336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Segment-triggered campaigns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58368" y="2985516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2926080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Peak-timing deployment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58368" y="3223260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163824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delivery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58368" y="3461004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401568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reactivation pipeline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8368" y="3698748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639312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Calendar-based planning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58368" y="3936492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3877056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request structure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8368" y="422452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  </a:t>
            </a:r>
            <a:r>
              <a:rPr lang="en-US" sz="850" i="1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rate · channel performance · request completeness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00984" y="1170432"/>
            <a:ext cx="2724912" cy="3584448"/>
          </a:xfrm>
          <a:prstGeom prst="rect">
            <a:avLst/>
          </a:prstGeom>
          <a:solidFill>
            <a:srgbClr val="F2F1EF"/>
          </a:solidFill>
          <a:ln/>
        </p:spPr>
      </p:sp>
      <p:sp>
        <p:nvSpPr>
          <p:cNvPr id="23" name="Text 21"/>
          <p:cNvSpPr/>
          <p:nvPr/>
        </p:nvSpPr>
        <p:spPr>
          <a:xfrm>
            <a:off x="3502152" y="1335024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8A6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B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02152" y="1536192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8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Decrease</a:t>
            </a:r>
            <a:endParaRPr lang="en-US" sz="14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8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 Cost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3502152" y="2139696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bonus waste, leakage, duplicates, and maintenance.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502152" y="2578608"/>
            <a:ext cx="2322576" cy="0"/>
          </a:xfrm>
          <a:prstGeom prst="line">
            <a:avLst/>
          </a:prstGeom>
          <a:noFill/>
          <a:ln w="12700">
            <a:solidFill>
              <a:srgbClr val="DDDB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02152" y="2747772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28" name="Text 26"/>
          <p:cNvSpPr/>
          <p:nvPr/>
        </p:nvSpPr>
        <p:spPr>
          <a:xfrm>
            <a:off x="3648456" y="2688336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cap audit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502152" y="2985516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30" name="Text 28"/>
          <p:cNvSpPr/>
          <p:nvPr/>
        </p:nvSpPr>
        <p:spPr>
          <a:xfrm>
            <a:off x="3648456" y="2926080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sunset list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502152" y="3223260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32" name="Text 30"/>
          <p:cNvSpPr/>
          <p:nvPr/>
        </p:nvSpPr>
        <p:spPr>
          <a:xfrm>
            <a:off x="3648456" y="3163824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promo cleanup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502152" y="3461004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34" name="Text 32"/>
          <p:cNvSpPr/>
          <p:nvPr/>
        </p:nvSpPr>
        <p:spPr>
          <a:xfrm>
            <a:off x="3648456" y="3401568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hunter / abuse control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502152" y="3698748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36" name="Text 34"/>
          <p:cNvSpPr/>
          <p:nvPr/>
        </p:nvSpPr>
        <p:spPr>
          <a:xfrm>
            <a:off x="3648456" y="3639312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effective bonus testing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502152" y="3936492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38" name="Text 36"/>
          <p:cNvSpPr/>
          <p:nvPr/>
        </p:nvSpPr>
        <p:spPr>
          <a:xfrm>
            <a:off x="3648456" y="3877056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Pre-live QC + exception tracking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502152" y="422452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  </a:t>
            </a:r>
            <a:r>
              <a:rPr lang="en-US" sz="850" i="1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cost · cap vs deposit · QC error log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144768" y="1170432"/>
            <a:ext cx="2724912" cy="3584448"/>
          </a:xfrm>
          <a:prstGeom prst="rect">
            <a:avLst/>
          </a:prstGeom>
          <a:solidFill>
            <a:srgbClr val="F2F1EF"/>
          </a:solidFill>
          <a:ln/>
        </p:spPr>
      </p:sp>
      <p:sp>
        <p:nvSpPr>
          <p:cNvPr id="41" name="Text 39"/>
          <p:cNvSpPr/>
          <p:nvPr/>
        </p:nvSpPr>
        <p:spPr>
          <a:xfrm>
            <a:off x="6345936" y="1335024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8A6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C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345936" y="1536192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8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Increase</a:t>
            </a:r>
            <a:endParaRPr lang="en-US" sz="14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8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6345936" y="2139696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promo creation support to revenue enablement.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45936" y="2578608"/>
            <a:ext cx="2322576" cy="0"/>
          </a:xfrm>
          <a:prstGeom prst="line">
            <a:avLst/>
          </a:prstGeom>
          <a:noFill/>
          <a:ln w="12700">
            <a:solidFill>
              <a:srgbClr val="DDDBD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45936" y="2747772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46" name="Text 44"/>
          <p:cNvSpPr/>
          <p:nvPr/>
        </p:nvSpPr>
        <p:spPr>
          <a:xfrm>
            <a:off x="6492240" y="2688336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Reactivation revenue campaigns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45936" y="2985516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48" name="Text 46"/>
          <p:cNvSpPr/>
          <p:nvPr/>
        </p:nvSpPr>
        <p:spPr>
          <a:xfrm>
            <a:off x="6492240" y="2926080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Cross-product bridging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345936" y="3223260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50" name="Text 48"/>
          <p:cNvSpPr/>
          <p:nvPr/>
        </p:nvSpPr>
        <p:spPr>
          <a:xfrm>
            <a:off x="6492240" y="3163824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progression ladder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345936" y="3461004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52" name="Text 50"/>
          <p:cNvSpPr/>
          <p:nvPr/>
        </p:nvSpPr>
        <p:spPr>
          <a:xfrm>
            <a:off x="6492240" y="3401568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attribution model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345936" y="3698748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54" name="Text 52"/>
          <p:cNvSpPr/>
          <p:nvPr/>
        </p:nvSpPr>
        <p:spPr>
          <a:xfrm>
            <a:off x="6492240" y="3639312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Sweet-spot cap strategy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345936" y="3936492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56" name="Text 54"/>
          <p:cNvSpPr/>
          <p:nvPr/>
        </p:nvSpPr>
        <p:spPr>
          <a:xfrm>
            <a:off x="6492240" y="3877056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Post-mortems + dashboards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345936" y="422452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  </a:t>
            </a:r>
            <a:r>
              <a:rPr lang="en-US" sz="850" i="1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→ claim → deposit · 24/72h · cost per reactivation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13816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PRACTICAL INITIATIVES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realistic initiatives — 1 to 5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94960" y="11155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/ IMPACT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858000" y="1115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57200" y="1399032"/>
            <a:ext cx="329184" cy="329184"/>
          </a:xfrm>
          <a:prstGeom prst="ellipse">
            <a:avLst/>
          </a:prstGeom>
          <a:solidFill>
            <a:srgbClr val="F5EDD8"/>
          </a:solidFill>
          <a:ln w="12700">
            <a:solidFill>
              <a:srgbClr val="B59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8A6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133502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Request Quality Gate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32688" y="15727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 — objective, segment, timing, reward logic — before Promo proceeds. No run on incomplete briefs.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94960" y="1371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 </a:t>
            </a:r>
            <a:r>
              <a:rPr lang="en-US" sz="950" b="1" dirty="0">
                <a:solidFill>
                  <a:srgbClr val="3D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394960" y="1600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r>
              <a:rPr lang="en-US" sz="950" b="1" dirty="0">
                <a:solidFill>
                  <a:srgbClr val="8A6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0" y="13716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i="1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complete first-pass · clarification loops · turnaround time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1984248"/>
            <a:ext cx="8229600" cy="0"/>
          </a:xfrm>
          <a:prstGeom prst="line">
            <a:avLst/>
          </a:prstGeom>
          <a:noFill/>
          <a:ln w="9525">
            <a:solidFill>
              <a:srgbClr val="DDDB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112264"/>
            <a:ext cx="329184" cy="329184"/>
          </a:xfrm>
          <a:prstGeom prst="ellipse">
            <a:avLst/>
          </a:prstGeom>
          <a:solidFill>
            <a:srgbClr val="F5EDD8"/>
          </a:solidFill>
          <a:ln w="12700">
            <a:solidFill>
              <a:srgbClr val="B592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12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8A6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2688" y="204825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Segment-Triggered Campaigns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32688" y="22860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provides the target segment; Promo matches bonus mechanics and channel to that audience.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94960" y="20848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 </a:t>
            </a:r>
            <a:r>
              <a:rPr lang="en-US" sz="950" b="1" dirty="0">
                <a:solidFill>
                  <a:srgbClr val="8A6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394960" y="23134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r>
              <a:rPr lang="en-US" sz="950" b="1" dirty="0">
                <a:solidFill>
                  <a:srgbClr val="9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858000" y="208483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i="1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rate by segment · deposit conversion · response rate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697480"/>
            <a:ext cx="8229600" cy="0"/>
          </a:xfrm>
          <a:prstGeom prst="line">
            <a:avLst/>
          </a:prstGeom>
          <a:noFill/>
          <a:ln w="9525">
            <a:solidFill>
              <a:srgbClr val="DDDB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825496"/>
            <a:ext cx="329184" cy="329184"/>
          </a:xfrm>
          <a:prstGeom prst="ellipse">
            <a:avLst/>
          </a:prstGeom>
          <a:solidFill>
            <a:srgbClr val="F5EDD8"/>
          </a:solidFill>
          <a:ln w="12700">
            <a:solidFill>
              <a:srgbClr val="B592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825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8A6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2688" y="276148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Reactivation Pipeline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32688" y="29992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win-back Free Credit for 30-day lapsed players, from a monthly Sales export.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94960" y="27980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 </a:t>
            </a:r>
            <a:r>
              <a:rPr lang="en-US" sz="950" b="1" dirty="0">
                <a:solidFill>
                  <a:srgbClr val="3D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394960" y="30266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r>
              <a:rPr lang="en-US" sz="950" b="1" dirty="0">
                <a:solidFill>
                  <a:srgbClr val="9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858000" y="27980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i="1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Reactivated players · deposit within 14 days · cost per reactivation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3410712"/>
            <a:ext cx="8229600" cy="0"/>
          </a:xfrm>
          <a:prstGeom prst="line">
            <a:avLst/>
          </a:prstGeom>
          <a:noFill/>
          <a:ln w="9525">
            <a:solidFill>
              <a:srgbClr val="DDDB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538728"/>
            <a:ext cx="329184" cy="329184"/>
          </a:xfrm>
          <a:prstGeom prst="ellipse">
            <a:avLst/>
          </a:prstGeom>
          <a:solidFill>
            <a:srgbClr val="F5EDD8"/>
          </a:solidFill>
          <a:ln w="12700">
            <a:solidFill>
              <a:srgbClr val="B592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538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8A6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2688" y="347472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Cap Audit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32688" y="371246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max bonus cap vs average claimant deposit; flag promos where cap exceeds 2× average.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94960" y="3511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 </a:t>
            </a:r>
            <a:r>
              <a:rPr lang="en-US" sz="950" b="1" dirty="0">
                <a:solidFill>
                  <a:srgbClr val="3D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394960" y="3739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r>
              <a:rPr lang="en-US" sz="950" b="1" dirty="0">
                <a:solidFill>
                  <a:srgbClr val="8A6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858000" y="351129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i="1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cost saved · cap utilisation · deposit impact after change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" y="4123944"/>
            <a:ext cx="8229600" cy="0"/>
          </a:xfrm>
          <a:prstGeom prst="line">
            <a:avLst/>
          </a:prstGeom>
          <a:noFill/>
          <a:ln w="9525">
            <a:solidFill>
              <a:srgbClr val="DDDB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4251960"/>
            <a:ext cx="329184" cy="329184"/>
          </a:xfrm>
          <a:prstGeom prst="ellipse">
            <a:avLst/>
          </a:prstGeom>
          <a:solidFill>
            <a:srgbClr val="F5EDD8"/>
          </a:solidFill>
          <a:ln w="12700">
            <a:solidFill>
              <a:srgbClr val="B592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251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8A6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32688" y="418795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Sunset List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932688" y="442569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review to retire low-uptake, duplicate, or risky promos — with management sign-off.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94960" y="42245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 </a:t>
            </a:r>
            <a:r>
              <a:rPr lang="en-US" sz="950" b="1" dirty="0">
                <a:solidFill>
                  <a:srgbClr val="3D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394960" y="4453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r>
              <a:rPr lang="en-US" sz="950" b="1" dirty="0">
                <a:solidFill>
                  <a:srgbClr val="8A6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858000" y="42245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i="1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Promos retired · duplicates reduced · T&amp;C issues cleared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13816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PRACTICAL INITIATIVES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realistic initiatives — 6 to 10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94960" y="11155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/ IMPACT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858000" y="1115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57200" y="1399032"/>
            <a:ext cx="329184" cy="329184"/>
          </a:xfrm>
          <a:prstGeom prst="ellipse">
            <a:avLst/>
          </a:prstGeom>
          <a:solidFill>
            <a:srgbClr val="F5EDD8"/>
          </a:solidFill>
          <a:ln w="12700">
            <a:solidFill>
              <a:srgbClr val="B59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8A6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133502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Hunter / Abuse Control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32688" y="15727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bonus-heavy, low-retention players; exclude from campaigns or shift to lower-bonus mechanics.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94960" y="1371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 </a:t>
            </a:r>
            <a:r>
              <a:rPr lang="en-US" sz="950" b="1" dirty="0">
                <a:solidFill>
                  <a:srgbClr val="3D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394960" y="1600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r>
              <a:rPr lang="en-US" sz="950" b="1" dirty="0">
                <a:solidFill>
                  <a:srgbClr val="8A6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0" y="13716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i="1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cost reduced · repeat abuse cases · retention after claim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1984248"/>
            <a:ext cx="8229600" cy="0"/>
          </a:xfrm>
          <a:prstGeom prst="line">
            <a:avLst/>
          </a:prstGeom>
          <a:noFill/>
          <a:ln w="9525">
            <a:solidFill>
              <a:srgbClr val="DDDB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112264"/>
            <a:ext cx="329184" cy="329184"/>
          </a:xfrm>
          <a:prstGeom prst="ellipse">
            <a:avLst/>
          </a:prstGeom>
          <a:solidFill>
            <a:srgbClr val="F5EDD8"/>
          </a:solidFill>
          <a:ln w="12700">
            <a:solidFill>
              <a:srgbClr val="B592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12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8A6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2688" y="204825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Calendar + Peak Timing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32688" y="22860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calendar with Sales around paydays, sports events, holidays — planned, not reactive.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94960" y="20848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 </a:t>
            </a:r>
            <a:r>
              <a:rPr lang="en-US" sz="950" b="1" dirty="0">
                <a:solidFill>
                  <a:srgbClr val="3D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394960" y="23134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r>
              <a:rPr lang="en-US" sz="950" b="1" dirty="0">
                <a:solidFill>
                  <a:srgbClr val="8A6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858000" y="208483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i="1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rate by timing window · planned vs reactive ratio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697480"/>
            <a:ext cx="8229600" cy="0"/>
          </a:xfrm>
          <a:prstGeom prst="line">
            <a:avLst/>
          </a:prstGeom>
          <a:noFill/>
          <a:ln w="9525">
            <a:solidFill>
              <a:srgbClr val="DDDB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825496"/>
            <a:ext cx="329184" cy="329184"/>
          </a:xfrm>
          <a:prstGeom prst="ellipse">
            <a:avLst/>
          </a:prstGeom>
          <a:solidFill>
            <a:srgbClr val="F5EDD8"/>
          </a:solidFill>
          <a:ln w="12700">
            <a:solidFill>
              <a:srgbClr val="B592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825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8A6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2688" y="276148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Reporting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32688" y="29992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 of promo volume, SLA, QC pass rate, automation issues, and campaign status for management.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94960" y="27980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 </a:t>
            </a:r>
            <a:r>
              <a:rPr lang="en-US" sz="950" b="1" dirty="0">
                <a:solidFill>
                  <a:srgbClr val="8A6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394960" y="30266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r>
              <a:rPr lang="en-US" sz="950" b="1" dirty="0">
                <a:solidFill>
                  <a:srgbClr val="9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858000" y="27980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i="1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usage · report automation rate · decisions supported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3410712"/>
            <a:ext cx="8229600" cy="0"/>
          </a:xfrm>
          <a:prstGeom prst="line">
            <a:avLst/>
          </a:prstGeom>
          <a:noFill/>
          <a:ln w="9525">
            <a:solidFill>
              <a:srgbClr val="DDDB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538728"/>
            <a:ext cx="329184" cy="329184"/>
          </a:xfrm>
          <a:prstGeom prst="ellipse">
            <a:avLst/>
          </a:prstGeom>
          <a:solidFill>
            <a:srgbClr val="F5EDD8"/>
          </a:solidFill>
          <a:ln w="12700">
            <a:solidFill>
              <a:srgbClr val="B592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538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8A6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2688" y="347472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QC + Exception Log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32688" y="371246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automation error and QC failure; review weekly; update rules so known issues never repeat.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94960" y="3511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 </a:t>
            </a:r>
            <a:r>
              <a:rPr lang="en-US" sz="950" b="1" dirty="0">
                <a:solidFill>
                  <a:srgbClr val="3D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394960" y="3739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r>
              <a:rPr lang="en-US" sz="950" b="1" dirty="0">
                <a:solidFill>
                  <a:srgbClr val="9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858000" y="351129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i="1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error rate · repeat-error reduction · QC first-pass rate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" y="4123944"/>
            <a:ext cx="8229600" cy="0"/>
          </a:xfrm>
          <a:prstGeom prst="line">
            <a:avLst/>
          </a:prstGeom>
          <a:noFill/>
          <a:ln w="9525">
            <a:solidFill>
              <a:srgbClr val="DDDB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4251960"/>
            <a:ext cx="329184" cy="329184"/>
          </a:xfrm>
          <a:prstGeom prst="ellipse">
            <a:avLst/>
          </a:prstGeom>
          <a:solidFill>
            <a:srgbClr val="F5EDD8"/>
          </a:solidFill>
          <a:ln w="12700">
            <a:solidFill>
              <a:srgbClr val="B592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251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8A6C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32688" y="418795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Post-Mortem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932688" y="442569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campaign: objective, cost, claims, deposits, issues, and next action — shared with Sales.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94960" y="42245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 </a:t>
            </a:r>
            <a:r>
              <a:rPr lang="en-US" sz="950" b="1" dirty="0">
                <a:solidFill>
                  <a:srgbClr val="3D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394960" y="4453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r>
              <a:rPr lang="en-US" sz="950" b="1" dirty="0">
                <a:solidFill>
                  <a:srgbClr val="9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858000" y="42245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i="1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campaigns reviewed · action items done · repeat performance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13816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PRIORITY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wins first, strategic plays in sequence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2724912" cy="749808"/>
          </a:xfrm>
          <a:prstGeom prst="rect">
            <a:avLst/>
          </a:prstGeom>
          <a:solidFill>
            <a:srgbClr val="F5EDD8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261872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A6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QUICK WINS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21792" y="148132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 </a:t>
            </a:r>
            <a:r>
              <a:rPr lang="en-US" sz="850" i="1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data and process. No new systems.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21792" y="2148840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208483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Request Quality Gate</a:t>
            </a: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Promotion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" y="2455164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2391156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Cap Audit</a:t>
            </a: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" y="2761488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2697480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Sunset List</a:t>
            </a: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Cost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" y="3067812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3003804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Hunter / Abuse Control</a:t>
            </a: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Cost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" y="3374136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3310128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Reactivation Pipeline</a:t>
            </a: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Promotion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" y="3680460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361645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Promo Cleanup</a:t>
            </a: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Cost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" y="3986784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" y="3922776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QC Exception Log</a:t>
            </a: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Cost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00984" y="1170432"/>
            <a:ext cx="2724912" cy="749808"/>
          </a:xfrm>
          <a:prstGeom prst="rect">
            <a:avLst/>
          </a:prstGeom>
          <a:solidFill>
            <a:srgbClr val="ECEAE7"/>
          </a:solidFill>
          <a:ln/>
        </p:spPr>
      </p:sp>
      <p:sp>
        <p:nvSpPr>
          <p:cNvPr id="22" name="Text 20"/>
          <p:cNvSpPr/>
          <p:nvPr/>
        </p:nvSpPr>
        <p:spPr>
          <a:xfrm>
            <a:off x="3465576" y="1261872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— MEDIUM-TERM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65576" y="148132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   </a:t>
            </a:r>
            <a:r>
              <a:rPr lang="en-US" sz="850" i="1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Sales alignment or shared data.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65576" y="2148840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25" name="Text 23"/>
          <p:cNvSpPr/>
          <p:nvPr/>
        </p:nvSpPr>
        <p:spPr>
          <a:xfrm>
            <a:off x="3611880" y="208483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Segment-Triggered Campaigns</a:t>
            </a: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Promotion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65576" y="2455164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27" name="Text 25"/>
          <p:cNvSpPr/>
          <p:nvPr/>
        </p:nvSpPr>
        <p:spPr>
          <a:xfrm>
            <a:off x="3611880" y="2391156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Cross-Product Bridging</a:t>
            </a: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Revenue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65576" y="2761488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29" name="Text 27"/>
          <p:cNvSpPr/>
          <p:nvPr/>
        </p:nvSpPr>
        <p:spPr>
          <a:xfrm>
            <a:off x="3611880" y="2697480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Calendar Sync</a:t>
            </a: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Promotion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65576" y="3067812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31" name="Text 29"/>
          <p:cNvSpPr/>
          <p:nvPr/>
        </p:nvSpPr>
        <p:spPr>
          <a:xfrm>
            <a:off x="3611880" y="3003804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Deduplication</a:t>
            </a: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Cost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65576" y="3374136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33" name="Text 31"/>
          <p:cNvSpPr/>
          <p:nvPr/>
        </p:nvSpPr>
        <p:spPr>
          <a:xfrm>
            <a:off x="3611880" y="3310128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Effective Bonus Testing</a:t>
            </a: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Cost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65576" y="3680460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35" name="Text 33"/>
          <p:cNvSpPr/>
          <p:nvPr/>
        </p:nvSpPr>
        <p:spPr>
          <a:xfrm>
            <a:off x="3611880" y="361645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Delivery</a:t>
            </a: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Promotion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465576" y="3986784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37" name="Text 35"/>
          <p:cNvSpPr/>
          <p:nvPr/>
        </p:nvSpPr>
        <p:spPr>
          <a:xfrm>
            <a:off x="3611880" y="3922776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Reporting</a:t>
            </a: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Promotion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465576" y="4293108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39" name="Text 37"/>
          <p:cNvSpPr/>
          <p:nvPr/>
        </p:nvSpPr>
        <p:spPr>
          <a:xfrm>
            <a:off x="3611880" y="4229100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Post-Mortem</a:t>
            </a: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Revenue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44768" y="1170432"/>
            <a:ext cx="2724912" cy="749808"/>
          </a:xfrm>
          <a:prstGeom prst="rect">
            <a:avLst/>
          </a:prstGeom>
          <a:solidFill>
            <a:srgbClr val="F2F1EF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0" y="1261872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STRATEGIC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09360" y="148132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– Dec 2026   </a:t>
            </a:r>
            <a:r>
              <a:rPr lang="en-US" sz="850" i="1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integration, attribution, cross-team agreement.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309360" y="2148840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44" name="Text 42"/>
          <p:cNvSpPr/>
          <p:nvPr/>
        </p:nvSpPr>
        <p:spPr>
          <a:xfrm>
            <a:off x="6455664" y="208483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Attribution Model</a:t>
            </a: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Revenue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309360" y="2455164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46" name="Text 44"/>
          <p:cNvSpPr/>
          <p:nvPr/>
        </p:nvSpPr>
        <p:spPr>
          <a:xfrm>
            <a:off x="6455664" y="2391156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Progression Ladder</a:t>
            </a: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Revenue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09360" y="2761488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48" name="Text 46"/>
          <p:cNvSpPr/>
          <p:nvPr/>
        </p:nvSpPr>
        <p:spPr>
          <a:xfrm>
            <a:off x="6455664" y="2697480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Deposit Triggers</a:t>
            </a: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Revenue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309360" y="3067812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50" name="Text 48"/>
          <p:cNvSpPr/>
          <p:nvPr/>
        </p:nvSpPr>
        <p:spPr>
          <a:xfrm>
            <a:off x="6455664" y="3003804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Revenue Tracking</a:t>
            </a: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Revenue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309360" y="3374136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52" name="Text 50"/>
          <p:cNvSpPr/>
          <p:nvPr/>
        </p:nvSpPr>
        <p:spPr>
          <a:xfrm>
            <a:off x="6455664" y="3310128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ROI Review</a:t>
            </a: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Revenue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13816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WHAT PROMO NEEDS FROM SALES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input, better campaigns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Promo's output quality is directly linked to the quality of the brief received.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272491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B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38988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B59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32688" y="1408176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objective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32688" y="164592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Reactivation, first deposit, cross-product, or retention — defines the mechanics.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300984" y="1298448"/>
            <a:ext cx="272491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B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38988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B59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76472" y="1408176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segment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776472" y="164592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Activity, deposit range, platform. “All players” is not a segment.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44768" y="1298448"/>
            <a:ext cx="272491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B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72784" y="138988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B59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20256" y="1408176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list or criteria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620256" y="164592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list, or clear rules to generate one.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2478024"/>
            <a:ext cx="272491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B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" y="2569464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B59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32688" y="2587752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player action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32688" y="2825496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Deposit, log in, try a product — defines bonus type and turnover.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00984" y="2478024"/>
            <a:ext cx="272491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B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2569464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B59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776472" y="2587752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/ max bonus direction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776472" y="2825496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or total budget, so amounts and TO are configured right.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44768" y="2478024"/>
            <a:ext cx="272491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B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2784" y="2569464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B59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620256" y="2587752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and deadline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20256" y="2825496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notice means proper preparation and QC — not reactive work.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3657600"/>
            <a:ext cx="272491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B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" y="374904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B59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32688" y="3767328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level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32688" y="4005072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work correctly and flag conflicts early.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300984" y="3657600"/>
            <a:ext cx="272491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B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29000" y="374904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B59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3776472" y="3767328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776472" y="4005072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definition of success to report against.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44768" y="3657600"/>
            <a:ext cx="272491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B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72784" y="374904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B59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6620256" y="3767328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Post-campaign results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620256" y="4005072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deposited, when, how much. Without this we cannot measure or improve.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13816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HOW WE MEASURE SUCCESS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discipline, cost control, revenue signal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2724912" cy="3035808"/>
          </a:xfrm>
          <a:prstGeom prst="rect">
            <a:avLst/>
          </a:prstGeom>
          <a:solidFill>
            <a:srgbClr val="F2F1E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591056"/>
            <a:ext cx="2359152" cy="0"/>
          </a:xfrm>
          <a:prstGeom prst="line">
            <a:avLst/>
          </a:prstGeom>
          <a:noFill/>
          <a:ln w="12700">
            <a:solidFill>
              <a:srgbClr val="DDDB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00784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completeness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complete on first submission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2116836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/ turnaround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received → promo live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2532888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first-pass rate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checklist without correction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2948940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error rate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per run, weekly trend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3364992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cleared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issues resolved per month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3781044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 reviewed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closed with a post-mortem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00984" y="1170432"/>
            <a:ext cx="2724912" cy="3035808"/>
          </a:xfrm>
          <a:prstGeom prst="rect">
            <a:avLst/>
          </a:prstGeom>
          <a:solidFill>
            <a:srgbClr val="F2F1EF"/>
          </a:solidFill>
          <a:ln/>
        </p:spPr>
      </p:sp>
      <p:sp>
        <p:nvSpPr>
          <p:cNvPr id="14" name="Text 12"/>
          <p:cNvSpPr/>
          <p:nvPr/>
        </p:nvSpPr>
        <p:spPr>
          <a:xfrm>
            <a:off x="3483864" y="128016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483864" y="1591056"/>
            <a:ext cx="2359152" cy="0"/>
          </a:xfrm>
          <a:prstGeom prst="line">
            <a:avLst/>
          </a:prstGeom>
          <a:noFill/>
          <a:ln w="12700">
            <a:solidFill>
              <a:srgbClr val="DDDB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83864" y="1700784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cost / active player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Month-on-month trend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83864" y="2116836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claim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paid ÷ claims per campaign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83864" y="2532888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reactivated player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bonus ÷ re-depositors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83864" y="2948940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utilisation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claim vs max cap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83864" y="3364992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Promos retired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Sunset list output per quarter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83864" y="3781044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 cases actioned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excluded per period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44768" y="1170432"/>
            <a:ext cx="2724912" cy="3035808"/>
          </a:xfrm>
          <a:prstGeom prst="rect">
            <a:avLst/>
          </a:prstGeom>
          <a:solidFill>
            <a:srgbClr val="F2F1EF"/>
          </a:solidFill>
          <a:ln/>
        </p:spPr>
      </p:sp>
      <p:sp>
        <p:nvSpPr>
          <p:cNvPr id="23" name="Text 21"/>
          <p:cNvSpPr/>
          <p:nvPr/>
        </p:nvSpPr>
        <p:spPr>
          <a:xfrm>
            <a:off x="6327648" y="128016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327648" y="1591056"/>
            <a:ext cx="2359152" cy="0"/>
          </a:xfrm>
          <a:prstGeom prst="line">
            <a:avLst/>
          </a:prstGeom>
          <a:noFill/>
          <a:ln w="12700">
            <a:solidFill>
              <a:srgbClr val="DDDB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7648" y="1700784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Claim-to-deposit rate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within 24/72h of claim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27648" y="2116836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Reactivated players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 after win-back campaign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27648" y="2532888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deposit after promo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pre-promo baseline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27648" y="2948940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Cross-product conversion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Sports-only → casino deposit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27648" y="3364992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tier progression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movement after milestone promo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27648" y="3781044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8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contribution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GGR/NGR is available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4334256"/>
            <a:ext cx="8229600" cy="438912"/>
          </a:xfrm>
          <a:prstGeom prst="rect">
            <a:avLst/>
          </a:prstGeom>
          <a:solidFill>
            <a:srgbClr val="F5EDD8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37083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6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set in Month 1.  </a:t>
            </a:r>
            <a:r>
              <a:rPr lang="en-US" sz="9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metrics require post-campaign deposit data from Sales — directional until attribution is live (Q2). ROI cannot be substantiated without it.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13816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RISKS AND MITIGATION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risks, owned openly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kern="0" spc="150" dirty="0">
                          <a:solidFill>
                            <a:srgbClr val="8C8C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kern="0" spc="150" dirty="0">
                          <a:solidFill>
                            <a:srgbClr val="8C8C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kern="0" spc="150" dirty="0">
                          <a:solidFill>
                            <a:srgbClr val="8A6C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8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errors repeat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Recurring QC failures across brands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 log now; weekly review; update rules as patterns emerge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8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Unclear promo objectives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Misaligned promos and rework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Quality Gate — no run on incomplete briefs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8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data tracking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claims cannot be proven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 language only; attribution model built in Q2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8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Bonus hunters / abuse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without revenue return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with Sales; exclusion lists; monitor claim-vs-deposit ratio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8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workload growth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overwhelms team, errors rise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automation exceptions before scaling; SOP + dashboard early-warning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8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misalignment on role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Collaborative initiatives stall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Reframe Promo's role at HOD level; agree inputs upfront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8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/ legacy records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 confusion, wrong redemptions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 WS1 dedupe; monthly sunset rhythm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8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Overpromising revenue impact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Credibility damage with management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unproven numbers until attribution data exists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81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QC ownership 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 reach players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4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Pre-launch checklist; named QC owner per platform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3816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RECOMMENDED NEXT 30 DAYS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Control-building first, pilots by week three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2011680" cy="603504"/>
          </a:xfrm>
          <a:prstGeom prst="rect">
            <a:avLst/>
          </a:prstGeom>
          <a:solidFill>
            <a:srgbClr val="F5EDD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4358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A6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42646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8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 and Identify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1965960"/>
            <a:ext cx="54864" cy="54864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192024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template + objectives with Sales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4360" y="2500884"/>
            <a:ext cx="54864" cy="54864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2455164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internal vs Sales data sources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94360" y="3035808"/>
            <a:ext cx="54864" cy="54864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12" name="Text 10"/>
          <p:cNvSpPr/>
          <p:nvPr/>
        </p:nvSpPr>
        <p:spPr>
          <a:xfrm>
            <a:off x="722376" y="2990088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automation QC exception log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3570732"/>
            <a:ext cx="54864" cy="54864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" y="352501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legacy / duplicate promo issues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94360" y="4105656"/>
            <a:ext cx="54864" cy="54864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" y="4059936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lapsed-list owner in Sales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30145" y="1170432"/>
            <a:ext cx="2011680" cy="603504"/>
          </a:xfrm>
          <a:prstGeom prst="rect">
            <a:avLst/>
          </a:prstGeom>
          <a:solidFill>
            <a:srgbClr val="ECEAE7"/>
          </a:solidFill>
          <a:ln/>
        </p:spPr>
      </p:sp>
      <p:sp>
        <p:nvSpPr>
          <p:cNvPr id="18" name="Text 16"/>
          <p:cNvSpPr/>
          <p:nvPr/>
        </p:nvSpPr>
        <p:spPr>
          <a:xfrm>
            <a:off x="2667305" y="124358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667305" y="142646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8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and Build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667305" y="1965960"/>
            <a:ext cx="54864" cy="54864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21" name="Text 19"/>
          <p:cNvSpPr/>
          <p:nvPr/>
        </p:nvSpPr>
        <p:spPr>
          <a:xfrm>
            <a:off x="2795321" y="192024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audit sample — claimants, 90 days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667305" y="2500884"/>
            <a:ext cx="54864" cy="54864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23" name="Text 21"/>
          <p:cNvSpPr/>
          <p:nvPr/>
        </p:nvSpPr>
        <p:spPr>
          <a:xfrm>
            <a:off x="2795321" y="2455164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promo sunset list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667305" y="3035808"/>
            <a:ext cx="54864" cy="54864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25" name="Text 23"/>
          <p:cNvSpPr/>
          <p:nvPr/>
        </p:nvSpPr>
        <p:spPr>
          <a:xfrm>
            <a:off x="2795321" y="2990088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dashboard: volume, QC, SLA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667305" y="3570732"/>
            <a:ext cx="54864" cy="54864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27" name="Text 25"/>
          <p:cNvSpPr/>
          <p:nvPr/>
        </p:nvSpPr>
        <p:spPr>
          <a:xfrm>
            <a:off x="2795321" y="352501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post-mortem template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667305" y="4105656"/>
            <a:ext cx="54864" cy="54864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29" name="Text 27"/>
          <p:cNvSpPr/>
          <p:nvPr/>
        </p:nvSpPr>
        <p:spPr>
          <a:xfrm>
            <a:off x="2795321" y="4059936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audits for approval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03090" y="1170432"/>
            <a:ext cx="2011680" cy="603504"/>
          </a:xfrm>
          <a:prstGeom prst="rect">
            <a:avLst/>
          </a:prstGeom>
          <a:solidFill>
            <a:srgbClr val="ECEAE7"/>
          </a:solidFill>
          <a:ln/>
        </p:spPr>
      </p:sp>
      <p:sp>
        <p:nvSpPr>
          <p:cNvPr id="31" name="Text 29"/>
          <p:cNvSpPr/>
          <p:nvPr/>
        </p:nvSpPr>
        <p:spPr>
          <a:xfrm>
            <a:off x="4740250" y="124358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40250" y="142646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8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and Strengthen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740250" y="1965960"/>
            <a:ext cx="54864" cy="54864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34" name="Text 32"/>
          <p:cNvSpPr/>
          <p:nvPr/>
        </p:nvSpPr>
        <p:spPr>
          <a:xfrm>
            <a:off x="4868266" y="192024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first reactivation pipeline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40250" y="2500884"/>
            <a:ext cx="54864" cy="54864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36" name="Text 34"/>
          <p:cNvSpPr/>
          <p:nvPr/>
        </p:nvSpPr>
        <p:spPr>
          <a:xfrm>
            <a:off x="4868266" y="2455164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first segment campaign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40250" y="3035808"/>
            <a:ext cx="54864" cy="54864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38" name="Text 36"/>
          <p:cNvSpPr/>
          <p:nvPr/>
        </p:nvSpPr>
        <p:spPr>
          <a:xfrm>
            <a:off x="4868266" y="2990088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promo knowledge sharing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40250" y="3570732"/>
            <a:ext cx="54864" cy="54864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40" name="Text 38"/>
          <p:cNvSpPr/>
          <p:nvPr/>
        </p:nvSpPr>
        <p:spPr>
          <a:xfrm>
            <a:off x="4868266" y="352501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automation rules from log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40250" y="4105656"/>
            <a:ext cx="54864" cy="54864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42" name="Text 40"/>
          <p:cNvSpPr/>
          <p:nvPr/>
        </p:nvSpPr>
        <p:spPr>
          <a:xfrm>
            <a:off x="4868266" y="4059936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approved cap / sunset changes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676034" y="1170432"/>
            <a:ext cx="2011680" cy="603504"/>
          </a:xfrm>
          <a:prstGeom prst="rect">
            <a:avLst/>
          </a:prstGeom>
          <a:solidFill>
            <a:srgbClr val="ECEAE7"/>
          </a:solidFill>
          <a:ln/>
        </p:spPr>
      </p:sp>
      <p:sp>
        <p:nvSpPr>
          <p:cNvPr id="44" name="Text 42"/>
          <p:cNvSpPr/>
          <p:nvPr/>
        </p:nvSpPr>
        <p:spPr>
          <a:xfrm>
            <a:off x="6813194" y="124358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813194" y="142646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8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and Confirm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813194" y="1965960"/>
            <a:ext cx="54864" cy="54864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47" name="Text 45"/>
          <p:cNvSpPr/>
          <p:nvPr/>
        </p:nvSpPr>
        <p:spPr>
          <a:xfrm>
            <a:off x="6941210" y="192024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pilot results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813194" y="2500884"/>
            <a:ext cx="54864" cy="54864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49" name="Text 47"/>
          <p:cNvSpPr/>
          <p:nvPr/>
        </p:nvSpPr>
        <p:spPr>
          <a:xfrm>
            <a:off x="6941210" y="2455164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management snapshot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813194" y="3035808"/>
            <a:ext cx="54864" cy="54864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51" name="Text 49"/>
          <p:cNvSpPr/>
          <p:nvPr/>
        </p:nvSpPr>
        <p:spPr>
          <a:xfrm>
            <a:off x="6941210" y="2990088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next month's promo calendar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813194" y="3570732"/>
            <a:ext cx="54864" cy="54864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53" name="Text 51"/>
          <p:cNvSpPr/>
          <p:nvPr/>
        </p:nvSpPr>
        <p:spPr>
          <a:xfrm>
            <a:off x="6941210" y="352501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monthly operating rhythm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813194" y="4105656"/>
            <a:ext cx="54864" cy="54864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55" name="Text 53"/>
          <p:cNvSpPr/>
          <p:nvPr/>
        </p:nvSpPr>
        <p:spPr>
          <a:xfrm>
            <a:off x="6941210" y="4059936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SOP updates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13816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THE 10-SECOND 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1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only remember four things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50792" cy="1737360"/>
          </a:xfrm>
          <a:prstGeom prst="rect">
            <a:avLst/>
          </a:prstGeom>
          <a:solidFill>
            <a:srgbClr val="F2F1EF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316736"/>
            <a:ext cx="3648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A6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VALUE DOES PROMO BRING?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664208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60934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campaign execution across platforms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58368" y="1970532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91566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and governance before promos go live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58368" y="2276856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22199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with control — not just speed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8368" y="2583180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252831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data and visibility for management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26864" y="1188720"/>
            <a:ext cx="4050792" cy="1737360"/>
          </a:xfrm>
          <a:prstGeom prst="rect">
            <a:avLst/>
          </a:prstGeom>
          <a:solidFill>
            <a:srgbClr val="F2F1EF"/>
          </a:solidFill>
          <a:ln/>
        </p:spPr>
      </p:sp>
      <p:sp>
        <p:nvSpPr>
          <p:cNvPr id="15" name="Text 13"/>
          <p:cNvSpPr/>
          <p:nvPr/>
        </p:nvSpPr>
        <p:spPr>
          <a:xfrm>
            <a:off x="4828032" y="1316736"/>
            <a:ext cx="3648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A6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PROMO REDUCE COST?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28032" y="1664208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17" name="Text 15"/>
          <p:cNvSpPr/>
          <p:nvPr/>
        </p:nvSpPr>
        <p:spPr>
          <a:xfrm>
            <a:off x="4974336" y="160934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audit cuts over-capped bonus liability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28032" y="1970532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19" name="Text 17"/>
          <p:cNvSpPr/>
          <p:nvPr/>
        </p:nvSpPr>
        <p:spPr>
          <a:xfrm>
            <a:off x="4974336" y="191566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 control removes low-value claims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28032" y="2276856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21" name="Text 19"/>
          <p:cNvSpPr/>
          <p:nvPr/>
        </p:nvSpPr>
        <p:spPr>
          <a:xfrm>
            <a:off x="4974336" y="222199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and legacy cleanup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28032" y="2583180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23" name="Text 21"/>
          <p:cNvSpPr/>
          <p:nvPr/>
        </p:nvSpPr>
        <p:spPr>
          <a:xfrm>
            <a:off x="4974336" y="252831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QC reduces live errors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044952"/>
            <a:ext cx="4050792" cy="1737360"/>
          </a:xfrm>
          <a:prstGeom prst="rect">
            <a:avLst/>
          </a:prstGeom>
          <a:solidFill>
            <a:srgbClr val="F2F1EF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172968"/>
            <a:ext cx="3648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A6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PROMO SUPPORT REVENUE?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58368" y="3520440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" y="346557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reactivation of lapsed players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58368" y="3826764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29" name="Text 27"/>
          <p:cNvSpPr/>
          <p:nvPr/>
        </p:nvSpPr>
        <p:spPr>
          <a:xfrm>
            <a:off x="804672" y="377190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campaigns matched to behaviour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58368" y="4133088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2" y="407822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Cross-product bridging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58368" y="4439412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33" name="Text 31"/>
          <p:cNvSpPr/>
          <p:nvPr/>
        </p:nvSpPr>
        <p:spPr>
          <a:xfrm>
            <a:off x="804672" y="438454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model (Q2) to prove impact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26864" y="3044952"/>
            <a:ext cx="4050792" cy="1737360"/>
          </a:xfrm>
          <a:prstGeom prst="rect">
            <a:avLst/>
          </a:prstGeom>
          <a:solidFill>
            <a:srgbClr val="F2F1EF"/>
          </a:solidFill>
          <a:ln/>
        </p:spPr>
      </p:sp>
      <p:sp>
        <p:nvSpPr>
          <p:cNvPr id="35" name="Text 33"/>
          <p:cNvSpPr/>
          <p:nvPr/>
        </p:nvSpPr>
        <p:spPr>
          <a:xfrm>
            <a:off x="4828032" y="3172968"/>
            <a:ext cx="3648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A6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NEXT STEP?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28032" y="3520440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37" name="Text 35"/>
          <p:cNvSpPr/>
          <p:nvPr/>
        </p:nvSpPr>
        <p:spPr>
          <a:xfrm>
            <a:off x="4974336" y="346557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request template with Sales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28032" y="3826764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39" name="Text 37"/>
          <p:cNvSpPr/>
          <p:nvPr/>
        </p:nvSpPr>
        <p:spPr>
          <a:xfrm>
            <a:off x="4974336" y="377190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cap audit and sunset list now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28032" y="4133088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41" name="Text 39"/>
          <p:cNvSpPr/>
          <p:nvPr/>
        </p:nvSpPr>
        <p:spPr>
          <a:xfrm>
            <a:off x="4974336" y="407822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two campaigns by week three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28032" y="4439412"/>
            <a:ext cx="64008" cy="64008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43" name="Text 41"/>
          <p:cNvSpPr/>
          <p:nvPr/>
        </p:nvSpPr>
        <p:spPr>
          <a:xfrm>
            <a:off x="4974336" y="438454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post-campaign data sharing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13816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B5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ROOM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Talking points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581912"/>
            <a:ext cx="82296" cy="82296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8132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D8D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“Promo adds more value when we are involved in campaign structure, QC, cost control, and performance review — not just execution.”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30352" y="2386584"/>
            <a:ext cx="82296" cy="82296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8600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D8D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“June showed that speed without control creates risk. Our next focus is stronger QC, exception tracking, and dashboard visibility — before we scale further.”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30352" y="3191256"/>
            <a:ext cx="82296" cy="82296"/>
          </a:xfrm>
          <a:prstGeom prst="ellipse">
            <a:avLst/>
          </a:prstGeom>
          <a:solidFill>
            <a:srgbClr val="B5924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90672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D8D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goal is not more promos. It is promos that are measurable, less wasteful, and connected to deposit behaviour.”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4041648"/>
            <a:ext cx="8138160" cy="0"/>
          </a:xfrm>
          <a:prstGeom prst="line">
            <a:avLst/>
          </a:prstGeom>
          <a:noFill/>
          <a:ln w="12700">
            <a:solidFill>
              <a:srgbClr val="3A3A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18795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→ value.  </a:t>
            </a:r>
            <a:r>
              <a:rPr lang="en-US" sz="1200" dirty="0">
                <a:solidFill>
                  <a:srgbClr val="D8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starts with clearer briefs from Sales and a post-campaign data-sharing agreement.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68172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Department · Value Creation Framework · July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2282</Words>
  <Application>Microsoft Office PowerPoint</Application>
  <PresentationFormat>On-screen Show (16:9)</PresentationFormat>
  <Paragraphs>348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Promo Department — Value Creation Framework</dc:title>
  <dc:subject>PptxGenJS Presentation</dc:subject>
  <dc:creator>Promo Department</dc:creator>
  <cp:lastModifiedBy>Jascinta Pilos</cp:lastModifiedBy>
  <cp:revision>2</cp:revision>
  <dcterms:created xsi:type="dcterms:W3CDTF">2026-07-07T10:46:29Z</dcterms:created>
  <dcterms:modified xsi:type="dcterms:W3CDTF">2026-07-08T07:38:52Z</dcterms:modified>
</cp:coreProperties>
</file>