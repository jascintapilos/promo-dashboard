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a35fcab2414e55" /><Relationship Type="http://schemas.openxmlformats.org/officeDocument/2006/relationships/extended-properties" Target="/docProps/app.xml" Id="Rfca69b352cff429d" /><Relationship Type="http://schemas.openxmlformats.org/officeDocument/2006/relationships/officeDocument" Target="/ppt/presentation.xml" Id="Rdcad32a65185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8d13dedb64545"/>
  </p:sldMasterIdLst>
  <p:notesMasterIdLst>
    <p:notesMasterId xmlns:r="http://schemas.openxmlformats.org/officeDocument/2006/relationships" r:id="Rbdadbcae222d4620"/>
  </p:notesMasterIdLst>
  <p:sldIdLst>
    <p:sldId xmlns:r="http://schemas.openxmlformats.org/officeDocument/2006/relationships" id="256" r:id="R737f2045fda64685"/>
    <p:sldId xmlns:r="http://schemas.openxmlformats.org/officeDocument/2006/relationships" id="257" r:id="R0a384c6562994fe4"/>
    <p:sldId xmlns:r="http://schemas.openxmlformats.org/officeDocument/2006/relationships" id="258" r:id="R13f56209d0a74cc1"/>
    <p:sldId xmlns:r="http://schemas.openxmlformats.org/officeDocument/2006/relationships" id="259" r:id="R007861067ce24703"/>
    <p:sldId xmlns:r="http://schemas.openxmlformats.org/officeDocument/2006/relationships" id="260" r:id="R085269e2ba6c4ce0"/>
    <p:sldId xmlns:r="http://schemas.openxmlformats.org/officeDocument/2006/relationships" id="261" r:id="R71f824e3ae1a4b07"/>
    <p:sldId xmlns:r="http://schemas.openxmlformats.org/officeDocument/2006/relationships" id="262" r:id="R5d57f6b54c1c4d96"/>
    <p:sldId xmlns:r="http://schemas.openxmlformats.org/officeDocument/2006/relationships" id="263" r:id="R4b03124c7da24094"/>
    <p:sldId xmlns:r="http://schemas.openxmlformats.org/officeDocument/2006/relationships" id="264" r:id="Re21b8b71e7e14b78"/>
    <p:sldId xmlns:r="http://schemas.openxmlformats.org/officeDocument/2006/relationships" id="265" r:id="R44c78b0482814bc6"/>
    <p:sldId xmlns:r="http://schemas.openxmlformats.org/officeDocument/2006/relationships" id="266" r:id="R888a92a740374af0"/>
    <p:sldId xmlns:r="http://schemas.openxmlformats.org/officeDocument/2006/relationships" id="267" r:id="R05a65477639b4cc2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9867DB63-B682-4F3D-A2F8-1A38E2159944}">
  <a:tblStyle styleId="{9867DB63-B682-4F3D-A2F8-1A38E21599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402f8a0d3416a" /><Relationship Type="http://schemas.openxmlformats.org/officeDocument/2006/relationships/slideMaster" Target="/ppt/slideMasters/slideMaster1.xml" Id="Re1a8d13dedb64545" /><Relationship Type="http://schemas.openxmlformats.org/officeDocument/2006/relationships/notesMaster" Target="/ppt/notesMasters/notesMaster1.xml" Id="Rbdadbcae222d4620" /><Relationship Type="http://schemas.openxmlformats.org/officeDocument/2006/relationships/presProps" Target="/ppt/presProps.xml" Id="R13a82c467ffb4b3f" /><Relationship Type="http://schemas.openxmlformats.org/officeDocument/2006/relationships/tableStyles" Target="/ppt/tableStyles.xml" Id="R56da0b1572894a8a" /><Relationship Type="http://schemas.openxmlformats.org/officeDocument/2006/relationships/slide" Target="/ppt/slides/slide1.xml" Id="R737f2045fda64685" /><Relationship Type="http://schemas.openxmlformats.org/officeDocument/2006/relationships/slide" Target="/ppt/slides/slide2.xml" Id="R0a384c6562994fe4" /><Relationship Type="http://schemas.openxmlformats.org/officeDocument/2006/relationships/slide" Target="/ppt/slides/slide3.xml" Id="R13f56209d0a74cc1" /><Relationship Type="http://schemas.openxmlformats.org/officeDocument/2006/relationships/slide" Target="/ppt/slides/slide4.xml" Id="R007861067ce24703" /><Relationship Type="http://schemas.openxmlformats.org/officeDocument/2006/relationships/slide" Target="/ppt/slides/slide5.xml" Id="R085269e2ba6c4ce0" /><Relationship Type="http://schemas.openxmlformats.org/officeDocument/2006/relationships/slide" Target="/ppt/slides/slide6.xml" Id="R71f824e3ae1a4b07" /><Relationship Type="http://schemas.openxmlformats.org/officeDocument/2006/relationships/slide" Target="/ppt/slides/slide7.xml" Id="R5d57f6b54c1c4d96" /><Relationship Type="http://schemas.openxmlformats.org/officeDocument/2006/relationships/slide" Target="/ppt/slides/slide8.xml" Id="R4b03124c7da24094" /><Relationship Type="http://schemas.openxmlformats.org/officeDocument/2006/relationships/slide" Target="/ppt/slides/slide9.xml" Id="Re21b8b71e7e14b78" /><Relationship Type="http://schemas.openxmlformats.org/officeDocument/2006/relationships/slide" Target="/ppt/slides/slide10.xml" Id="R44c78b0482814bc6" /><Relationship Type="http://schemas.openxmlformats.org/officeDocument/2006/relationships/slide" Target="/ppt/slides/slide11.xml" Id="R888a92a740374af0" /><Relationship Type="http://schemas.openxmlformats.org/officeDocument/2006/relationships/slide" Target="/ppt/slides/slide12.xml" Id="R05a65477639b4c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71f31d3ab4e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1d8c228404240" /><Relationship Type="http://schemas.openxmlformats.org/officeDocument/2006/relationships/notesMaster" Target="/ppt/notesMasters/notesMaster1.xml" Id="Rdc1ff088d75341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5b07939a4b4c38" /><Relationship Type="http://schemas.openxmlformats.org/officeDocument/2006/relationships/notesMaster" Target="/ppt/notesMasters/notesMaster1.xml" Id="Rd7baa907226f4e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0e75f4aa3a4cc3" /><Relationship Type="http://schemas.openxmlformats.org/officeDocument/2006/relationships/notesMaster" Target="/ppt/notesMasters/notesMaster1.xml" Id="R508f366ddf5246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1b74af328d4316" /><Relationship Type="http://schemas.openxmlformats.org/officeDocument/2006/relationships/notesMaster" Target="/ppt/notesMasters/notesMaster1.xml" Id="R6d565b6f572c4d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ea4dee379844f0" /><Relationship Type="http://schemas.openxmlformats.org/officeDocument/2006/relationships/notesMaster" Target="/ppt/notesMasters/notesMaster1.xml" Id="Ra82663e8b42943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01a0f384494953" /><Relationship Type="http://schemas.openxmlformats.org/officeDocument/2006/relationships/notesMaster" Target="/ppt/notesMasters/notesMaster1.xml" Id="Rf6844b6c6fc644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5e43d0678f48f2" /><Relationship Type="http://schemas.openxmlformats.org/officeDocument/2006/relationships/notesMaster" Target="/ppt/notesMasters/notesMaster1.xml" Id="R747ff725521642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e7ecca0e504efc" /><Relationship Type="http://schemas.openxmlformats.org/officeDocument/2006/relationships/notesMaster" Target="/ppt/notesMasters/notesMaster1.xml" Id="Rde62013b608544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8d936751f461c" /><Relationship Type="http://schemas.openxmlformats.org/officeDocument/2006/relationships/notesMaster" Target="/ppt/notesMasters/notesMaster1.xml" Id="Rff168969652c41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2d743b5e474890" /><Relationship Type="http://schemas.openxmlformats.org/officeDocument/2006/relationships/notesMaster" Target="/ppt/notesMasters/notesMaster1.xml" Id="Rc891e57a58ef48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df40c020d49c7" /><Relationship Type="http://schemas.openxmlformats.org/officeDocument/2006/relationships/notesMaster" Target="/ppt/notesMasters/notesMaster1.xml" Id="Rff89109f27e945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c360bde288d45d2" /><Relationship Type="http://schemas.openxmlformats.org/officeDocument/2006/relationships/notesMaster" Target="/ppt/notesMasters/notesMaster1.xml" Id="R5319d89bfcd9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Frame: Promo moved under Sales — this session is about how Promo contributes to business outcomes, not just task execution. Three goals: increase promotion effectiveness, decrease promo cost, increase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Five-point story: broader role, less waste, revenue support, control before scale, and a measurable operating system. Be honest on June — it was the trigger to strengthen controls, and cleanup is already underway.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One slide view of the whole framework. Goal A = effectiveness, Goal B = cost, Goal C = revenue. Each pillar has practical actions and a measurement basis — nothing here is theoretical.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Initiatives 1–5: quality gate, segmentation, reactivation, cap audit, sunset list. Note the effort/impact balance — most are low effort. Metrics are defined upfront for every initiative.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Initiatives 6–10: abuse control, calendar timing, dashboard, automation exception log, post-mortems. The exception log responds directly to June. Post-mortems close the loop so campaign learnings compound.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Sequencing logic: control and cleanup first (all seven Now items use existing data), campaign work once Sales alignment is in place, and revenue tracking last because it depends on a data-sharing agreement. Q2 items are deliberately not promised 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ask of Sales, framed constructively: nine inputs. Emphasise #9 — post-campaign result sharing is the single input that unlocks all revenue measurement. Numbers 1, 2 and 6 fix most of the rework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Three metric families. Operational metrics we can start measuring immediately; cost metrics as audits are approved; revenue metrics only become credible once Sales shares deposit data. Say clearly: no ROI claims until attribution is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Purpose of this slide: show management the risks are already understood and each has a concrete mitigation. Highlight the automation and overpromising rows — those two demonstrate self-awareness after June.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Realistic 30-day plan. Weeks 1–2 are alignment, audits and the dashboard skeleton; pilots only start week 3 once the quality gate and exception log exist. Week 4 ends with a management snapshot and a decision on what becomes monthly rhythm.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Closing summary — usable as the leave-behind. Four questions management will ask: value, cost, revenue, next step. Each answer is four lines.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Close with the ask: (1) agree the request template and campaign objectives, (2) commit to post-campaign deposit data sharing, (3) support the Now-phase audits. Everything else in the plan follows from those three.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d3d71511c491d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727fc24f5f4efc" /><Relationship Type="http://schemas.openxmlformats.org/officeDocument/2006/relationships/slideLayout" Target="/ppt/slideLayouts/slideLayout1.xml" Id="Red559ee9c7784e6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59ee9c7784e6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1b5c6b4bd4b97" /><Relationship Type="http://schemas.openxmlformats.org/officeDocument/2006/relationships/notesSlide" Target="/ppt/notesSlides/notesSlide1.xml" Id="R1445f1c39a954d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699f1a3464d3f" /><Relationship Type="http://schemas.openxmlformats.org/officeDocument/2006/relationships/notesSlide" Target="/ppt/notesSlides/notesSlide2.xml" Id="R7977f0be1f0e4a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c58d4ce3346fa" /><Relationship Type="http://schemas.openxmlformats.org/officeDocument/2006/relationships/notesSlide" Target="/ppt/notesSlides/notesSlide3.xml" Id="R5f89fecdc80845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7b75b8ccd4cdb" /><Relationship Type="http://schemas.openxmlformats.org/officeDocument/2006/relationships/notesSlide" Target="/ppt/notesSlides/notesSlide4.xml" Id="R05645098d6074d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afed9b83e457f" /><Relationship Type="http://schemas.openxmlformats.org/officeDocument/2006/relationships/notesSlide" Target="/ppt/notesSlides/notesSlide5.xml" Id="R4d7b4a6e845749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8e6e7cbd4550" /><Relationship Type="http://schemas.openxmlformats.org/officeDocument/2006/relationships/notesSlide" Target="/ppt/notesSlides/notesSlide6.xml" Id="R82fe00897fdd42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b6c29021549b0" /><Relationship Type="http://schemas.openxmlformats.org/officeDocument/2006/relationships/notesSlide" Target="/ppt/notesSlides/notesSlide7.xml" Id="R0e035aab20e14a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9bdc5e8f34c5e" /><Relationship Type="http://schemas.openxmlformats.org/officeDocument/2006/relationships/notesSlide" Target="/ppt/notesSlides/notesSlide8.xml" Id="R8832f0cc51744de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7dbf4e0a745bb" /><Relationship Type="http://schemas.openxmlformats.org/officeDocument/2006/relationships/notesSlide" Target="/ppt/notesSlides/notesSlide9.xml" Id="Rde9285fbe9ad43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72e354f764307" /><Relationship Type="http://schemas.openxmlformats.org/officeDocument/2006/relationships/notesSlide" Target="/ppt/notesSlides/notesSlide10.xml" Id="Rae19cd2eaddb4d8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2e2ddcfdd486d" /><Relationship Type="http://schemas.openxmlformats.org/officeDocument/2006/relationships/notesSlide" Target="/ppt/notesSlides/notesSlide11.xml" Id="Rd0fe75ed95154a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56a89e27a4262" /><Relationship Type="http://schemas.openxmlformats.org/officeDocument/2006/relationships/notesSlide" Target="/ppt/notesSlides/notesSlide12.xml" Id="Reed3137c48c1423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18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1">
            <a:extLst xmlns:a="http://schemas.openxmlformats.org/drawingml/2006/main">
              <a:ext uri="{FF2B5EF4-FFF2-40B4-BE49-F238E27FC236}">
                <a16:creationId xmlns:a16="http://schemas.microsoft.com/office/drawing/2014/main" id="{FC2AAB9D-3D23-41FC-BCC7-8D5709F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64008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>
              <a:alpha val="10196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" name="Google Shape;13;p1">
            <a:extLst xmlns:a="http://schemas.openxmlformats.org/drawingml/2006/main">
              <a:ext uri="{FF2B5EF4-FFF2-40B4-BE49-F238E27FC236}">
                <a16:creationId xmlns:a16="http://schemas.microsoft.com/office/drawing/2014/main" id="{936553BC-A5FF-45E3-8E9D-3774C26B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737360"/>
            <a:ext cx="2194560" cy="2194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>
              <a:alpha val="18039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" name="Google Shape;14;p1">
            <a:extLst xmlns:a="http://schemas.openxmlformats.org/drawingml/2006/main">
              <a:ext uri="{FF2B5EF4-FFF2-40B4-BE49-F238E27FC236}">
                <a16:creationId xmlns:a16="http://schemas.microsoft.com/office/drawing/2014/main" id="{1182F00C-5121-423A-ADB5-C16AA6F1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60604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>
              <a:alpha val="32157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" name="Google Shape;15;p1">
            <a:extLst xmlns:a="http://schemas.openxmlformats.org/drawingml/2006/main">
              <a:ext uri="{FF2B5EF4-FFF2-40B4-BE49-F238E27FC236}">
                <a16:creationId xmlns:a16="http://schemas.microsoft.com/office/drawing/2014/main" id="{3D212C2D-A190-407A-AD76-7D354696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594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000"/>
              <a:buFont typeface="Calibri"/>
              <a:buNone/>
            </a:pPr>
            <a:r>
              <a:rPr sz="1000" b="1" i="0" u="none" cap="none">
                <a:solidFill>
                  <a:srgbClr val="B5924A"/>
                </a:solidFill>
                <a:latin typeface="Calibri"/>
                <a:ea typeface="Calibri"/>
                <a:cs typeface="Calibri"/>
              </a:rPr>
              <a:t>PROMO DEPARTMENT  ·  MANAGEMENT REVIEW  ·  JULY 2026</a:t>
            </a:r>
          </a:p>
        </p:txBody>
      </p:sp>
      <p:sp>
        <p:nvSpPr>
          <p:cNvPr id="16" name="Google Shape;16;p1">
            <a:extLst xmlns:a="http://schemas.openxmlformats.org/drawingml/2006/main">
              <a:ext uri="{FF2B5EF4-FFF2-40B4-BE49-F238E27FC236}">
                <a16:creationId xmlns:a16="http://schemas.microsoft.com/office/drawing/2014/main" id="{15E2DA0A-3EF4-4B96-8583-591B83E2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72768"/>
            <a:ext cx="585216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0" i="1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Value Creation Framework</a:t>
            </a:r>
          </a:p>
        </p:txBody>
      </p:sp>
      <p:sp>
        <p:nvSpPr>
          <p:cNvPr id="17" name="Google Shape;17;p1">
            <a:extLst xmlns:a="http://schemas.openxmlformats.org/drawingml/2006/main">
              <a:ext uri="{FF2B5EF4-FFF2-40B4-BE49-F238E27FC236}">
                <a16:creationId xmlns:a16="http://schemas.microsoft.com/office/drawing/2014/main" id="{76A51965-60B9-4C18-9AC9-5419125A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42032"/>
            <a:ext cx="539496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How Promo supports Sales and business growth through better targeting,</a:t>
            </a:r>
          </a:p>
          <a:p xmlns:a="http://schemas.openxmlformats.org/drawingml/2006/main">
            <a:pPr marL="0" marR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250"/>
              <a:buFont typeface="Calibri"/>
              <a:buNone/>
            </a:pPr>
            <a:r>
              <a:rPr sz="1250" b="0" i="0" u="none" cap="none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cost control, measurable tracking, and execution discipline.</a:t>
            </a:r>
          </a:p>
        </p:txBody>
      </p:sp>
      <p:sp>
        <p:nvSpPr>
          <p:cNvPr id="18" name="Google Shape;18;p1">
            <a:extLst xmlns:a="http://schemas.openxmlformats.org/drawingml/2006/main">
              <a:ext uri="{FF2B5EF4-FFF2-40B4-BE49-F238E27FC236}">
                <a16:creationId xmlns:a16="http://schemas.microsoft.com/office/drawing/2014/main" id="{19834AB8-AF65-4397-97A0-E7041E79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1642262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181F"/>
          </a:solidFill>
          <a:ln xmlns:a="http://schemas.openxmlformats.org/drawingml/2006/main" w="12700" cmpd="sng">
            <a:solidFill>
              <a:srgbClr val="3A3A4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" name="Google Shape;19;p1">
            <a:extLst xmlns:a="http://schemas.openxmlformats.org/drawingml/2006/main">
              <a:ext uri="{FF2B5EF4-FFF2-40B4-BE49-F238E27FC236}">
                <a16:creationId xmlns:a16="http://schemas.microsoft.com/office/drawing/2014/main" id="{7599AA82-DA77-4E41-AB6C-A662AA7D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3950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" name="Google Shape;20;p1">
            <a:extLst xmlns:a="http://schemas.openxmlformats.org/drawingml/2006/main">
              <a:ext uri="{FF2B5EF4-FFF2-40B4-BE49-F238E27FC236}">
                <a16:creationId xmlns:a16="http://schemas.microsoft.com/office/drawing/2014/main" id="{D79AEA87-2985-4F3D-8F10-F0A4F58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94760"/>
            <a:ext cx="1367942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sz="900" b="1" i="0" u="none" cap="none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PROMOTION EFFECTIVENESS</a:t>
            </a:r>
          </a:p>
        </p:txBody>
      </p:sp>
      <p:sp>
        <p:nvSpPr>
          <p:cNvPr id="21" name="Google Shape;21;p1">
            <a:extLst xmlns:a="http://schemas.openxmlformats.org/drawingml/2006/main">
              <a:ext uri="{FF2B5EF4-FFF2-40B4-BE49-F238E27FC236}">
                <a16:creationId xmlns:a16="http://schemas.microsoft.com/office/drawing/2014/main" id="{578094A5-1D36-4A82-9CF8-81430B87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774" y="3794760"/>
            <a:ext cx="1717243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181F"/>
          </a:solidFill>
          <a:ln xmlns:a="http://schemas.openxmlformats.org/drawingml/2006/main" w="12700" cmpd="sng">
            <a:solidFill>
              <a:srgbClr val="3A3A4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" name="Google Shape;22;p1">
            <a:extLst xmlns:a="http://schemas.openxmlformats.org/drawingml/2006/main">
              <a:ext uri="{FF2B5EF4-FFF2-40B4-BE49-F238E27FC236}">
                <a16:creationId xmlns:a16="http://schemas.microsoft.com/office/drawing/2014/main" id="{5057D5FF-4DB1-4330-8060-65ED83F9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90" y="3950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" name="Google Shape;23;p1">
            <a:extLst xmlns:a="http://schemas.openxmlformats.org/drawingml/2006/main">
              <a:ext uri="{FF2B5EF4-FFF2-40B4-BE49-F238E27FC236}">
                <a16:creationId xmlns:a16="http://schemas.microsoft.com/office/drawing/2014/main" id="{04969E48-BE50-4890-AC5B-52173650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662" y="3794760"/>
            <a:ext cx="1442923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sz="900" b="1" i="0" u="none" cap="none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DECREASE PROMO COST</a:t>
            </a:r>
          </a:p>
        </p:txBody>
      </p:sp>
      <p:sp>
        <p:nvSpPr>
          <p:cNvPr id="24" name="Google Shape;24;p1">
            <a:extLst xmlns:a="http://schemas.openxmlformats.org/drawingml/2006/main">
              <a:ext uri="{FF2B5EF4-FFF2-40B4-BE49-F238E27FC236}">
                <a16:creationId xmlns:a16="http://schemas.microsoft.com/office/drawing/2014/main" id="{26D99112-15AB-428A-966C-AAECC510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610" y="3794760"/>
            <a:ext cx="1492301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8181F"/>
          </a:solidFill>
          <a:ln xmlns:a="http://schemas.openxmlformats.org/drawingml/2006/main" w="12700" cmpd="sng">
            <a:solidFill>
              <a:srgbClr val="3A3A4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" name="Google Shape;25;p1">
            <a:extLst xmlns:a="http://schemas.openxmlformats.org/drawingml/2006/main">
              <a:ext uri="{FF2B5EF4-FFF2-40B4-BE49-F238E27FC236}">
                <a16:creationId xmlns:a16="http://schemas.microsoft.com/office/drawing/2014/main" id="{6A4C865A-7629-46CF-8735-582EA810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626" y="395020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" name="Google Shape;26;p1">
            <a:extLst xmlns:a="http://schemas.openxmlformats.org/drawingml/2006/main">
              <a:ext uri="{FF2B5EF4-FFF2-40B4-BE49-F238E27FC236}">
                <a16:creationId xmlns:a16="http://schemas.microsoft.com/office/drawing/2014/main" id="{9C690DAC-66D4-468F-9048-48E49671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498" y="3794760"/>
            <a:ext cx="1217981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900"/>
              <a:buFont typeface="Calibri"/>
              <a:buNone/>
            </a:pPr>
            <a:r>
              <a:rPr sz="900" b="1" i="0" u="none" cap="none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INCREASE REVENUE</a:t>
            </a:r>
          </a:p>
        </p:txBody>
      </p:sp>
      <p:sp>
        <p:nvSpPr>
          <p:cNvPr id="27" name="Google Shape;27;p1">
            <a:extLst xmlns:a="http://schemas.openxmlformats.org/drawingml/2006/main">
              <a:ext uri="{FF2B5EF4-FFF2-40B4-BE49-F238E27FC236}">
                <a16:creationId xmlns:a16="http://schemas.microsoft.com/office/drawing/2014/main" id="{A2A8A029-9CD3-4020-B406-76E385AF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1772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35897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">
            <a:extLst xmlns:a="http://schemas.openxmlformats.org/drawingml/2006/main">
              <a:ext uri="{FF2B5EF4-FFF2-40B4-BE49-F238E27FC236}">
                <a16:creationId xmlns:a16="http://schemas.microsoft.com/office/drawing/2014/main" id="{ADACE78F-F65E-4D8B-A91C-CFAE6BA0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1 · EXECUTIVE SUMMARY</a:t>
            </a:r>
          </a:p>
        </p:txBody>
      </p:sp>
      <p:sp>
        <p:nvSpPr>
          <p:cNvPr id="34" name="Google Shape;34;p2">
            <a:extLst xmlns:a="http://schemas.openxmlformats.org/drawingml/2006/main">
              <a:ext uri="{FF2B5EF4-FFF2-40B4-BE49-F238E27FC236}">
                <a16:creationId xmlns:a16="http://schemas.microsoft.com/office/drawing/2014/main" id="{87119DE2-53E1-4BDA-A403-0C4D3F97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From execution support to business partner</a:t>
            </a:r>
          </a:p>
        </p:txBody>
      </p:sp>
      <p:sp>
        <p:nvSpPr>
          <p:cNvPr id="35" name="Google Shape;35;p2">
            <a:extLst xmlns:a="http://schemas.openxmlformats.org/drawingml/2006/main">
              <a:ext uri="{FF2B5EF4-FFF2-40B4-BE49-F238E27FC236}">
                <a16:creationId xmlns:a16="http://schemas.microsoft.com/office/drawing/2014/main" id="{A3708B30-7698-48E2-A472-B62BDC00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34747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sz="20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36" name="Google Shape;36;p2">
            <a:extLst xmlns:a="http://schemas.openxmlformats.org/drawingml/2006/main">
              <a:ext uri="{FF2B5EF4-FFF2-40B4-BE49-F238E27FC236}">
                <a16:creationId xmlns:a16="http://schemas.microsoft.com/office/drawing/2014/main" id="{CED8A77B-28A0-45C9-AF54-2D40E2AA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7008"/>
            <a:ext cx="7772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Beyond request execution.  </a:t>
            </a:r>
            <a:r>
              <a:rPr sz="11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Promo can help Sales improve campaign effectiveness — the right offer, to the right player, at the right time and channel.</a:t>
            </a:r>
          </a:p>
        </p:txBody>
      </p:sp>
      <p:sp>
        <p:nvSpPr>
          <p:cNvPr id="37" name="Google Shape;37;p2">
            <a:extLst xmlns:a="http://schemas.openxmlformats.org/drawingml/2006/main">
              <a:ext uri="{FF2B5EF4-FFF2-40B4-BE49-F238E27FC236}">
                <a16:creationId xmlns:a16="http://schemas.microsoft.com/office/drawing/2014/main" id="{187181F2-84F4-41D7-BCF6-27504C62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7360"/>
            <a:ext cx="34747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sz="20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38" name="Google Shape;38;p2">
            <a:extLst xmlns:a="http://schemas.openxmlformats.org/drawingml/2006/main">
              <a:ext uri="{FF2B5EF4-FFF2-40B4-BE49-F238E27FC236}">
                <a16:creationId xmlns:a16="http://schemas.microsoft.com/office/drawing/2014/main" id="{96C1A208-687C-4154-8A33-28FDDCC3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3936"/>
            <a:ext cx="7772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Reduce waste.  </a:t>
            </a:r>
            <a:r>
              <a:rPr sz="11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Better QC, cap reviews, duplicate cleanup, and abuse control can cut bonus cost and overhead without cutting campaign volume.</a:t>
            </a:r>
          </a:p>
        </p:txBody>
      </p:sp>
      <p:sp>
        <p:nvSpPr>
          <p:cNvPr id="39" name="Google Shape;39;p2">
            <a:extLst xmlns:a="http://schemas.openxmlformats.org/drawingml/2006/main">
              <a:ext uri="{FF2B5EF4-FFF2-40B4-BE49-F238E27FC236}">
                <a16:creationId xmlns:a16="http://schemas.microsoft.com/office/drawing/2014/main" id="{30FD4589-8F53-4B26-90D9-3F778E83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4288"/>
            <a:ext cx="34747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sz="20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0" name="Google Shape;40;p2">
            <a:extLst xmlns:a="http://schemas.openxmlformats.org/drawingml/2006/main">
              <a:ext uri="{FF2B5EF4-FFF2-40B4-BE49-F238E27FC236}">
                <a16:creationId xmlns:a16="http://schemas.microsoft.com/office/drawing/2014/main" id="{17D609C9-495A-4B51-BCC7-03931A8C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0864"/>
            <a:ext cx="7772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Support revenue growth.  </a:t>
            </a:r>
            <a:r>
              <a:rPr sz="11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Improve reactivation, enable segmentation, support cross-product offers, and build the tracking needed to validate what works.</a:t>
            </a:r>
          </a:p>
        </p:txBody>
      </p:sp>
      <p:sp>
        <p:nvSpPr>
          <p:cNvPr id="41" name="Google Shape;41;p2">
            <a:extLst xmlns:a="http://schemas.openxmlformats.org/drawingml/2006/main">
              <a:ext uri="{FF2B5EF4-FFF2-40B4-BE49-F238E27FC236}">
                <a16:creationId xmlns:a16="http://schemas.microsoft.com/office/drawing/2014/main" id="{F7B5074D-7922-456F-9928-AE86A5FB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1216"/>
            <a:ext cx="34747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sz="20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2" name="Google Shape;42;p2">
            <a:extLst xmlns:a="http://schemas.openxmlformats.org/drawingml/2006/main">
              <a:ext uri="{FF2B5EF4-FFF2-40B4-BE49-F238E27FC236}">
                <a16:creationId xmlns:a16="http://schemas.microsoft.com/office/drawing/2014/main" id="{A2EB2500-A8D9-4919-A8E2-21511D92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7792"/>
            <a:ext cx="7772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Control before scale.  </a:t>
            </a:r>
            <a:r>
              <a:rPr sz="11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Automation is useful, but June showed that QC, SOP, and dashboard visibility must be strengthened before full scaling.</a:t>
            </a:r>
          </a:p>
        </p:txBody>
      </p:sp>
      <p:sp>
        <p:nvSpPr>
          <p:cNvPr id="43" name="Google Shape;43;p2">
            <a:extLst xmlns:a="http://schemas.openxmlformats.org/drawingml/2006/main">
              <a:ext uri="{FF2B5EF4-FFF2-40B4-BE49-F238E27FC236}">
                <a16:creationId xmlns:a16="http://schemas.microsoft.com/office/drawing/2014/main" id="{2657DE2A-1A28-4F9E-8C95-5821F83A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144"/>
            <a:ext cx="347472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2000"/>
              <a:buFont typeface="Cambria"/>
              <a:buNone/>
            </a:pPr>
            <a:r>
              <a:rPr sz="20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4" name="Google Shape;44;p2">
            <a:extLst xmlns:a="http://schemas.openxmlformats.org/drawingml/2006/main">
              <a:ext uri="{FF2B5EF4-FFF2-40B4-BE49-F238E27FC236}">
                <a16:creationId xmlns:a16="http://schemas.microsoft.com/office/drawing/2014/main" id="{DB643524-4204-43D2-BEDB-6183A5C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4720"/>
            <a:ext cx="77724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 measurable operating system.  </a:t>
            </a:r>
            <a:r>
              <a:rPr sz="11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Request quality → setup accuracy → campaign performance → cost and revenue review. This framework sets out how we get there.</a:t>
            </a:r>
          </a:p>
        </p:txBody>
      </p:sp>
      <p:sp>
        <p:nvSpPr>
          <p:cNvPr id="45" name="Google Shape;45;p2">
            <a:extLst xmlns:a="http://schemas.openxmlformats.org/drawingml/2006/main">
              <a:ext uri="{FF2B5EF4-FFF2-40B4-BE49-F238E27FC236}">
                <a16:creationId xmlns:a16="http://schemas.microsoft.com/office/drawing/2014/main" id="{7AEF6523-5845-4879-9EC0-27CA6767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822960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2">
            <a:extLst xmlns:a="http://schemas.openxmlformats.org/drawingml/2006/main">
              <a:ext uri="{FF2B5EF4-FFF2-40B4-BE49-F238E27FC236}">
                <a16:creationId xmlns:a16="http://schemas.microsoft.com/office/drawing/2014/main" id="{4BA36949-2D4C-4AFB-8AA5-716CF695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69664"/>
            <a:ext cx="786384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050"/>
              <a:buFont typeface="Calibri"/>
              <a:buNone/>
            </a:pPr>
            <a:r>
              <a:rPr sz="10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On June:  </a:t>
            </a:r>
            <a:r>
              <a:rPr sz="10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positioned as automation stabilisation and control-building. Issues surfaced gaps in QC, exception tracking, and legacy records — cleanup is underway (WS1 dedupe, QC checklists, SOP documentation).</a:t>
            </a:r>
          </a:p>
        </p:txBody>
      </p:sp>
      <p:sp>
        <p:nvSpPr>
          <p:cNvPr id="47" name="Google Shape;47;p2">
            <a:extLst xmlns:a="http://schemas.openxmlformats.org/drawingml/2006/main">
              <a:ext uri="{FF2B5EF4-FFF2-40B4-BE49-F238E27FC236}">
                <a16:creationId xmlns:a16="http://schemas.microsoft.com/office/drawing/2014/main" id="{0D16A8B1-0554-427C-BF81-CB3A560F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1132412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3">
            <a:extLst xmlns:a="http://schemas.openxmlformats.org/drawingml/2006/main">
              <a:ext uri="{FF2B5EF4-FFF2-40B4-BE49-F238E27FC236}">
                <a16:creationId xmlns:a16="http://schemas.microsoft.com/office/drawing/2014/main" id="{7F90A081-FAC8-4B40-9D48-8C97F603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2 · VALUE PILLARS</a:t>
            </a:r>
          </a:p>
        </p:txBody>
      </p:sp>
      <p:sp>
        <p:nvSpPr>
          <p:cNvPr id="54" name="Google Shape;54;p3">
            <a:extLst xmlns:a="http://schemas.openxmlformats.org/drawingml/2006/main">
              <a:ext uri="{FF2B5EF4-FFF2-40B4-BE49-F238E27FC236}">
                <a16:creationId xmlns:a16="http://schemas.microsoft.com/office/drawing/2014/main" id="{365FBC9B-796C-4C3B-9C83-4F8FA45F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Three business goals, one operating model</a:t>
            </a:r>
          </a:p>
        </p:txBody>
      </p:sp>
      <p:sp>
        <p:nvSpPr>
          <p:cNvPr id="55" name="Google Shape;55;p3">
            <a:extLst xmlns:a="http://schemas.openxmlformats.org/drawingml/2006/main">
              <a:ext uri="{FF2B5EF4-FFF2-40B4-BE49-F238E27FC236}">
                <a16:creationId xmlns:a16="http://schemas.microsoft.com/office/drawing/2014/main" id="{A8672045-5438-418C-9A09-DA503183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724912" cy="3584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6" name="Google Shape;56;p3">
            <a:extLst xmlns:a="http://schemas.openxmlformats.org/drawingml/2006/main">
              <a:ext uri="{FF2B5EF4-FFF2-40B4-BE49-F238E27FC236}">
                <a16:creationId xmlns:a16="http://schemas.microsoft.com/office/drawing/2014/main" id="{AA1480DA-A441-4D2C-A074-630BDC68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35024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sz="8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GOAL A</a:t>
            </a:r>
          </a:p>
        </p:txBody>
      </p:sp>
      <p:sp>
        <p:nvSpPr>
          <p:cNvPr id="57" name="Google Shape;57;p3">
            <a:extLst xmlns:a="http://schemas.openxmlformats.org/drawingml/2006/main">
              <a:ext uri="{FF2B5EF4-FFF2-40B4-BE49-F238E27FC236}">
                <a16:creationId xmlns:a16="http://schemas.microsoft.com/office/drawing/2014/main" id="{6A5E9FD4-28DC-4A30-94EE-83839A64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36192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Increase Promotion</a:t>
            </a:r>
          </a:p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Effectiveness</a:t>
            </a:r>
          </a:p>
        </p:txBody>
      </p:sp>
      <p:sp>
        <p:nvSpPr>
          <p:cNvPr id="58" name="Google Shape;58;p3">
            <a:extLst xmlns:a="http://schemas.openxmlformats.org/drawingml/2006/main">
              <a:ext uri="{FF2B5EF4-FFF2-40B4-BE49-F238E27FC236}">
                <a16:creationId xmlns:a16="http://schemas.microsoft.com/office/drawing/2014/main" id="{86395489-EF14-4782-8A53-BAB4C4CF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39696"/>
            <a:ext cx="232257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 i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Right player, right offer, right time and channel.</a:t>
            </a:r>
          </a:p>
        </p:txBody>
      </p:sp>
      <p:cxnSp>
        <p:nvCxnSpPr>
          <p:cNvPr id="159" name="Google Shape;59;p3"/>
          <p:cNvCxnSpPr/>
          <p:nvPr/>
        </p:nvCxnSpPr>
        <p:spPr>
          <a:xfrm xmlns:a="http://schemas.openxmlformats.org/drawingml/2006/main">
            <a:off x="658368" y="2578608"/>
            <a:ext cx="2322576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3">
            <a:extLst xmlns:a="http://schemas.openxmlformats.org/drawingml/2006/main">
              <a:ext uri="{FF2B5EF4-FFF2-40B4-BE49-F238E27FC236}">
                <a16:creationId xmlns:a16="http://schemas.microsoft.com/office/drawing/2014/main" id="{C016AAB4-DDCC-477E-8374-7886C235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77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1" name="Google Shape;61;p3">
            <a:extLst xmlns:a="http://schemas.openxmlformats.org/drawingml/2006/main">
              <a:ext uri="{FF2B5EF4-FFF2-40B4-BE49-F238E27FC236}">
                <a16:creationId xmlns:a16="http://schemas.microsoft.com/office/drawing/2014/main" id="{6A27C802-16EE-4145-9F2C-1F9D353B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8833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Segment-triggered campaigns</a:t>
            </a:r>
          </a:p>
        </p:txBody>
      </p:sp>
      <p:sp>
        <p:nvSpPr>
          <p:cNvPr id="62" name="Google Shape;62;p3">
            <a:extLst xmlns:a="http://schemas.openxmlformats.org/drawingml/2006/main">
              <a:ext uri="{FF2B5EF4-FFF2-40B4-BE49-F238E27FC236}">
                <a16:creationId xmlns:a16="http://schemas.microsoft.com/office/drawing/2014/main" id="{08DDD52B-1676-46A0-A872-DC3D57E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8551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3" name="Google Shape;63;p3">
            <a:extLst xmlns:a="http://schemas.openxmlformats.org/drawingml/2006/main">
              <a:ext uri="{FF2B5EF4-FFF2-40B4-BE49-F238E27FC236}">
                <a16:creationId xmlns:a16="http://schemas.microsoft.com/office/drawing/2014/main" id="{AD394A4B-BA9B-4FB0-B60E-C586F8FF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926080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Peak-timing deployment</a:t>
            </a:r>
          </a:p>
        </p:txBody>
      </p:sp>
      <p:sp>
        <p:nvSpPr>
          <p:cNvPr id="64" name="Google Shape;64;p3">
            <a:extLst xmlns:a="http://schemas.openxmlformats.org/drawingml/2006/main">
              <a:ext uri="{FF2B5EF4-FFF2-40B4-BE49-F238E27FC236}">
                <a16:creationId xmlns:a16="http://schemas.microsoft.com/office/drawing/2014/main" id="{B6583A6A-A277-4F9A-A268-ACC7B2F5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2232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3">
            <a:extLst xmlns:a="http://schemas.openxmlformats.org/drawingml/2006/main">
              <a:ext uri="{FF2B5EF4-FFF2-40B4-BE49-F238E27FC236}">
                <a16:creationId xmlns:a16="http://schemas.microsoft.com/office/drawing/2014/main" id="{E7D3A796-FC77-40C6-BDDD-90530286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63824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Multi-channel delivery</a:t>
            </a:r>
          </a:p>
        </p:txBody>
      </p:sp>
      <p:sp>
        <p:nvSpPr>
          <p:cNvPr id="66" name="Google Shape;66;p3">
            <a:extLst xmlns:a="http://schemas.openxmlformats.org/drawingml/2006/main">
              <a:ext uri="{FF2B5EF4-FFF2-40B4-BE49-F238E27FC236}">
                <a16:creationId xmlns:a16="http://schemas.microsoft.com/office/drawing/2014/main" id="{1BDF5193-5D1E-4630-B1B5-1826790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610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3">
            <a:extLst xmlns:a="http://schemas.openxmlformats.org/drawingml/2006/main">
              <a:ext uri="{FF2B5EF4-FFF2-40B4-BE49-F238E27FC236}">
                <a16:creationId xmlns:a16="http://schemas.microsoft.com/office/drawing/2014/main" id="{E4CC9DE6-B9D5-4DBE-BB31-8772D357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01568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Monthly reactivation pipeline</a:t>
            </a:r>
          </a:p>
        </p:txBody>
      </p:sp>
      <p:sp>
        <p:nvSpPr>
          <p:cNvPr id="68" name="Google Shape;68;p3">
            <a:extLst xmlns:a="http://schemas.openxmlformats.org/drawingml/2006/main">
              <a:ext uri="{FF2B5EF4-FFF2-40B4-BE49-F238E27FC236}">
                <a16:creationId xmlns:a16="http://schemas.microsoft.com/office/drawing/2014/main" id="{E387E4BD-1CF2-4E3B-A7B7-57AF470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69874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" name="Google Shape;69;p3">
            <a:extLst xmlns:a="http://schemas.openxmlformats.org/drawingml/2006/main">
              <a:ext uri="{FF2B5EF4-FFF2-40B4-BE49-F238E27FC236}">
                <a16:creationId xmlns:a16="http://schemas.microsoft.com/office/drawing/2014/main" id="{364C324D-5816-44BF-94F9-2334BA75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39312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Calendar-based planning</a:t>
            </a:r>
          </a:p>
        </p:txBody>
      </p:sp>
      <p:sp>
        <p:nvSpPr>
          <p:cNvPr id="70" name="Google Shape;70;p3">
            <a:extLst xmlns:a="http://schemas.openxmlformats.org/drawingml/2006/main">
              <a:ext uri="{FF2B5EF4-FFF2-40B4-BE49-F238E27FC236}">
                <a16:creationId xmlns:a16="http://schemas.microsoft.com/office/drawing/2014/main" id="{88148255-88B2-4FC9-AA75-03646A37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364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3">
            <a:extLst xmlns:a="http://schemas.openxmlformats.org/drawingml/2006/main">
              <a:ext uri="{FF2B5EF4-FFF2-40B4-BE49-F238E27FC236}">
                <a16:creationId xmlns:a16="http://schemas.microsoft.com/office/drawing/2014/main" id="{165CACEC-661D-499C-8B9F-E8896AD0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87705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Standardised request structure</a:t>
            </a:r>
          </a:p>
        </p:txBody>
      </p:sp>
      <p:sp>
        <p:nvSpPr>
          <p:cNvPr id="72" name="Google Shape;72;p3">
            <a:extLst xmlns:a="http://schemas.openxmlformats.org/drawingml/2006/main">
              <a:ext uri="{FF2B5EF4-FFF2-40B4-BE49-F238E27FC236}">
                <a16:creationId xmlns:a16="http://schemas.microsoft.com/office/drawing/2014/main" id="{2C1F0E52-F72D-450D-9543-2AE3B680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24528"/>
            <a:ext cx="232257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Measured by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Claim rate · channel performance · request completeness</a:t>
            </a:r>
          </a:p>
        </p:txBody>
      </p:sp>
      <p:sp>
        <p:nvSpPr>
          <p:cNvPr id="73" name="Google Shape;73;p3">
            <a:extLst xmlns:a="http://schemas.openxmlformats.org/drawingml/2006/main">
              <a:ext uri="{FF2B5EF4-FFF2-40B4-BE49-F238E27FC236}">
                <a16:creationId xmlns:a16="http://schemas.microsoft.com/office/drawing/2014/main" id="{D3CE4F35-0B4B-47C6-BCDE-529C69E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170432"/>
            <a:ext cx="2724912" cy="3584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3">
            <a:extLst xmlns:a="http://schemas.openxmlformats.org/drawingml/2006/main">
              <a:ext uri="{FF2B5EF4-FFF2-40B4-BE49-F238E27FC236}">
                <a16:creationId xmlns:a16="http://schemas.microsoft.com/office/drawing/2014/main" id="{22622807-CF23-4E78-97AF-88D18BE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335024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sz="8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GOAL B</a:t>
            </a:r>
          </a:p>
        </p:txBody>
      </p:sp>
      <p:sp>
        <p:nvSpPr>
          <p:cNvPr id="75" name="Google Shape;75;p3">
            <a:extLst xmlns:a="http://schemas.openxmlformats.org/drawingml/2006/main">
              <a:ext uri="{FF2B5EF4-FFF2-40B4-BE49-F238E27FC236}">
                <a16:creationId xmlns:a16="http://schemas.microsoft.com/office/drawing/2014/main" id="{F44AF4AA-407A-4941-A0AE-707ED9BF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536192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Decrease</a:t>
            </a:r>
          </a:p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Promo Cost</a:t>
            </a:r>
          </a:p>
        </p:txBody>
      </p:sp>
      <p:sp>
        <p:nvSpPr>
          <p:cNvPr id="76" name="Google Shape;76;p3">
            <a:extLst xmlns:a="http://schemas.openxmlformats.org/drawingml/2006/main">
              <a:ext uri="{FF2B5EF4-FFF2-40B4-BE49-F238E27FC236}">
                <a16:creationId xmlns:a16="http://schemas.microsoft.com/office/drawing/2014/main" id="{8D1FEFFE-B9D3-4486-A269-EEFE9827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9696"/>
            <a:ext cx="232257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 i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Cut bonus waste, leakage, duplicates, and maintenance.</a:t>
            </a:r>
          </a:p>
        </p:txBody>
      </p:sp>
      <p:cxnSp>
        <p:nvCxnSpPr>
          <p:cNvPr id="177" name="Google Shape;77;p3"/>
          <p:cNvCxnSpPr/>
          <p:nvPr/>
        </p:nvCxnSpPr>
        <p:spPr>
          <a:xfrm xmlns:a="http://schemas.openxmlformats.org/drawingml/2006/main">
            <a:off x="3502152" y="2578608"/>
            <a:ext cx="2322576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3">
            <a:extLst xmlns:a="http://schemas.openxmlformats.org/drawingml/2006/main">
              <a:ext uri="{FF2B5EF4-FFF2-40B4-BE49-F238E27FC236}">
                <a16:creationId xmlns:a16="http://schemas.microsoft.com/office/drawing/2014/main" id="{64C0C8DD-5838-484F-97D7-997BB8D4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7477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9" name="Google Shape;79;p3">
            <a:extLst xmlns:a="http://schemas.openxmlformats.org/drawingml/2006/main">
              <a:ext uri="{FF2B5EF4-FFF2-40B4-BE49-F238E27FC236}">
                <a16:creationId xmlns:a16="http://schemas.microsoft.com/office/drawing/2014/main" id="{884FF602-9768-4811-B163-C3C0A97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68833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Promo cap audit</a:t>
            </a:r>
          </a:p>
        </p:txBody>
      </p:sp>
      <p:sp>
        <p:nvSpPr>
          <p:cNvPr id="80" name="Google Shape;80;p3">
            <a:extLst xmlns:a="http://schemas.openxmlformats.org/drawingml/2006/main">
              <a:ext uri="{FF2B5EF4-FFF2-40B4-BE49-F238E27FC236}">
                <a16:creationId xmlns:a16="http://schemas.microsoft.com/office/drawing/2014/main" id="{6863D1A6-D4CE-4428-AC75-E10B6738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98551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3">
            <a:extLst xmlns:a="http://schemas.openxmlformats.org/drawingml/2006/main">
              <a:ext uri="{FF2B5EF4-FFF2-40B4-BE49-F238E27FC236}">
                <a16:creationId xmlns:a16="http://schemas.microsoft.com/office/drawing/2014/main" id="{036E7423-1E23-4E53-B667-7775EA8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926080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Promo sunset list</a:t>
            </a:r>
          </a:p>
        </p:txBody>
      </p:sp>
      <p:sp>
        <p:nvSpPr>
          <p:cNvPr id="82" name="Google Shape;82;p3">
            <a:extLst xmlns:a="http://schemas.openxmlformats.org/drawingml/2006/main">
              <a:ext uri="{FF2B5EF4-FFF2-40B4-BE49-F238E27FC236}">
                <a16:creationId xmlns:a16="http://schemas.microsoft.com/office/drawing/2014/main" id="{14CC7BB6-29F6-4AC0-A3D5-DD7643FF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2232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3">
            <a:extLst xmlns:a="http://schemas.openxmlformats.org/drawingml/2006/main">
              <a:ext uri="{FF2B5EF4-FFF2-40B4-BE49-F238E27FC236}">
                <a16:creationId xmlns:a16="http://schemas.microsoft.com/office/drawing/2014/main" id="{7E60640C-8640-483E-96C7-C5B08549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163824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Duplicate promo cleanup</a:t>
            </a:r>
          </a:p>
        </p:txBody>
      </p:sp>
      <p:sp>
        <p:nvSpPr>
          <p:cNvPr id="84" name="Google Shape;84;p3">
            <a:extLst xmlns:a="http://schemas.openxmlformats.org/drawingml/2006/main">
              <a:ext uri="{FF2B5EF4-FFF2-40B4-BE49-F238E27FC236}">
                <a16:creationId xmlns:a16="http://schemas.microsoft.com/office/drawing/2014/main" id="{A9A46FC8-1488-42C4-B48E-B0C0D1CA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4610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5" name="Google Shape;85;p3">
            <a:extLst xmlns:a="http://schemas.openxmlformats.org/drawingml/2006/main">
              <a:ext uri="{FF2B5EF4-FFF2-40B4-BE49-F238E27FC236}">
                <a16:creationId xmlns:a16="http://schemas.microsoft.com/office/drawing/2014/main" id="{34B68631-E64B-4AA3-9EF5-8DCB99F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401568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Bonus hunter / abuse control</a:t>
            </a:r>
          </a:p>
        </p:txBody>
      </p:sp>
      <p:sp>
        <p:nvSpPr>
          <p:cNvPr id="86" name="Google Shape;86;p3">
            <a:extLst xmlns:a="http://schemas.openxmlformats.org/drawingml/2006/main">
              <a:ext uri="{FF2B5EF4-FFF2-40B4-BE49-F238E27FC236}">
                <a16:creationId xmlns:a16="http://schemas.microsoft.com/office/drawing/2014/main" id="{116129C8-EEAF-45B8-A789-054D9E22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69874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3">
            <a:extLst xmlns:a="http://schemas.openxmlformats.org/drawingml/2006/main">
              <a:ext uri="{FF2B5EF4-FFF2-40B4-BE49-F238E27FC236}">
                <a16:creationId xmlns:a16="http://schemas.microsoft.com/office/drawing/2014/main" id="{7F9FB69A-E757-4E03-862F-28DE438B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639312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Minimum effective bonus testing</a:t>
            </a:r>
          </a:p>
        </p:txBody>
      </p:sp>
      <p:sp>
        <p:nvSpPr>
          <p:cNvPr id="88" name="Google Shape;88;p3">
            <a:extLst xmlns:a="http://schemas.openxmlformats.org/drawingml/2006/main">
              <a:ext uri="{FF2B5EF4-FFF2-40B4-BE49-F238E27FC236}">
                <a16:creationId xmlns:a16="http://schemas.microsoft.com/office/drawing/2014/main" id="{726F896C-6CE6-40FD-AD4A-436ADC01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9364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3">
            <a:extLst xmlns:a="http://schemas.openxmlformats.org/drawingml/2006/main">
              <a:ext uri="{FF2B5EF4-FFF2-40B4-BE49-F238E27FC236}">
                <a16:creationId xmlns:a16="http://schemas.microsoft.com/office/drawing/2014/main" id="{D774CF32-54A0-4263-9F8D-4B10E5BC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387705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Pre-live QC + exception tracking</a:t>
            </a:r>
          </a:p>
        </p:txBody>
      </p:sp>
      <p:sp>
        <p:nvSpPr>
          <p:cNvPr id="90" name="Google Shape;90;p3">
            <a:extLst xmlns:a="http://schemas.openxmlformats.org/drawingml/2006/main">
              <a:ext uri="{FF2B5EF4-FFF2-40B4-BE49-F238E27FC236}">
                <a16:creationId xmlns:a16="http://schemas.microsoft.com/office/drawing/2014/main" id="{5611530B-55C5-4847-9571-A1F2399A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224528"/>
            <a:ext cx="232257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Measured by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Bonus cost · cap vs deposit · QC error log</a:t>
            </a:r>
          </a:p>
        </p:txBody>
      </p:sp>
      <p:sp>
        <p:nvSpPr>
          <p:cNvPr id="91" name="Google Shape;91;p3">
            <a:extLst xmlns:a="http://schemas.openxmlformats.org/drawingml/2006/main">
              <a:ext uri="{FF2B5EF4-FFF2-40B4-BE49-F238E27FC236}">
                <a16:creationId xmlns:a16="http://schemas.microsoft.com/office/drawing/2014/main" id="{65EA709B-5A35-4B6E-A892-0EFB4F80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170432"/>
            <a:ext cx="2724912" cy="3584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3">
            <a:extLst xmlns:a="http://schemas.openxmlformats.org/drawingml/2006/main">
              <a:ext uri="{FF2B5EF4-FFF2-40B4-BE49-F238E27FC236}">
                <a16:creationId xmlns:a16="http://schemas.microsoft.com/office/drawing/2014/main" id="{C80A838F-9769-4BB2-B305-ED4B0C0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335024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sz="8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GOAL C</a:t>
            </a:r>
          </a:p>
        </p:txBody>
      </p:sp>
      <p:sp>
        <p:nvSpPr>
          <p:cNvPr id="93" name="Google Shape;93;p3">
            <a:extLst xmlns:a="http://schemas.openxmlformats.org/drawingml/2006/main">
              <a:ext uri="{FF2B5EF4-FFF2-40B4-BE49-F238E27FC236}">
                <a16:creationId xmlns:a16="http://schemas.microsoft.com/office/drawing/2014/main" id="{952CB92F-B548-4DB8-A16F-E331E8C6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536192"/>
            <a:ext cx="2322576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Increase</a:t>
            </a:r>
          </a:p>
          <a:p xmlns:a="http://schemas.openxmlformats.org/drawingml/2006/main">
            <a:pPr marL="0" marR="0" indent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450"/>
              <a:buFont typeface="Cambria"/>
              <a:buNone/>
            </a:pPr>
            <a:r>
              <a:rPr sz="14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Revenue</a:t>
            </a:r>
          </a:p>
        </p:txBody>
      </p:sp>
      <p:sp>
        <p:nvSpPr>
          <p:cNvPr id="94" name="Google Shape;94;p3">
            <a:extLst xmlns:a="http://schemas.openxmlformats.org/drawingml/2006/main">
              <a:ext uri="{FF2B5EF4-FFF2-40B4-BE49-F238E27FC236}">
                <a16:creationId xmlns:a16="http://schemas.microsoft.com/office/drawing/2014/main" id="{52020F25-8024-48D6-BA61-153BF7E3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139696"/>
            <a:ext cx="2322576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 i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From promo creation support to revenue enablement.</a:t>
            </a:r>
          </a:p>
        </p:txBody>
      </p:sp>
      <p:cxnSp>
        <p:nvCxnSpPr>
          <p:cNvPr id="195" name="Google Shape;95;p3"/>
          <p:cNvCxnSpPr/>
          <p:nvPr/>
        </p:nvCxnSpPr>
        <p:spPr>
          <a:xfrm xmlns:a="http://schemas.openxmlformats.org/drawingml/2006/main">
            <a:off x="6345936" y="2578608"/>
            <a:ext cx="2322576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3">
            <a:extLst xmlns:a="http://schemas.openxmlformats.org/drawingml/2006/main">
              <a:ext uri="{FF2B5EF4-FFF2-40B4-BE49-F238E27FC236}">
                <a16:creationId xmlns:a16="http://schemas.microsoft.com/office/drawing/2014/main" id="{ECAC034D-F77B-4AC0-A3D1-CD29D0E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74777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3">
            <a:extLst xmlns:a="http://schemas.openxmlformats.org/drawingml/2006/main">
              <a:ext uri="{FF2B5EF4-FFF2-40B4-BE49-F238E27FC236}">
                <a16:creationId xmlns:a16="http://schemas.microsoft.com/office/drawing/2014/main" id="{8B72CDA9-4C50-4162-9DE2-7227D48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8833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Reactivation revenue campaigns</a:t>
            </a:r>
          </a:p>
        </p:txBody>
      </p:sp>
      <p:sp>
        <p:nvSpPr>
          <p:cNvPr id="98" name="Google Shape;98;p3">
            <a:extLst xmlns:a="http://schemas.openxmlformats.org/drawingml/2006/main">
              <a:ext uri="{FF2B5EF4-FFF2-40B4-BE49-F238E27FC236}">
                <a16:creationId xmlns:a16="http://schemas.microsoft.com/office/drawing/2014/main" id="{7FCACD3D-8142-4F69-95C5-1F245711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98551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9" name="Google Shape;99;p3">
            <a:extLst xmlns:a="http://schemas.openxmlformats.org/drawingml/2006/main">
              <a:ext uri="{FF2B5EF4-FFF2-40B4-BE49-F238E27FC236}">
                <a16:creationId xmlns:a16="http://schemas.microsoft.com/office/drawing/2014/main" id="{24C26477-5D38-4613-A6C7-E928AC06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26080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Cross-product bridging</a:t>
            </a:r>
          </a:p>
        </p:txBody>
      </p:sp>
      <p:sp>
        <p:nvSpPr>
          <p:cNvPr id="100" name="Google Shape;100;p3">
            <a:extLst xmlns:a="http://schemas.openxmlformats.org/drawingml/2006/main">
              <a:ext uri="{FF2B5EF4-FFF2-40B4-BE49-F238E27FC236}">
                <a16:creationId xmlns:a16="http://schemas.microsoft.com/office/drawing/2014/main" id="{0C9A4126-E216-456F-9746-8D61A248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2232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3">
            <a:extLst xmlns:a="http://schemas.openxmlformats.org/drawingml/2006/main">
              <a:ext uri="{FF2B5EF4-FFF2-40B4-BE49-F238E27FC236}">
                <a16:creationId xmlns:a16="http://schemas.microsoft.com/office/drawing/2014/main" id="{74302097-52F8-4AE9-B99A-877BEDA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163824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VIP progression ladder</a:t>
            </a:r>
          </a:p>
        </p:txBody>
      </p:sp>
      <p:sp>
        <p:nvSpPr>
          <p:cNvPr id="102" name="Google Shape;102;p3">
            <a:extLst xmlns:a="http://schemas.openxmlformats.org/drawingml/2006/main">
              <a:ext uri="{FF2B5EF4-FFF2-40B4-BE49-F238E27FC236}">
                <a16:creationId xmlns:a16="http://schemas.microsoft.com/office/drawing/2014/main" id="{525D74E6-D8CF-4140-B67C-28AE4F8E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46100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3" name="Google Shape;103;p3">
            <a:extLst xmlns:a="http://schemas.openxmlformats.org/drawingml/2006/main">
              <a:ext uri="{FF2B5EF4-FFF2-40B4-BE49-F238E27FC236}">
                <a16:creationId xmlns:a16="http://schemas.microsoft.com/office/drawing/2014/main" id="{4C08FC51-A753-4271-A321-6F562FE3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01568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Promo attribution model</a:t>
            </a:r>
          </a:p>
        </p:txBody>
      </p:sp>
      <p:sp>
        <p:nvSpPr>
          <p:cNvPr id="104" name="Google Shape;104;p3">
            <a:extLst xmlns:a="http://schemas.openxmlformats.org/drawingml/2006/main">
              <a:ext uri="{FF2B5EF4-FFF2-40B4-BE49-F238E27FC236}">
                <a16:creationId xmlns:a16="http://schemas.microsoft.com/office/drawing/2014/main" id="{42F78133-1846-4193-89A9-92B86BD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69874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3">
            <a:extLst xmlns:a="http://schemas.openxmlformats.org/drawingml/2006/main">
              <a:ext uri="{FF2B5EF4-FFF2-40B4-BE49-F238E27FC236}">
                <a16:creationId xmlns:a16="http://schemas.microsoft.com/office/drawing/2014/main" id="{C7DA4518-CF80-423A-B924-F9AF3670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39312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Sweet-spot cap strategy</a:t>
            </a:r>
          </a:p>
        </p:txBody>
      </p:sp>
      <p:sp>
        <p:nvSpPr>
          <p:cNvPr id="106" name="Google Shape;106;p3">
            <a:extLst xmlns:a="http://schemas.openxmlformats.org/drawingml/2006/main">
              <a:ext uri="{FF2B5EF4-FFF2-40B4-BE49-F238E27FC236}">
                <a16:creationId xmlns:a16="http://schemas.microsoft.com/office/drawing/2014/main" id="{CC6B3C70-6C86-4F30-88C7-8A292FC3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393649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3">
            <a:extLst xmlns:a="http://schemas.openxmlformats.org/drawingml/2006/main">
              <a:ext uri="{FF2B5EF4-FFF2-40B4-BE49-F238E27FC236}">
                <a16:creationId xmlns:a16="http://schemas.microsoft.com/office/drawing/2014/main" id="{2BDC5824-00C7-4624-8645-13ECAF05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77056"/>
            <a:ext cx="221284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Post-mortems + dashboards</a:t>
            </a:r>
          </a:p>
        </p:txBody>
      </p:sp>
      <p:sp>
        <p:nvSpPr>
          <p:cNvPr id="108" name="Google Shape;108;p3">
            <a:extLst xmlns:a="http://schemas.openxmlformats.org/drawingml/2006/main">
              <a:ext uri="{FF2B5EF4-FFF2-40B4-BE49-F238E27FC236}">
                <a16:creationId xmlns:a16="http://schemas.microsoft.com/office/drawing/2014/main" id="{8259E853-3ACE-4AAD-8C6B-41BC69BB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4224528"/>
            <a:ext cx="2322576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Measured by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Promo → claim → deposit · 24/72h · cost per reactivation</a:t>
            </a:r>
          </a:p>
        </p:txBody>
      </p:sp>
      <p:sp>
        <p:nvSpPr>
          <p:cNvPr id="109" name="Google Shape;109;p3">
            <a:extLst xmlns:a="http://schemas.openxmlformats.org/drawingml/2006/main">
              <a:ext uri="{FF2B5EF4-FFF2-40B4-BE49-F238E27FC236}">
                <a16:creationId xmlns:a16="http://schemas.microsoft.com/office/drawing/2014/main" id="{3C86DA22-7AE3-4764-AB61-79785858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9459653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4">
            <a:extLst xmlns:a="http://schemas.openxmlformats.org/drawingml/2006/main">
              <a:ext uri="{FF2B5EF4-FFF2-40B4-BE49-F238E27FC236}">
                <a16:creationId xmlns:a16="http://schemas.microsoft.com/office/drawing/2014/main" id="{BEDBDDF0-A52D-4121-A7CF-21FCB3D5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3 · PRACTICAL INITIATIVES</a:t>
            </a:r>
          </a:p>
        </p:txBody>
      </p:sp>
      <p:sp>
        <p:nvSpPr>
          <p:cNvPr id="116" name="Google Shape;116;p4">
            <a:extLst xmlns:a="http://schemas.openxmlformats.org/drawingml/2006/main">
              <a:ext uri="{FF2B5EF4-FFF2-40B4-BE49-F238E27FC236}">
                <a16:creationId xmlns:a16="http://schemas.microsoft.com/office/drawing/2014/main" id="{6A26D918-AA82-4802-8F4A-B2B9667C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Ten realistic initiatives — 1 to 5</a:t>
            </a:r>
          </a:p>
        </p:txBody>
      </p:sp>
      <p:sp>
        <p:nvSpPr>
          <p:cNvPr id="117" name="Google Shape;117;p4">
            <a:extLst xmlns:a="http://schemas.openxmlformats.org/drawingml/2006/main">
              <a:ext uri="{FF2B5EF4-FFF2-40B4-BE49-F238E27FC236}">
                <a16:creationId xmlns:a16="http://schemas.microsoft.com/office/drawing/2014/main" id="{1B72CBD9-30CF-41EA-9675-EDCF3895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115568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sz="7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/ IMPACT</a:t>
            </a:r>
          </a:p>
        </p:txBody>
      </p:sp>
      <p:sp>
        <p:nvSpPr>
          <p:cNvPr id="118" name="Google Shape;118;p4">
            <a:extLst xmlns:a="http://schemas.openxmlformats.org/drawingml/2006/main">
              <a:ext uri="{FF2B5EF4-FFF2-40B4-BE49-F238E27FC236}">
                <a16:creationId xmlns:a16="http://schemas.microsoft.com/office/drawing/2014/main" id="{4E56B9D1-5D89-4606-9200-F51E4E6A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15568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sz="7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MEASUREMENT</a:t>
            </a:r>
          </a:p>
        </p:txBody>
      </p:sp>
      <p:sp>
        <p:nvSpPr>
          <p:cNvPr id="119" name="Google Shape;119;p4">
            <a:extLst xmlns:a="http://schemas.openxmlformats.org/drawingml/2006/main">
              <a:ext uri="{FF2B5EF4-FFF2-40B4-BE49-F238E27FC236}">
                <a16:creationId xmlns:a16="http://schemas.microsoft.com/office/drawing/2014/main" id="{4F129D0D-5EF0-4A9C-B829-ED803E8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90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4">
            <a:extLst xmlns:a="http://schemas.openxmlformats.org/drawingml/2006/main">
              <a:ext uri="{FF2B5EF4-FFF2-40B4-BE49-F238E27FC236}">
                <a16:creationId xmlns:a16="http://schemas.microsoft.com/office/drawing/2014/main" id="{AE7948E3-58A2-4020-98D7-E5A294D2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90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21" name="Google Shape;121;p4">
            <a:extLst xmlns:a="http://schemas.openxmlformats.org/drawingml/2006/main">
              <a:ext uri="{FF2B5EF4-FFF2-40B4-BE49-F238E27FC236}">
                <a16:creationId xmlns:a16="http://schemas.microsoft.com/office/drawing/2014/main" id="{C0659D9D-6AA0-43CE-95D3-3B384A43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335024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Request Quality Gate</a:t>
            </a:r>
          </a:p>
        </p:txBody>
      </p:sp>
      <p:sp>
        <p:nvSpPr>
          <p:cNvPr id="122" name="Google Shape;122;p4">
            <a:extLst xmlns:a="http://schemas.openxmlformats.org/drawingml/2006/main">
              <a:ext uri="{FF2B5EF4-FFF2-40B4-BE49-F238E27FC236}">
                <a16:creationId xmlns:a16="http://schemas.microsoft.com/office/drawing/2014/main" id="{F2275268-DA40-4AD5-BA50-F4A0E86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72768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Required fields — objective, segment, timing, reward logic — before Promo proceeds. Incomplete briefs are returned for clarification.</a:t>
            </a:r>
          </a:p>
        </p:txBody>
      </p:sp>
      <p:sp>
        <p:nvSpPr>
          <p:cNvPr id="123" name="Google Shape;123;p4">
            <a:extLst xmlns:a="http://schemas.openxmlformats.org/drawingml/2006/main">
              <a:ext uri="{FF2B5EF4-FFF2-40B4-BE49-F238E27FC236}">
                <a16:creationId xmlns:a16="http://schemas.microsoft.com/office/drawing/2014/main" id="{450B6FCA-6DBF-49C2-9A84-E0948DF8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71600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24" name="Google Shape;124;p4">
            <a:extLst xmlns:a="http://schemas.openxmlformats.org/drawingml/2006/main">
              <a:ext uri="{FF2B5EF4-FFF2-40B4-BE49-F238E27FC236}">
                <a16:creationId xmlns:a16="http://schemas.microsoft.com/office/drawing/2014/main" id="{3E432716-E970-41F5-ACA5-5AFAE654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600200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25" name="Google Shape;125;p4">
            <a:extLst xmlns:a="http://schemas.openxmlformats.org/drawingml/2006/main">
              <a:ext uri="{FF2B5EF4-FFF2-40B4-BE49-F238E27FC236}">
                <a16:creationId xmlns:a16="http://schemas.microsoft.com/office/drawing/2014/main" id="{6992C251-9B34-4741-B516-83548A0C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% complete first-pass · clarification loops · turnaround time</a:t>
            </a:r>
          </a:p>
        </p:txBody>
      </p:sp>
      <p:cxnSp>
        <p:nvCxnSpPr>
          <p:cNvPr id="206" name="Google Shape;126;p4"/>
          <p:cNvCxnSpPr/>
          <p:nvPr/>
        </p:nvCxnSpPr>
        <p:spPr>
          <a:xfrm xmlns:a="http://schemas.openxmlformats.org/drawingml/2006/main">
            <a:off x="457200" y="1984248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7" name="Google Shape;127;p4">
            <a:extLst xmlns:a="http://schemas.openxmlformats.org/drawingml/2006/main">
              <a:ext uri="{FF2B5EF4-FFF2-40B4-BE49-F238E27FC236}">
                <a16:creationId xmlns:a16="http://schemas.microsoft.com/office/drawing/2014/main" id="{39488439-A43F-4C0B-BFE5-A89261F6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226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4">
            <a:extLst xmlns:a="http://schemas.openxmlformats.org/drawingml/2006/main">
              <a:ext uri="{FF2B5EF4-FFF2-40B4-BE49-F238E27FC236}">
                <a16:creationId xmlns:a16="http://schemas.microsoft.com/office/drawing/2014/main" id="{DD937B86-FCD5-449C-AC0D-7FD97B4C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22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29" name="Google Shape;129;p4">
            <a:extLst xmlns:a="http://schemas.openxmlformats.org/drawingml/2006/main">
              <a:ext uri="{FF2B5EF4-FFF2-40B4-BE49-F238E27FC236}">
                <a16:creationId xmlns:a16="http://schemas.microsoft.com/office/drawing/2014/main" id="{348D86EB-5E18-4D8A-B770-2E1DA1F0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48256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Segment-Triggered Campaigns</a:t>
            </a:r>
          </a:p>
        </p:txBody>
      </p:sp>
      <p:sp>
        <p:nvSpPr>
          <p:cNvPr id="130" name="Google Shape;130;p4">
            <a:extLst xmlns:a="http://schemas.openxmlformats.org/drawingml/2006/main">
              <a:ext uri="{FF2B5EF4-FFF2-40B4-BE49-F238E27FC236}">
                <a16:creationId xmlns:a16="http://schemas.microsoft.com/office/drawing/2014/main" id="{83B3F0E3-6579-4A0B-AFF8-2B1865A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8600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Sales provides the target segment; Promo matches bonus mechanics and channel to that audience.</a:t>
            </a:r>
          </a:p>
        </p:txBody>
      </p:sp>
      <p:sp>
        <p:nvSpPr>
          <p:cNvPr id="131" name="Google Shape;131;p4">
            <a:extLst xmlns:a="http://schemas.openxmlformats.org/drawingml/2006/main">
              <a:ext uri="{FF2B5EF4-FFF2-40B4-BE49-F238E27FC236}">
                <a16:creationId xmlns:a16="http://schemas.microsoft.com/office/drawing/2014/main" id="{8E579969-97C5-48D9-B199-26E17A3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8483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32" name="Google Shape;132;p4">
            <a:extLst xmlns:a="http://schemas.openxmlformats.org/drawingml/2006/main">
              <a:ext uri="{FF2B5EF4-FFF2-40B4-BE49-F238E27FC236}">
                <a16:creationId xmlns:a16="http://schemas.microsoft.com/office/drawing/2014/main" id="{76A41938-55E9-4D0E-9EC7-22CA2CC4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31343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9A3A3A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133" name="Google Shape;133;p4">
            <a:extLst xmlns:a="http://schemas.openxmlformats.org/drawingml/2006/main">
              <a:ext uri="{FF2B5EF4-FFF2-40B4-BE49-F238E27FC236}">
                <a16:creationId xmlns:a16="http://schemas.microsoft.com/office/drawing/2014/main" id="{03290E85-15FC-4A1C-9259-4FC2D18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483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Claim rate by segment · deposit conversion · response rate</a:t>
            </a:r>
          </a:p>
        </p:txBody>
      </p:sp>
      <p:cxnSp>
        <p:nvCxnSpPr>
          <p:cNvPr id="214" name="Google Shape;134;p4"/>
          <p:cNvCxnSpPr/>
          <p:nvPr/>
        </p:nvCxnSpPr>
        <p:spPr>
          <a:xfrm xmlns:a="http://schemas.openxmlformats.org/drawingml/2006/main">
            <a:off x="457200" y="269748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4">
            <a:extLst xmlns:a="http://schemas.openxmlformats.org/drawingml/2006/main">
              <a:ext uri="{FF2B5EF4-FFF2-40B4-BE49-F238E27FC236}">
                <a16:creationId xmlns:a16="http://schemas.microsoft.com/office/drawing/2014/main" id="{3A8D89FB-C350-4F0D-A144-EB676617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54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6" name="Google Shape;136;p4">
            <a:extLst xmlns:a="http://schemas.openxmlformats.org/drawingml/2006/main">
              <a:ext uri="{FF2B5EF4-FFF2-40B4-BE49-F238E27FC236}">
                <a16:creationId xmlns:a16="http://schemas.microsoft.com/office/drawing/2014/main" id="{37829212-6963-4AF7-B50A-2B38060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549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37" name="Google Shape;137;p4">
            <a:extLst xmlns:a="http://schemas.openxmlformats.org/drawingml/2006/main">
              <a:ext uri="{FF2B5EF4-FFF2-40B4-BE49-F238E27FC236}">
                <a16:creationId xmlns:a16="http://schemas.microsoft.com/office/drawing/2014/main" id="{9EA9401D-0C71-45D6-8703-15BA0382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61488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Monthly Reactivation Pipeline</a:t>
            </a:r>
          </a:p>
        </p:txBody>
      </p:sp>
      <p:sp>
        <p:nvSpPr>
          <p:cNvPr id="138" name="Google Shape;138;p4">
            <a:extLst xmlns:a="http://schemas.openxmlformats.org/drawingml/2006/main">
              <a:ext uri="{FF2B5EF4-FFF2-40B4-BE49-F238E27FC236}">
                <a16:creationId xmlns:a16="http://schemas.microsoft.com/office/drawing/2014/main" id="{9FF69694-13CD-4620-9B08-80073C1F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99232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Scheduled win-back Free Credit for 30-day lapsed players, from a monthly Sales export.</a:t>
            </a:r>
          </a:p>
        </p:txBody>
      </p:sp>
      <p:sp>
        <p:nvSpPr>
          <p:cNvPr id="139" name="Google Shape;139;p4">
            <a:extLst xmlns:a="http://schemas.openxmlformats.org/drawingml/2006/main">
              <a:ext uri="{FF2B5EF4-FFF2-40B4-BE49-F238E27FC236}">
                <a16:creationId xmlns:a16="http://schemas.microsoft.com/office/drawing/2014/main" id="{E257A2E6-5200-4B75-9A60-BEFF96A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98064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40" name="Google Shape;140;p4">
            <a:extLst xmlns:a="http://schemas.openxmlformats.org/drawingml/2006/main">
              <a:ext uri="{FF2B5EF4-FFF2-40B4-BE49-F238E27FC236}">
                <a16:creationId xmlns:a16="http://schemas.microsoft.com/office/drawing/2014/main" id="{99B634E1-2283-4AC8-AD09-D6AABF9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26664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9A3A3A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141" name="Google Shape;141;p4">
            <a:extLst xmlns:a="http://schemas.openxmlformats.org/drawingml/2006/main">
              <a:ext uri="{FF2B5EF4-FFF2-40B4-BE49-F238E27FC236}">
                <a16:creationId xmlns:a16="http://schemas.microsoft.com/office/drawing/2014/main" id="{FB9A99B2-9CFA-46BD-BB6B-B4808DC0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8064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Reactivated players · deposit within 14 days · cost per reactivation</a:t>
            </a:r>
          </a:p>
        </p:txBody>
      </p:sp>
      <p:cxnSp>
        <p:nvCxnSpPr>
          <p:cNvPr id="222" name="Google Shape;142;p4"/>
          <p:cNvCxnSpPr/>
          <p:nvPr/>
        </p:nvCxnSpPr>
        <p:spPr>
          <a:xfrm xmlns:a="http://schemas.openxmlformats.org/drawingml/2006/main">
            <a:off x="457200" y="3410712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3" name="Google Shape;143;p4">
            <a:extLst xmlns:a="http://schemas.openxmlformats.org/drawingml/2006/main">
              <a:ext uri="{FF2B5EF4-FFF2-40B4-BE49-F238E27FC236}">
                <a16:creationId xmlns:a16="http://schemas.microsoft.com/office/drawing/2014/main" id="{57A60B3C-314F-46AE-9C83-A7B64E5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4">
            <a:extLst xmlns:a="http://schemas.openxmlformats.org/drawingml/2006/main">
              <a:ext uri="{FF2B5EF4-FFF2-40B4-BE49-F238E27FC236}">
                <a16:creationId xmlns:a16="http://schemas.microsoft.com/office/drawing/2014/main" id="{41F01CAD-8843-4312-9347-3C62EF5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145" name="Google Shape;145;p4">
            <a:extLst xmlns:a="http://schemas.openxmlformats.org/drawingml/2006/main">
              <a:ext uri="{FF2B5EF4-FFF2-40B4-BE49-F238E27FC236}">
                <a16:creationId xmlns:a16="http://schemas.microsoft.com/office/drawing/2014/main" id="{06914678-5C18-45CB-B6AB-F577F947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74720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Cap Audit</a:t>
            </a:r>
          </a:p>
        </p:txBody>
      </p:sp>
      <p:sp>
        <p:nvSpPr>
          <p:cNvPr id="146" name="Google Shape;146;p4">
            <a:extLst xmlns:a="http://schemas.openxmlformats.org/drawingml/2006/main">
              <a:ext uri="{FF2B5EF4-FFF2-40B4-BE49-F238E27FC236}">
                <a16:creationId xmlns:a16="http://schemas.microsoft.com/office/drawing/2014/main" id="{1EFD02CB-DD54-41CA-8BB9-D9113564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12464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Compare max bonus cap vs average claimant deposit; flag promos where cap exceeds 2× average.</a:t>
            </a:r>
          </a:p>
        </p:txBody>
      </p:sp>
      <p:sp>
        <p:nvSpPr>
          <p:cNvPr id="147" name="Google Shape;147;p4">
            <a:extLst xmlns:a="http://schemas.openxmlformats.org/drawingml/2006/main">
              <a:ext uri="{FF2B5EF4-FFF2-40B4-BE49-F238E27FC236}">
                <a16:creationId xmlns:a16="http://schemas.microsoft.com/office/drawing/2014/main" id="{AAA2C4C4-A1CD-41B3-BBAA-C9651BBA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11296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48" name="Google Shape;148;p4">
            <a:extLst xmlns:a="http://schemas.openxmlformats.org/drawingml/2006/main">
              <a:ext uri="{FF2B5EF4-FFF2-40B4-BE49-F238E27FC236}">
                <a16:creationId xmlns:a16="http://schemas.microsoft.com/office/drawing/2014/main" id="{AD0CBF66-670B-4B98-ACA9-8529EFF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739896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49" name="Google Shape;149;p4">
            <a:extLst xmlns:a="http://schemas.openxmlformats.org/drawingml/2006/main">
              <a:ext uri="{FF2B5EF4-FFF2-40B4-BE49-F238E27FC236}">
                <a16:creationId xmlns:a16="http://schemas.microsoft.com/office/drawing/2014/main" id="{D5D9E44F-6C2A-4E11-8B2B-A06C2CF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11296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Bonus cost saved · cap utilisation · deposit impact after change</a:t>
            </a:r>
          </a:p>
        </p:txBody>
      </p:sp>
      <p:cxnSp>
        <p:nvCxnSpPr>
          <p:cNvPr id="230" name="Google Shape;150;p4"/>
          <p:cNvCxnSpPr/>
          <p:nvPr/>
        </p:nvCxnSpPr>
        <p:spPr>
          <a:xfrm xmlns:a="http://schemas.openxmlformats.org/drawingml/2006/main">
            <a:off x="457200" y="4123944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1" name="Google Shape;151;p4">
            <a:extLst xmlns:a="http://schemas.openxmlformats.org/drawingml/2006/main">
              <a:ext uri="{FF2B5EF4-FFF2-40B4-BE49-F238E27FC236}">
                <a16:creationId xmlns:a16="http://schemas.microsoft.com/office/drawing/2014/main" id="{9A1BAA4D-6753-4807-9E58-9A51999F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2" name="Google Shape;152;p4">
            <a:extLst xmlns:a="http://schemas.openxmlformats.org/drawingml/2006/main">
              <a:ext uri="{FF2B5EF4-FFF2-40B4-BE49-F238E27FC236}">
                <a16:creationId xmlns:a16="http://schemas.microsoft.com/office/drawing/2014/main" id="{E2729FC9-D2A0-43FE-BA03-3D736937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153" name="Google Shape;153;p4">
            <a:extLst xmlns:a="http://schemas.openxmlformats.org/drawingml/2006/main">
              <a:ext uri="{FF2B5EF4-FFF2-40B4-BE49-F238E27FC236}">
                <a16:creationId xmlns:a16="http://schemas.microsoft.com/office/drawing/2014/main" id="{571547E8-5700-4856-91A6-0B4BDD63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87952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Sunset List</a:t>
            </a:r>
          </a:p>
        </p:txBody>
      </p:sp>
      <p:sp>
        <p:nvSpPr>
          <p:cNvPr id="154" name="Google Shape;154;p4">
            <a:extLst xmlns:a="http://schemas.openxmlformats.org/drawingml/2006/main">
              <a:ext uri="{FF2B5EF4-FFF2-40B4-BE49-F238E27FC236}">
                <a16:creationId xmlns:a16="http://schemas.microsoft.com/office/drawing/2014/main" id="{437A0EE5-FB72-4552-87EB-56BBA29F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25696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Monthly review to retire low-uptake, duplicate, or risky promos — with management sign-off.</a:t>
            </a:r>
          </a:p>
        </p:txBody>
      </p:sp>
      <p:sp>
        <p:nvSpPr>
          <p:cNvPr id="155" name="Google Shape;155;p4">
            <a:extLst xmlns:a="http://schemas.openxmlformats.org/drawingml/2006/main">
              <a:ext uri="{FF2B5EF4-FFF2-40B4-BE49-F238E27FC236}">
                <a16:creationId xmlns:a16="http://schemas.microsoft.com/office/drawing/2014/main" id="{B1337C54-0605-4BB0-82E4-299B436D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224528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56" name="Google Shape;156;p4">
            <a:extLst xmlns:a="http://schemas.openxmlformats.org/drawingml/2006/main">
              <a:ext uri="{FF2B5EF4-FFF2-40B4-BE49-F238E27FC236}">
                <a16:creationId xmlns:a16="http://schemas.microsoft.com/office/drawing/2014/main" id="{0AFE3114-6311-4F83-A605-95C9570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453128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57" name="Google Shape;157;p4">
            <a:extLst xmlns:a="http://schemas.openxmlformats.org/drawingml/2006/main">
              <a:ext uri="{FF2B5EF4-FFF2-40B4-BE49-F238E27FC236}">
                <a16:creationId xmlns:a16="http://schemas.microsoft.com/office/drawing/2014/main" id="{F28B9200-1174-47E7-B366-5452B6AC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4528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Promos retired · duplicates reduced · T&amp;C issues cleared</a:t>
            </a:r>
          </a:p>
        </p:txBody>
      </p:sp>
      <p:sp>
        <p:nvSpPr>
          <p:cNvPr id="158" name="Google Shape;158;p4">
            <a:extLst xmlns:a="http://schemas.openxmlformats.org/drawingml/2006/main">
              <a:ext uri="{FF2B5EF4-FFF2-40B4-BE49-F238E27FC236}">
                <a16:creationId xmlns:a16="http://schemas.microsoft.com/office/drawing/2014/main" id="{1E2FD316-1C37-4DD3-9EDB-F14C20E4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302066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4" name="Google Shape;164;p5">
            <a:extLst xmlns:a="http://schemas.openxmlformats.org/drawingml/2006/main">
              <a:ext uri="{FF2B5EF4-FFF2-40B4-BE49-F238E27FC236}">
                <a16:creationId xmlns:a16="http://schemas.microsoft.com/office/drawing/2014/main" id="{AA4425CA-F617-4A07-8425-9587308D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3 · PRACTICAL INITIATIVES</a:t>
            </a:r>
          </a:p>
        </p:txBody>
      </p:sp>
      <p:sp>
        <p:nvSpPr>
          <p:cNvPr id="165" name="Google Shape;165;p5">
            <a:extLst xmlns:a="http://schemas.openxmlformats.org/drawingml/2006/main">
              <a:ext uri="{FF2B5EF4-FFF2-40B4-BE49-F238E27FC236}">
                <a16:creationId xmlns:a16="http://schemas.microsoft.com/office/drawing/2014/main" id="{015A4169-B184-4791-8ED6-D8BF46B0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Ten realistic initiatives — 6 to 10</a:t>
            </a:r>
          </a:p>
        </p:txBody>
      </p:sp>
      <p:sp>
        <p:nvSpPr>
          <p:cNvPr id="166" name="Google Shape;166;p5">
            <a:extLst xmlns:a="http://schemas.openxmlformats.org/drawingml/2006/main">
              <a:ext uri="{FF2B5EF4-FFF2-40B4-BE49-F238E27FC236}">
                <a16:creationId xmlns:a16="http://schemas.microsoft.com/office/drawing/2014/main" id="{9FF24133-006E-4FCA-B95A-89271F1C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115568"/>
            <a:ext cx="13716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sz="7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/ IMPACT</a:t>
            </a:r>
          </a:p>
        </p:txBody>
      </p:sp>
      <p:sp>
        <p:nvSpPr>
          <p:cNvPr id="167" name="Google Shape;167;p5">
            <a:extLst xmlns:a="http://schemas.openxmlformats.org/drawingml/2006/main">
              <a:ext uri="{FF2B5EF4-FFF2-40B4-BE49-F238E27FC236}">
                <a16:creationId xmlns:a16="http://schemas.microsoft.com/office/drawing/2014/main" id="{47BF7200-FD69-42C7-85EF-4E8756F3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15568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750"/>
              <a:buFont typeface="Calibri"/>
              <a:buNone/>
            </a:pPr>
            <a:r>
              <a:rPr sz="7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MEASUREMENT</a:t>
            </a:r>
          </a:p>
        </p:txBody>
      </p:sp>
      <p:sp>
        <p:nvSpPr>
          <p:cNvPr id="168" name="Google Shape;168;p5">
            <a:extLst xmlns:a="http://schemas.openxmlformats.org/drawingml/2006/main">
              <a:ext uri="{FF2B5EF4-FFF2-40B4-BE49-F238E27FC236}">
                <a16:creationId xmlns:a16="http://schemas.microsoft.com/office/drawing/2014/main" id="{03FD8EBE-2C7D-414C-AA18-58383B98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903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9" name="Google Shape;169;p5">
            <a:extLst xmlns:a="http://schemas.openxmlformats.org/drawingml/2006/main">
              <a:ext uri="{FF2B5EF4-FFF2-40B4-BE49-F238E27FC236}">
                <a16:creationId xmlns:a16="http://schemas.microsoft.com/office/drawing/2014/main" id="{1A04F5C4-6369-4E44-B9BA-8D09D93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9903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170" name="Google Shape;170;p5">
            <a:extLst xmlns:a="http://schemas.openxmlformats.org/drawingml/2006/main">
              <a:ext uri="{FF2B5EF4-FFF2-40B4-BE49-F238E27FC236}">
                <a16:creationId xmlns:a16="http://schemas.microsoft.com/office/drawing/2014/main" id="{5C2E25C5-56A9-4D58-AC48-7FB5C43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335024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Bonus Hunter / Abuse Control</a:t>
            </a:r>
          </a:p>
        </p:txBody>
      </p:sp>
      <p:sp>
        <p:nvSpPr>
          <p:cNvPr id="171" name="Google Shape;171;p5">
            <a:extLst xmlns:a="http://schemas.openxmlformats.org/drawingml/2006/main">
              <a:ext uri="{FF2B5EF4-FFF2-40B4-BE49-F238E27FC236}">
                <a16:creationId xmlns:a16="http://schemas.microsoft.com/office/drawing/2014/main" id="{C57E5B0D-4C91-41C3-8B36-8867FF21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72768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Flag bonus-heavy, low-retention players; exclude from campaigns or shift to lower-bonus mechanics.</a:t>
            </a:r>
          </a:p>
        </p:txBody>
      </p:sp>
      <p:sp>
        <p:nvSpPr>
          <p:cNvPr id="172" name="Google Shape;172;p5">
            <a:extLst xmlns:a="http://schemas.openxmlformats.org/drawingml/2006/main">
              <a:ext uri="{FF2B5EF4-FFF2-40B4-BE49-F238E27FC236}">
                <a16:creationId xmlns:a16="http://schemas.microsoft.com/office/drawing/2014/main" id="{EC00EB24-6AAB-49EF-A408-538CE8C5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371600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73" name="Google Shape;173;p5">
            <a:extLst xmlns:a="http://schemas.openxmlformats.org/drawingml/2006/main">
              <a:ext uri="{FF2B5EF4-FFF2-40B4-BE49-F238E27FC236}">
                <a16:creationId xmlns:a16="http://schemas.microsoft.com/office/drawing/2014/main" id="{67B380F1-E700-4944-B4C6-8450F41F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1600200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74" name="Google Shape;174;p5">
            <a:extLst xmlns:a="http://schemas.openxmlformats.org/drawingml/2006/main">
              <a:ext uri="{FF2B5EF4-FFF2-40B4-BE49-F238E27FC236}">
                <a16:creationId xmlns:a16="http://schemas.microsoft.com/office/drawing/2014/main" id="{278A4A10-86E5-4790-B1FC-A15384F7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71600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Bonus cost reduced · repeat abuse cases · retention after claim</a:t>
            </a:r>
          </a:p>
        </p:txBody>
      </p:sp>
      <p:cxnSp>
        <p:nvCxnSpPr>
          <p:cNvPr id="255" name="Google Shape;175;p5"/>
          <p:cNvCxnSpPr/>
          <p:nvPr/>
        </p:nvCxnSpPr>
        <p:spPr>
          <a:xfrm xmlns:a="http://schemas.openxmlformats.org/drawingml/2006/main">
            <a:off x="457200" y="1984248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5">
            <a:extLst xmlns:a="http://schemas.openxmlformats.org/drawingml/2006/main">
              <a:ext uri="{FF2B5EF4-FFF2-40B4-BE49-F238E27FC236}">
                <a16:creationId xmlns:a16="http://schemas.microsoft.com/office/drawing/2014/main" id="{138B6E07-42E9-433B-B3ED-FA1A5D61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226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7" name="Google Shape;177;p5">
            <a:extLst xmlns:a="http://schemas.openxmlformats.org/drawingml/2006/main">
              <a:ext uri="{FF2B5EF4-FFF2-40B4-BE49-F238E27FC236}">
                <a16:creationId xmlns:a16="http://schemas.microsoft.com/office/drawing/2014/main" id="{A8A75CD0-82D8-4CA8-A38E-F925FBA3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226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178" name="Google Shape;178;p5">
            <a:extLst xmlns:a="http://schemas.openxmlformats.org/drawingml/2006/main">
              <a:ext uri="{FF2B5EF4-FFF2-40B4-BE49-F238E27FC236}">
                <a16:creationId xmlns:a16="http://schemas.microsoft.com/office/drawing/2014/main" id="{0FFF533B-15DF-4BA7-9F57-62C81AA2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48256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Calendar + Peak Timing</a:t>
            </a:r>
          </a:p>
        </p:txBody>
      </p:sp>
      <p:sp>
        <p:nvSpPr>
          <p:cNvPr id="179" name="Google Shape;179;p5">
            <a:extLst xmlns:a="http://schemas.openxmlformats.org/drawingml/2006/main">
              <a:ext uri="{FF2B5EF4-FFF2-40B4-BE49-F238E27FC236}">
                <a16:creationId xmlns:a16="http://schemas.microsoft.com/office/drawing/2014/main" id="{0F87D28D-4C87-42A5-A76A-48DF4990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86000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Monthly calendar with Sales around paydays, sports events, holidays — planned, not reactive.</a:t>
            </a:r>
          </a:p>
        </p:txBody>
      </p:sp>
      <p:sp>
        <p:nvSpPr>
          <p:cNvPr id="180" name="Google Shape;180;p5">
            <a:extLst xmlns:a="http://schemas.openxmlformats.org/drawingml/2006/main">
              <a:ext uri="{FF2B5EF4-FFF2-40B4-BE49-F238E27FC236}">
                <a16:creationId xmlns:a16="http://schemas.microsoft.com/office/drawing/2014/main" id="{595E7D15-1E68-448B-94F8-02BB2325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08483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81" name="Google Shape;181;p5">
            <a:extLst xmlns:a="http://schemas.openxmlformats.org/drawingml/2006/main">
              <a:ext uri="{FF2B5EF4-FFF2-40B4-BE49-F238E27FC236}">
                <a16:creationId xmlns:a16="http://schemas.microsoft.com/office/drawing/2014/main" id="{9DD7CD36-2020-479A-893E-8BB3549C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313432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82" name="Google Shape;182;p5">
            <a:extLst xmlns:a="http://schemas.openxmlformats.org/drawingml/2006/main">
              <a:ext uri="{FF2B5EF4-FFF2-40B4-BE49-F238E27FC236}">
                <a16:creationId xmlns:a16="http://schemas.microsoft.com/office/drawing/2014/main" id="{B1C890C6-AD57-4616-BE09-B209F04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84832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Claim rate by timing window · planned vs reactive ratio</a:t>
            </a:r>
          </a:p>
        </p:txBody>
      </p:sp>
      <p:cxnSp>
        <p:nvCxnSpPr>
          <p:cNvPr id="263" name="Google Shape;183;p5"/>
          <p:cNvCxnSpPr/>
          <p:nvPr/>
        </p:nvCxnSpPr>
        <p:spPr>
          <a:xfrm xmlns:a="http://schemas.openxmlformats.org/drawingml/2006/main">
            <a:off x="457200" y="2697480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" name="Google Shape;184;p5">
            <a:extLst xmlns:a="http://schemas.openxmlformats.org/drawingml/2006/main">
              <a:ext uri="{FF2B5EF4-FFF2-40B4-BE49-F238E27FC236}">
                <a16:creationId xmlns:a16="http://schemas.microsoft.com/office/drawing/2014/main" id="{08F12B90-6069-45F3-A478-F14101B7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5496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5" name="Google Shape;185;p5">
            <a:extLst xmlns:a="http://schemas.openxmlformats.org/drawingml/2006/main">
              <a:ext uri="{FF2B5EF4-FFF2-40B4-BE49-F238E27FC236}">
                <a16:creationId xmlns:a16="http://schemas.microsoft.com/office/drawing/2014/main" id="{670D03D9-82AA-46A4-A40D-52B9C2C5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5496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186" name="Google Shape;186;p5">
            <a:extLst xmlns:a="http://schemas.openxmlformats.org/drawingml/2006/main">
              <a:ext uri="{FF2B5EF4-FFF2-40B4-BE49-F238E27FC236}">
                <a16:creationId xmlns:a16="http://schemas.microsoft.com/office/drawing/2014/main" id="{44316669-28B2-4967-8078-064DAAFC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61488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Dashboard Reporting</a:t>
            </a:r>
          </a:p>
        </p:txBody>
      </p:sp>
      <p:sp>
        <p:nvSpPr>
          <p:cNvPr id="187" name="Google Shape;187;p5">
            <a:extLst xmlns:a="http://schemas.openxmlformats.org/drawingml/2006/main">
              <a:ext uri="{FF2B5EF4-FFF2-40B4-BE49-F238E27FC236}">
                <a16:creationId xmlns:a16="http://schemas.microsoft.com/office/drawing/2014/main" id="{4F7DF5AC-5B63-4A4E-AFF6-6FD28A4B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999232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Live view of promo volume, SLA, QC pass rate, automation issues, and campaign status for management.</a:t>
            </a:r>
          </a:p>
        </p:txBody>
      </p:sp>
      <p:sp>
        <p:nvSpPr>
          <p:cNvPr id="188" name="Google Shape;188;p5">
            <a:extLst xmlns:a="http://schemas.openxmlformats.org/drawingml/2006/main">
              <a:ext uri="{FF2B5EF4-FFF2-40B4-BE49-F238E27FC236}">
                <a16:creationId xmlns:a16="http://schemas.microsoft.com/office/drawing/2014/main" id="{2782FD07-3CBE-4156-97BA-8BAE5560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98064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MED</a:t>
            </a:r>
          </a:p>
        </p:txBody>
      </p:sp>
      <p:sp>
        <p:nvSpPr>
          <p:cNvPr id="189" name="Google Shape;189;p5">
            <a:extLst xmlns:a="http://schemas.openxmlformats.org/drawingml/2006/main">
              <a:ext uri="{FF2B5EF4-FFF2-40B4-BE49-F238E27FC236}">
                <a16:creationId xmlns:a16="http://schemas.microsoft.com/office/drawing/2014/main" id="{79AF4E20-9346-49F7-822D-47B612F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26664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9A3A3A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190" name="Google Shape;190;p5">
            <a:extLst xmlns:a="http://schemas.openxmlformats.org/drawingml/2006/main">
              <a:ext uri="{FF2B5EF4-FFF2-40B4-BE49-F238E27FC236}">
                <a16:creationId xmlns:a16="http://schemas.microsoft.com/office/drawing/2014/main" id="{DBFABAC3-A6AB-4819-9F42-E8A6758B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8064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Dashboard usage · report automation rate · decisions supported</a:t>
            </a:r>
          </a:p>
        </p:txBody>
      </p:sp>
      <p:cxnSp>
        <p:nvCxnSpPr>
          <p:cNvPr id="271" name="Google Shape;191;p5"/>
          <p:cNvCxnSpPr/>
          <p:nvPr/>
        </p:nvCxnSpPr>
        <p:spPr>
          <a:xfrm xmlns:a="http://schemas.openxmlformats.org/drawingml/2006/main">
            <a:off x="457200" y="3410712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5">
            <a:extLst xmlns:a="http://schemas.openxmlformats.org/drawingml/2006/main">
              <a:ext uri="{FF2B5EF4-FFF2-40B4-BE49-F238E27FC236}">
                <a16:creationId xmlns:a16="http://schemas.microsoft.com/office/drawing/2014/main" id="{B5E32D15-3041-4F8F-9F87-AB572015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5">
            <a:extLst xmlns:a="http://schemas.openxmlformats.org/drawingml/2006/main">
              <a:ext uri="{FF2B5EF4-FFF2-40B4-BE49-F238E27FC236}">
                <a16:creationId xmlns:a16="http://schemas.microsoft.com/office/drawing/2014/main" id="{D587E9C0-B9B9-47F3-AC1E-89404D88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87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194" name="Google Shape;194;p5">
            <a:extLst xmlns:a="http://schemas.openxmlformats.org/drawingml/2006/main">
              <a:ext uri="{FF2B5EF4-FFF2-40B4-BE49-F238E27FC236}">
                <a16:creationId xmlns:a16="http://schemas.microsoft.com/office/drawing/2014/main" id="{57064009-90A6-472D-BD13-86DA9BD3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474720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Automation QC + Exception Log</a:t>
            </a:r>
          </a:p>
        </p:txBody>
      </p:sp>
      <p:sp>
        <p:nvSpPr>
          <p:cNvPr id="195" name="Google Shape;195;p5">
            <a:extLst xmlns:a="http://schemas.openxmlformats.org/drawingml/2006/main">
              <a:ext uri="{FF2B5EF4-FFF2-40B4-BE49-F238E27FC236}">
                <a16:creationId xmlns:a16="http://schemas.microsoft.com/office/drawing/2014/main" id="{32332F8B-EF0E-4D32-99D5-700723D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12464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Log every automation error and QC failure; review weekly; update rules so known issues never repeat.</a:t>
            </a:r>
          </a:p>
        </p:txBody>
      </p:sp>
      <p:sp>
        <p:nvSpPr>
          <p:cNvPr id="196" name="Google Shape;196;p5">
            <a:extLst xmlns:a="http://schemas.openxmlformats.org/drawingml/2006/main">
              <a:ext uri="{FF2B5EF4-FFF2-40B4-BE49-F238E27FC236}">
                <a16:creationId xmlns:a16="http://schemas.microsoft.com/office/drawing/2014/main" id="{3C053773-AF61-47D0-B149-F7940AAC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511296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197" name="Google Shape;197;p5">
            <a:extLst xmlns:a="http://schemas.openxmlformats.org/drawingml/2006/main">
              <a:ext uri="{FF2B5EF4-FFF2-40B4-BE49-F238E27FC236}">
                <a16:creationId xmlns:a16="http://schemas.microsoft.com/office/drawing/2014/main" id="{31981BEE-B84E-4496-AA85-7E74E26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739896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9A3A3A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198" name="Google Shape;198;p5">
            <a:extLst xmlns:a="http://schemas.openxmlformats.org/drawingml/2006/main">
              <a:ext uri="{FF2B5EF4-FFF2-40B4-BE49-F238E27FC236}">
                <a16:creationId xmlns:a16="http://schemas.microsoft.com/office/drawing/2014/main" id="{7126740C-766D-4A40-9E4B-AAACA10E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11296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Automation error rate · repeat-error reduction · QC first-pass rate</a:t>
            </a:r>
          </a:p>
        </p:txBody>
      </p:sp>
      <p:cxnSp>
        <p:nvCxnSpPr>
          <p:cNvPr id="279" name="Google Shape;199;p5"/>
          <p:cNvCxnSpPr/>
          <p:nvPr/>
        </p:nvCxnSpPr>
        <p:spPr>
          <a:xfrm xmlns:a="http://schemas.openxmlformats.org/drawingml/2006/main">
            <a:off x="457200" y="4123944"/>
            <a:ext cx="8229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0" name="Google Shape;200;p5">
            <a:extLst xmlns:a="http://schemas.openxmlformats.org/drawingml/2006/main">
              <a:ext uri="{FF2B5EF4-FFF2-40B4-BE49-F238E27FC236}">
                <a16:creationId xmlns:a16="http://schemas.microsoft.com/office/drawing/2014/main" id="{0B09BB3A-423A-4ADC-B87D-93B405E9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 w="12700" cmpd="sng">
            <a:solidFill>
              <a:srgbClr val="B5924A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1" name="Google Shape;201;p5">
            <a:extLst xmlns:a="http://schemas.openxmlformats.org/drawingml/2006/main">
              <a:ext uri="{FF2B5EF4-FFF2-40B4-BE49-F238E27FC236}">
                <a16:creationId xmlns:a16="http://schemas.microsoft.com/office/drawing/2014/main" id="{87E1571E-D1CB-46A2-84ED-CBFEE607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200"/>
              <a:buFont typeface="Cambria"/>
              <a:buNone/>
            </a:pPr>
            <a:r>
              <a:rPr sz="1200" b="1" i="1">
                <a:solidFill>
                  <a:srgbClr val="8A6C35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202" name="Google Shape;202;p5">
            <a:extLst xmlns:a="http://schemas.openxmlformats.org/drawingml/2006/main">
              <a:ext uri="{FF2B5EF4-FFF2-40B4-BE49-F238E27FC236}">
                <a16:creationId xmlns:a16="http://schemas.microsoft.com/office/drawing/2014/main" id="{28CFB293-7513-41B5-88CC-AA51968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187952"/>
            <a:ext cx="420624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libri"/>
              <a:buNone/>
            </a:pPr>
            <a:r>
              <a:rPr sz="11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Campaign Post-Mortem</a:t>
            </a:r>
          </a:p>
        </p:txBody>
      </p:sp>
      <p:sp>
        <p:nvSpPr>
          <p:cNvPr id="203" name="Google Shape;203;p5">
            <a:extLst xmlns:a="http://schemas.openxmlformats.org/drawingml/2006/main">
              <a:ext uri="{FF2B5EF4-FFF2-40B4-BE49-F238E27FC236}">
                <a16:creationId xmlns:a16="http://schemas.microsoft.com/office/drawing/2014/main" id="{BD5CA8C4-B161-4451-86C5-29C3B0D8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425696"/>
            <a:ext cx="42062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00"/>
              <a:buFont typeface="Calibri"/>
              <a:buNone/>
            </a:pPr>
            <a:r>
              <a:rPr sz="90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After each campaign: objective, cost, claims, deposits, issues, and next action — shared with Sales.</a:t>
            </a:r>
          </a:p>
        </p:txBody>
      </p:sp>
      <p:sp>
        <p:nvSpPr>
          <p:cNvPr id="204" name="Google Shape;204;p5">
            <a:extLst xmlns:a="http://schemas.openxmlformats.org/drawingml/2006/main">
              <a:ext uri="{FF2B5EF4-FFF2-40B4-BE49-F238E27FC236}">
                <a16:creationId xmlns:a16="http://schemas.microsoft.com/office/drawing/2014/main" id="{D777EFAA-FC8B-4FA4-81E2-93F760A3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224528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Effort  </a:t>
            </a:r>
            <a:r>
              <a:rPr sz="950" b="1">
                <a:solidFill>
                  <a:srgbClr val="3D7A57"/>
                </a:solidFill>
                <a:latin typeface="Calibri"/>
                <a:ea typeface="Calibri"/>
                <a:cs typeface="Calibri"/>
              </a:rPr>
              <a:t>LOW</a:t>
            </a:r>
          </a:p>
        </p:txBody>
      </p:sp>
      <p:sp>
        <p:nvSpPr>
          <p:cNvPr id="205" name="Google Shape;205;p5">
            <a:extLst xmlns:a="http://schemas.openxmlformats.org/drawingml/2006/main">
              <a:ext uri="{FF2B5EF4-FFF2-40B4-BE49-F238E27FC236}">
                <a16:creationId xmlns:a16="http://schemas.microsoft.com/office/drawing/2014/main" id="{B5FF8086-5F5D-4E50-8151-08C64406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4453128"/>
            <a:ext cx="13716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Impact  </a:t>
            </a:r>
            <a:r>
              <a:rPr sz="950" b="1">
                <a:solidFill>
                  <a:srgbClr val="9A3A3A"/>
                </a:solidFill>
                <a:latin typeface="Calibri"/>
                <a:ea typeface="Calibri"/>
                <a:cs typeface="Calibri"/>
              </a:rPr>
              <a:t>HIGH</a:t>
            </a:r>
          </a:p>
        </p:txBody>
      </p:sp>
      <p:sp>
        <p:nvSpPr>
          <p:cNvPr id="206" name="Google Shape;206;p5">
            <a:extLst xmlns:a="http://schemas.openxmlformats.org/drawingml/2006/main">
              <a:ext uri="{FF2B5EF4-FFF2-40B4-BE49-F238E27FC236}">
                <a16:creationId xmlns:a16="http://schemas.microsoft.com/office/drawing/2014/main" id="{4C08F779-5169-4470-924F-5B5795D3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4528"/>
            <a:ext cx="1828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% campaigns reviewed · action items done · repeat performance</a:t>
            </a:r>
          </a:p>
        </p:txBody>
      </p:sp>
      <p:sp>
        <p:nvSpPr>
          <p:cNvPr id="207" name="Google Shape;207;p5">
            <a:extLst xmlns:a="http://schemas.openxmlformats.org/drawingml/2006/main">
              <a:ext uri="{FF2B5EF4-FFF2-40B4-BE49-F238E27FC236}">
                <a16:creationId xmlns:a16="http://schemas.microsoft.com/office/drawing/2014/main" id="{C1262791-D790-426F-BBEF-701E96DD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48581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6">
            <a:extLst xmlns:a="http://schemas.openxmlformats.org/drawingml/2006/main">
              <a:ext uri="{FF2B5EF4-FFF2-40B4-BE49-F238E27FC236}">
                <a16:creationId xmlns:a16="http://schemas.microsoft.com/office/drawing/2014/main" id="{05D72814-9C21-4737-8262-6FB0BE11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4 · PRIORITY ROADMAP</a:t>
            </a:r>
          </a:p>
        </p:txBody>
      </p:sp>
      <p:sp>
        <p:nvSpPr>
          <p:cNvPr id="214" name="Google Shape;214;p6">
            <a:extLst xmlns:a="http://schemas.openxmlformats.org/drawingml/2006/main">
              <a:ext uri="{FF2B5EF4-FFF2-40B4-BE49-F238E27FC236}">
                <a16:creationId xmlns:a16="http://schemas.microsoft.com/office/drawing/2014/main" id="{EFD677C8-CA47-40AD-9056-5B38DF67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Quick wins first, strategic plays in sequence</a:t>
            </a:r>
          </a:p>
        </p:txBody>
      </p:sp>
      <p:sp>
        <p:nvSpPr>
          <p:cNvPr id="215" name="Google Shape;215;p6">
            <a:extLst xmlns:a="http://schemas.openxmlformats.org/drawingml/2006/main">
              <a:ext uri="{FF2B5EF4-FFF2-40B4-BE49-F238E27FC236}">
                <a16:creationId xmlns:a16="http://schemas.microsoft.com/office/drawing/2014/main" id="{D878152F-F830-4C52-9278-E184963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724912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6" name="Google Shape;216;p6">
            <a:extLst xmlns:a="http://schemas.openxmlformats.org/drawingml/2006/main">
              <a:ext uri="{FF2B5EF4-FFF2-40B4-BE49-F238E27FC236}">
                <a16:creationId xmlns:a16="http://schemas.microsoft.com/office/drawing/2014/main" id="{18411357-5235-4D03-B2CC-84432163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61872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1000"/>
              <a:buFont typeface="Calibri"/>
              <a:buNone/>
            </a:pPr>
            <a:r>
              <a:rPr sz="100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NOW — QUICK WINS</a:t>
            </a:r>
          </a:p>
        </p:txBody>
      </p:sp>
      <p:sp>
        <p:nvSpPr>
          <p:cNvPr id="217" name="Google Shape;217;p6">
            <a:extLst xmlns:a="http://schemas.openxmlformats.org/drawingml/2006/main">
              <a:ext uri="{FF2B5EF4-FFF2-40B4-BE49-F238E27FC236}">
                <a16:creationId xmlns:a16="http://schemas.microsoft.com/office/drawing/2014/main" id="{8F9A795C-2E21-4425-82A4-09E3D556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81328"/>
            <a:ext cx="239572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 b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July 2026 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Current data and process. No new systems.</a:t>
            </a:r>
          </a:p>
        </p:txBody>
      </p:sp>
      <p:sp>
        <p:nvSpPr>
          <p:cNvPr id="218" name="Google Shape;218;p6">
            <a:extLst xmlns:a="http://schemas.openxmlformats.org/drawingml/2006/main">
              <a:ext uri="{FF2B5EF4-FFF2-40B4-BE49-F238E27FC236}">
                <a16:creationId xmlns:a16="http://schemas.microsoft.com/office/drawing/2014/main" id="{7C25F073-C3F6-42E3-B59C-D9236A17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48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9" name="Google Shape;219;p6">
            <a:extLst xmlns:a="http://schemas.openxmlformats.org/drawingml/2006/main">
              <a:ext uri="{FF2B5EF4-FFF2-40B4-BE49-F238E27FC236}">
                <a16:creationId xmlns:a16="http://schemas.microsoft.com/office/drawing/2014/main" id="{B155174E-84DD-415A-BED7-4DAC9055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Request Quality Gate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20" name="Google Shape;220;p6">
            <a:extLst xmlns:a="http://schemas.openxmlformats.org/drawingml/2006/main">
              <a:ext uri="{FF2B5EF4-FFF2-40B4-BE49-F238E27FC236}">
                <a16:creationId xmlns:a16="http://schemas.microsoft.com/office/drawing/2014/main" id="{7080BBE7-BBBD-4AB8-9AD9-56E21D03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4551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6">
            <a:extLst xmlns:a="http://schemas.openxmlformats.org/drawingml/2006/main">
              <a:ext uri="{FF2B5EF4-FFF2-40B4-BE49-F238E27FC236}">
                <a16:creationId xmlns:a16="http://schemas.microsoft.com/office/drawing/2014/main" id="{63E162D6-A914-4F3B-86CB-3081492E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91156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Cap Audit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22" name="Google Shape;222;p6">
            <a:extLst xmlns:a="http://schemas.openxmlformats.org/drawingml/2006/main">
              <a:ext uri="{FF2B5EF4-FFF2-40B4-BE49-F238E27FC236}">
                <a16:creationId xmlns:a16="http://schemas.microsoft.com/office/drawing/2014/main" id="{0353E773-EB97-4B78-9F40-F04C5C6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761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6">
            <a:extLst xmlns:a="http://schemas.openxmlformats.org/drawingml/2006/main">
              <a:ext uri="{FF2B5EF4-FFF2-40B4-BE49-F238E27FC236}">
                <a16:creationId xmlns:a16="http://schemas.microsoft.com/office/drawing/2014/main" id="{53D14069-35F2-483F-B440-0F66032A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97480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Sunset List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24" name="Google Shape;224;p6">
            <a:extLst xmlns:a="http://schemas.openxmlformats.org/drawingml/2006/main">
              <a:ext uri="{FF2B5EF4-FFF2-40B4-BE49-F238E27FC236}">
                <a16:creationId xmlns:a16="http://schemas.microsoft.com/office/drawing/2014/main" id="{E06A727E-860C-44F7-AA3C-8F5CD06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06781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6">
            <a:extLst xmlns:a="http://schemas.openxmlformats.org/drawingml/2006/main">
              <a:ext uri="{FF2B5EF4-FFF2-40B4-BE49-F238E27FC236}">
                <a16:creationId xmlns:a16="http://schemas.microsoft.com/office/drawing/2014/main" id="{6C2D9A01-182E-45F2-A16B-E7A7872F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003804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Bonus Hunter / Abuse Control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26" name="Google Shape;226;p6">
            <a:extLst xmlns:a="http://schemas.openxmlformats.org/drawingml/2006/main">
              <a:ext uri="{FF2B5EF4-FFF2-40B4-BE49-F238E27FC236}">
                <a16:creationId xmlns:a16="http://schemas.microsoft.com/office/drawing/2014/main" id="{86AC52C4-D27F-49C4-A132-64A75C9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37413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6">
            <a:extLst xmlns:a="http://schemas.openxmlformats.org/drawingml/2006/main">
              <a:ext uri="{FF2B5EF4-FFF2-40B4-BE49-F238E27FC236}">
                <a16:creationId xmlns:a16="http://schemas.microsoft.com/office/drawing/2014/main" id="{84C4EE72-8A33-4841-A706-B5F8C6C3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310128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Monthly Reactivation Pipeline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28" name="Google Shape;228;p6">
            <a:extLst xmlns:a="http://schemas.openxmlformats.org/drawingml/2006/main">
              <a:ext uri="{FF2B5EF4-FFF2-40B4-BE49-F238E27FC236}">
                <a16:creationId xmlns:a16="http://schemas.microsoft.com/office/drawing/2014/main" id="{717E4709-28E0-460A-8919-A06A19F9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6804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6">
            <a:extLst xmlns:a="http://schemas.openxmlformats.org/drawingml/2006/main">
              <a:ext uri="{FF2B5EF4-FFF2-40B4-BE49-F238E27FC236}">
                <a16:creationId xmlns:a16="http://schemas.microsoft.com/office/drawing/2014/main" id="{1BB6E3EE-56C2-40A0-B6D3-64FBC280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616452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Duplicate Promo Cleanup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30" name="Google Shape;230;p6">
            <a:extLst xmlns:a="http://schemas.openxmlformats.org/drawingml/2006/main">
              <a:ext uri="{FF2B5EF4-FFF2-40B4-BE49-F238E27FC236}">
                <a16:creationId xmlns:a16="http://schemas.microsoft.com/office/drawing/2014/main" id="{B0E610C2-3F4B-47D7-869A-003126FE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9867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6">
            <a:extLst xmlns:a="http://schemas.openxmlformats.org/drawingml/2006/main">
              <a:ext uri="{FF2B5EF4-FFF2-40B4-BE49-F238E27FC236}">
                <a16:creationId xmlns:a16="http://schemas.microsoft.com/office/drawing/2014/main" id="{C50B4394-9FBE-4115-A6A5-B8695379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922776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Automation QC Exception Log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32" name="Google Shape;232;p6">
            <a:extLst xmlns:a="http://schemas.openxmlformats.org/drawingml/2006/main">
              <a:ext uri="{FF2B5EF4-FFF2-40B4-BE49-F238E27FC236}">
                <a16:creationId xmlns:a16="http://schemas.microsoft.com/office/drawing/2014/main" id="{4AE4269E-CB1D-40ED-A3C7-487E54BC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170432"/>
            <a:ext cx="2724912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3" name="Google Shape;233;p6">
            <a:extLst xmlns:a="http://schemas.openxmlformats.org/drawingml/2006/main">
              <a:ext uri="{FF2B5EF4-FFF2-40B4-BE49-F238E27FC236}">
                <a16:creationId xmlns:a16="http://schemas.microsoft.com/office/drawing/2014/main" id="{A48234C0-2CF0-4FDE-AC2A-63476CC6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261872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1000"/>
              <a:buFont typeface="Calibri"/>
              <a:buNone/>
            </a:pPr>
            <a:r>
              <a:rPr sz="1000" b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MONTH 1 — MEDIUM-TERM</a:t>
            </a:r>
          </a:p>
        </p:txBody>
      </p:sp>
      <p:sp>
        <p:nvSpPr>
          <p:cNvPr id="234" name="Google Shape;234;p6">
            <a:extLst xmlns:a="http://schemas.openxmlformats.org/drawingml/2006/main">
              <a:ext uri="{FF2B5EF4-FFF2-40B4-BE49-F238E27FC236}">
                <a16:creationId xmlns:a16="http://schemas.microsoft.com/office/drawing/2014/main" id="{044E0E2F-DEF8-4028-B84D-2921819C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1481328"/>
            <a:ext cx="239572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 b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August 2026 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Needs Sales alignment or shared data.</a:t>
            </a:r>
          </a:p>
        </p:txBody>
      </p:sp>
      <p:sp>
        <p:nvSpPr>
          <p:cNvPr id="235" name="Google Shape;235;p6">
            <a:extLst xmlns:a="http://schemas.openxmlformats.org/drawingml/2006/main">
              <a:ext uri="{FF2B5EF4-FFF2-40B4-BE49-F238E27FC236}">
                <a16:creationId xmlns:a16="http://schemas.microsoft.com/office/drawing/2014/main" id="{11E46E92-F214-42A0-A5E5-59AF317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148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6">
            <a:extLst xmlns:a="http://schemas.openxmlformats.org/drawingml/2006/main">
              <a:ext uri="{FF2B5EF4-FFF2-40B4-BE49-F238E27FC236}">
                <a16:creationId xmlns:a16="http://schemas.microsoft.com/office/drawing/2014/main" id="{F770BB34-CAD3-47F5-9F76-D194CCEA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4832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Segment-Triggered Campaigns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37" name="Google Shape;237;p6">
            <a:extLst xmlns:a="http://schemas.openxmlformats.org/drawingml/2006/main">
              <a:ext uri="{FF2B5EF4-FFF2-40B4-BE49-F238E27FC236}">
                <a16:creationId xmlns:a16="http://schemas.microsoft.com/office/drawing/2014/main" id="{F4552286-A653-405B-B77C-741FB7AA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4551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6">
            <a:extLst xmlns:a="http://schemas.openxmlformats.org/drawingml/2006/main">
              <a:ext uri="{FF2B5EF4-FFF2-40B4-BE49-F238E27FC236}">
                <a16:creationId xmlns:a16="http://schemas.microsoft.com/office/drawing/2014/main" id="{150F9BA8-4201-4C24-89CD-668903D4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391156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Cross-Product Bridging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39" name="Google Shape;239;p6">
            <a:extLst xmlns:a="http://schemas.openxmlformats.org/drawingml/2006/main">
              <a:ext uri="{FF2B5EF4-FFF2-40B4-BE49-F238E27FC236}">
                <a16:creationId xmlns:a16="http://schemas.microsoft.com/office/drawing/2014/main" id="{3C8AF7CF-2C55-4490-BBF0-5BA54CF3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761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0" name="Google Shape;240;p6">
            <a:extLst xmlns:a="http://schemas.openxmlformats.org/drawingml/2006/main">
              <a:ext uri="{FF2B5EF4-FFF2-40B4-BE49-F238E27FC236}">
                <a16:creationId xmlns:a16="http://schemas.microsoft.com/office/drawing/2014/main" id="{C504CF74-F878-4B2B-AF19-0AB971C3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697480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Event Calendar Sync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41" name="Google Shape;241;p6">
            <a:extLst xmlns:a="http://schemas.openxmlformats.org/drawingml/2006/main">
              <a:ext uri="{FF2B5EF4-FFF2-40B4-BE49-F238E27FC236}">
                <a16:creationId xmlns:a16="http://schemas.microsoft.com/office/drawing/2014/main" id="{9F72B4DC-C3C4-4718-8100-5460F52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06781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6">
            <a:extLst xmlns:a="http://schemas.openxmlformats.org/drawingml/2006/main">
              <a:ext uri="{FF2B5EF4-FFF2-40B4-BE49-F238E27FC236}">
                <a16:creationId xmlns:a16="http://schemas.microsoft.com/office/drawing/2014/main" id="{8301A657-6402-4AB9-88E9-891477FF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003804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Broader Deduplication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43" name="Google Shape;243;p6">
            <a:extLst xmlns:a="http://schemas.openxmlformats.org/drawingml/2006/main">
              <a:ext uri="{FF2B5EF4-FFF2-40B4-BE49-F238E27FC236}">
                <a16:creationId xmlns:a16="http://schemas.microsoft.com/office/drawing/2014/main" id="{99134DD0-9B65-4270-9922-F823543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37413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4" name="Google Shape;244;p6">
            <a:extLst xmlns:a="http://schemas.openxmlformats.org/drawingml/2006/main">
              <a:ext uri="{FF2B5EF4-FFF2-40B4-BE49-F238E27FC236}">
                <a16:creationId xmlns:a16="http://schemas.microsoft.com/office/drawing/2014/main" id="{91A2D645-5DC7-4F42-83A9-1C699008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310128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Min Effective Bonus Testing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Cost</a:t>
            </a:r>
          </a:p>
        </p:txBody>
      </p:sp>
      <p:sp>
        <p:nvSpPr>
          <p:cNvPr id="245" name="Google Shape;245;p6">
            <a:extLst xmlns:a="http://schemas.openxmlformats.org/drawingml/2006/main">
              <a:ext uri="{FF2B5EF4-FFF2-40B4-BE49-F238E27FC236}">
                <a16:creationId xmlns:a16="http://schemas.microsoft.com/office/drawing/2014/main" id="{60A02F5C-2040-4F40-AC74-4EA45157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68046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6" name="Google Shape;246;p6">
            <a:extLst xmlns:a="http://schemas.openxmlformats.org/drawingml/2006/main">
              <a:ext uri="{FF2B5EF4-FFF2-40B4-BE49-F238E27FC236}">
                <a16:creationId xmlns:a16="http://schemas.microsoft.com/office/drawing/2014/main" id="{DA96DD3A-EB2E-466C-9D09-A5F350BE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616452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Multi-Channel Delivery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47" name="Google Shape;247;p6">
            <a:extLst xmlns:a="http://schemas.openxmlformats.org/drawingml/2006/main">
              <a:ext uri="{FF2B5EF4-FFF2-40B4-BE49-F238E27FC236}">
                <a16:creationId xmlns:a16="http://schemas.microsoft.com/office/drawing/2014/main" id="{446607A2-9C0D-4339-8CA8-2F4F5B14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98678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6">
            <a:extLst xmlns:a="http://schemas.openxmlformats.org/drawingml/2006/main">
              <a:ext uri="{FF2B5EF4-FFF2-40B4-BE49-F238E27FC236}">
                <a16:creationId xmlns:a16="http://schemas.microsoft.com/office/drawing/2014/main" id="{0480ABE4-F076-417F-AB8E-24A0644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3922776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Dashboard Reporting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Promotion</a:t>
            </a:r>
          </a:p>
        </p:txBody>
      </p:sp>
      <p:sp>
        <p:nvSpPr>
          <p:cNvPr id="249" name="Google Shape;249;p6">
            <a:extLst xmlns:a="http://schemas.openxmlformats.org/drawingml/2006/main">
              <a:ext uri="{FF2B5EF4-FFF2-40B4-BE49-F238E27FC236}">
                <a16:creationId xmlns:a16="http://schemas.microsoft.com/office/drawing/2014/main" id="{03146B44-B405-4CBB-96C1-2A15B228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29310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0" name="Google Shape;250;p6">
            <a:extLst xmlns:a="http://schemas.openxmlformats.org/drawingml/2006/main">
              <a:ext uri="{FF2B5EF4-FFF2-40B4-BE49-F238E27FC236}">
                <a16:creationId xmlns:a16="http://schemas.microsoft.com/office/drawing/2014/main" id="{3A7CD344-2E63-45EA-8BFB-7B939F5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4229100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Campaign Post-Mortem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51" name="Google Shape;251;p6">
            <a:extLst xmlns:a="http://schemas.openxmlformats.org/drawingml/2006/main">
              <a:ext uri="{FF2B5EF4-FFF2-40B4-BE49-F238E27FC236}">
                <a16:creationId xmlns:a16="http://schemas.microsoft.com/office/drawing/2014/main" id="{1B92D030-ED69-41FF-B561-CD07EF70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170432"/>
            <a:ext cx="2724912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" name="Google Shape;252;p6">
            <a:extLst xmlns:a="http://schemas.openxmlformats.org/drawingml/2006/main">
              <a:ext uri="{FF2B5EF4-FFF2-40B4-BE49-F238E27FC236}">
                <a16:creationId xmlns:a16="http://schemas.microsoft.com/office/drawing/2014/main" id="{90880BA1-4E6F-4138-96CA-6CCE7E06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261872"/>
            <a:ext cx="2395728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1000"/>
              <a:buFont typeface="Calibri"/>
              <a:buNone/>
            </a:pPr>
            <a:r>
              <a:rPr sz="1000" b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PHASE 3 — STRATEGIC</a:t>
            </a:r>
          </a:p>
        </p:txBody>
      </p:sp>
      <p:sp>
        <p:nvSpPr>
          <p:cNvPr id="253" name="Google Shape;253;p6">
            <a:extLst xmlns:a="http://schemas.openxmlformats.org/drawingml/2006/main">
              <a:ext uri="{FF2B5EF4-FFF2-40B4-BE49-F238E27FC236}">
                <a16:creationId xmlns:a16="http://schemas.microsoft.com/office/drawing/2014/main" id="{1B3A0BB6-EBF3-4F74-8839-9B90B698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81328"/>
            <a:ext cx="2395728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 b="1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Sep – Dec 2026   </a:t>
            </a:r>
            <a:r>
              <a:rPr sz="8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Needs integration, attribution, cross-team agreement.</a:t>
            </a:r>
          </a:p>
        </p:txBody>
      </p:sp>
      <p:sp>
        <p:nvSpPr>
          <p:cNvPr id="254" name="Google Shape;254;p6">
            <a:extLst xmlns:a="http://schemas.openxmlformats.org/drawingml/2006/main">
              <a:ext uri="{FF2B5EF4-FFF2-40B4-BE49-F238E27FC236}">
                <a16:creationId xmlns:a16="http://schemas.microsoft.com/office/drawing/2014/main" id="{560F0DFB-E881-4B5B-90BE-131CDBE7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1488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5" name="Google Shape;255;p6">
            <a:extLst xmlns:a="http://schemas.openxmlformats.org/drawingml/2006/main">
              <a:ext uri="{FF2B5EF4-FFF2-40B4-BE49-F238E27FC236}">
                <a16:creationId xmlns:a16="http://schemas.microsoft.com/office/drawing/2014/main" id="{BFD46E28-BE27-4F6F-AD3D-8E94123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084832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 Attribution Model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56" name="Google Shape;256;p6">
            <a:extLst xmlns:a="http://schemas.openxmlformats.org/drawingml/2006/main">
              <a:ext uri="{FF2B5EF4-FFF2-40B4-BE49-F238E27FC236}">
                <a16:creationId xmlns:a16="http://schemas.microsoft.com/office/drawing/2014/main" id="{DBE7A76A-9307-4623-AA85-89ADE88B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4551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7" name="Google Shape;257;p6">
            <a:extLst xmlns:a="http://schemas.openxmlformats.org/drawingml/2006/main">
              <a:ext uri="{FF2B5EF4-FFF2-40B4-BE49-F238E27FC236}">
                <a16:creationId xmlns:a16="http://schemas.microsoft.com/office/drawing/2014/main" id="{2B2C3449-A83A-4D45-AA26-FB626035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391156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VIP Progression Ladder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58" name="Google Shape;258;p6">
            <a:extLst xmlns:a="http://schemas.openxmlformats.org/drawingml/2006/main">
              <a:ext uri="{FF2B5EF4-FFF2-40B4-BE49-F238E27FC236}">
                <a16:creationId xmlns:a16="http://schemas.microsoft.com/office/drawing/2014/main" id="{9753CF77-F3B6-4EDA-8857-01A6C5DB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614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9" name="Google Shape;259;p6">
            <a:extLst xmlns:a="http://schemas.openxmlformats.org/drawingml/2006/main">
              <a:ext uri="{FF2B5EF4-FFF2-40B4-BE49-F238E27FC236}">
                <a16:creationId xmlns:a16="http://schemas.microsoft.com/office/drawing/2014/main" id="{F09DE573-0E3B-4922-A6EF-CD896D1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2697480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Real-Time Deposit Triggers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60" name="Google Shape;260;p6">
            <a:extLst xmlns:a="http://schemas.openxmlformats.org/drawingml/2006/main">
              <a:ext uri="{FF2B5EF4-FFF2-40B4-BE49-F238E27FC236}">
                <a16:creationId xmlns:a16="http://schemas.microsoft.com/office/drawing/2014/main" id="{C91F15C3-4230-447B-B378-B4478042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06781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6">
            <a:extLst xmlns:a="http://schemas.openxmlformats.org/drawingml/2006/main">
              <a:ext uri="{FF2B5EF4-FFF2-40B4-BE49-F238E27FC236}">
                <a16:creationId xmlns:a16="http://schemas.microsoft.com/office/drawing/2014/main" id="{1CC9C546-AF2F-4762-83F2-909687D0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003804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End-to-End Revenue Tracking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62" name="Google Shape;262;p6">
            <a:extLst xmlns:a="http://schemas.openxmlformats.org/drawingml/2006/main">
              <a:ext uri="{FF2B5EF4-FFF2-40B4-BE49-F238E27FC236}">
                <a16:creationId xmlns:a16="http://schemas.microsoft.com/office/drawing/2014/main" id="{9FFFF218-7EAA-4277-89A0-06874906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7413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3" name="Google Shape;263;p6">
            <a:extLst xmlns:a="http://schemas.openxmlformats.org/drawingml/2006/main">
              <a:ext uri="{FF2B5EF4-FFF2-40B4-BE49-F238E27FC236}">
                <a16:creationId xmlns:a16="http://schemas.microsoft.com/office/drawing/2014/main" id="{7383F85A-E23E-468C-99D9-72CD66DC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310128"/>
            <a:ext cx="2267712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Campaign ROI Review</a:t>
            </a: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   Revenue</a:t>
            </a:r>
          </a:p>
        </p:txBody>
      </p:sp>
      <p:sp>
        <p:nvSpPr>
          <p:cNvPr id="264" name="Google Shape;264;p6">
            <a:extLst xmlns:a="http://schemas.openxmlformats.org/drawingml/2006/main">
              <a:ext uri="{FF2B5EF4-FFF2-40B4-BE49-F238E27FC236}">
                <a16:creationId xmlns:a16="http://schemas.microsoft.com/office/drawing/2014/main" id="{80A0FA75-DFDD-4237-B5A7-4E44D85E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913891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Google Shape;270;p7">
            <a:extLst xmlns:a="http://schemas.openxmlformats.org/drawingml/2006/main">
              <a:ext uri="{FF2B5EF4-FFF2-40B4-BE49-F238E27FC236}">
                <a16:creationId xmlns:a16="http://schemas.microsoft.com/office/drawing/2014/main" id="{C9C47707-E93E-408A-8BAC-51911296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5 · WHAT PROMO NEEDS FROM SALES</a:t>
            </a:r>
          </a:p>
        </p:txBody>
      </p:sp>
      <p:sp>
        <p:nvSpPr>
          <p:cNvPr id="271" name="Google Shape;271;p7">
            <a:extLst xmlns:a="http://schemas.openxmlformats.org/drawingml/2006/main">
              <a:ext uri="{FF2B5EF4-FFF2-40B4-BE49-F238E27FC236}">
                <a16:creationId xmlns:a16="http://schemas.microsoft.com/office/drawing/2014/main" id="{6F7B6926-2428-4B0C-A9BB-2E5C306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Better input, better campaigns</a:t>
            </a:r>
          </a:p>
        </p:txBody>
      </p:sp>
      <p:sp>
        <p:nvSpPr>
          <p:cNvPr id="272" name="Google Shape;272;p7">
            <a:extLst xmlns:a="http://schemas.openxmlformats.org/drawingml/2006/main">
              <a:ext uri="{FF2B5EF4-FFF2-40B4-BE49-F238E27FC236}">
                <a16:creationId xmlns:a16="http://schemas.microsoft.com/office/drawing/2014/main" id="{3A1C1DD0-FBAF-445D-AB76-503CBF55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822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1050"/>
              <a:buFont typeface="Calibri"/>
              <a:buNone/>
            </a:pPr>
            <a:r>
              <a:rPr sz="1050" i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Start with objective, target segment, and timing; the remaining fields form the full campaign standard.</a:t>
            </a:r>
          </a:p>
        </p:txBody>
      </p:sp>
      <p:sp>
        <p:nvSpPr>
          <p:cNvPr id="273" name="Google Shape;273;p7">
            <a:extLst xmlns:a="http://schemas.openxmlformats.org/drawingml/2006/main">
              <a:ext uri="{FF2B5EF4-FFF2-40B4-BE49-F238E27FC236}">
                <a16:creationId xmlns:a16="http://schemas.microsoft.com/office/drawing/2014/main" id="{79E8D06A-A2FE-4EDD-8504-6388F14B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8448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4" name="Google Shape;274;p7">
            <a:extLst xmlns:a="http://schemas.openxmlformats.org/drawingml/2006/main">
              <a:ext uri="{FF2B5EF4-FFF2-40B4-BE49-F238E27FC236}">
                <a16:creationId xmlns:a16="http://schemas.microsoft.com/office/drawing/2014/main" id="{20E42D09-83CF-4C08-A5A7-5F752EF7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38988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275" name="Google Shape;275;p7">
            <a:extLst xmlns:a="http://schemas.openxmlformats.org/drawingml/2006/main">
              <a:ext uri="{FF2B5EF4-FFF2-40B4-BE49-F238E27FC236}">
                <a16:creationId xmlns:a16="http://schemas.microsoft.com/office/drawing/2014/main" id="{EB10CB64-2200-4929-BB1C-A216FB96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408176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Campaign objective</a:t>
            </a:r>
          </a:p>
        </p:txBody>
      </p:sp>
      <p:sp>
        <p:nvSpPr>
          <p:cNvPr id="276" name="Google Shape;276;p7">
            <a:extLst xmlns:a="http://schemas.openxmlformats.org/drawingml/2006/main">
              <a:ext uri="{FF2B5EF4-FFF2-40B4-BE49-F238E27FC236}">
                <a16:creationId xmlns:a16="http://schemas.microsoft.com/office/drawing/2014/main" id="{D5CD5B56-07C8-458C-A2F9-28CF86531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645920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Reactivation, first deposit, cross-product, or retention — defines the mechanics.</a:t>
            </a:r>
          </a:p>
        </p:txBody>
      </p:sp>
      <p:sp>
        <p:nvSpPr>
          <p:cNvPr id="277" name="Google Shape;277;p7">
            <a:extLst xmlns:a="http://schemas.openxmlformats.org/drawingml/2006/main">
              <a:ext uri="{FF2B5EF4-FFF2-40B4-BE49-F238E27FC236}">
                <a16:creationId xmlns:a16="http://schemas.microsoft.com/office/drawing/2014/main" id="{52EF2F9A-037D-4342-9830-F33D7FA8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298448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8" name="Google Shape;278;p7">
            <a:extLst xmlns:a="http://schemas.openxmlformats.org/drawingml/2006/main">
              <a:ext uri="{FF2B5EF4-FFF2-40B4-BE49-F238E27FC236}">
                <a16:creationId xmlns:a16="http://schemas.microsoft.com/office/drawing/2014/main" id="{3B7EDB48-A00F-44FA-924D-7A71C639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988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79" name="Google Shape;279;p7">
            <a:extLst xmlns:a="http://schemas.openxmlformats.org/drawingml/2006/main">
              <a:ext uri="{FF2B5EF4-FFF2-40B4-BE49-F238E27FC236}">
                <a16:creationId xmlns:a16="http://schemas.microsoft.com/office/drawing/2014/main" id="{CD770616-E888-4AD8-AAEC-6720BFA5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1408176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Target segment</a:t>
            </a:r>
          </a:p>
        </p:txBody>
      </p:sp>
      <p:sp>
        <p:nvSpPr>
          <p:cNvPr id="280" name="Google Shape;280;p7">
            <a:extLst xmlns:a="http://schemas.openxmlformats.org/drawingml/2006/main">
              <a:ext uri="{FF2B5EF4-FFF2-40B4-BE49-F238E27FC236}">
                <a16:creationId xmlns:a16="http://schemas.microsoft.com/office/drawing/2014/main" id="{E7658D5E-1C0F-4266-A1A0-A14E25C1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1645920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Activity, deposit range, platform. “All players” is not a segment.</a:t>
            </a:r>
          </a:p>
        </p:txBody>
      </p:sp>
      <p:sp>
        <p:nvSpPr>
          <p:cNvPr id="281" name="Google Shape;281;p7">
            <a:extLst xmlns:a="http://schemas.openxmlformats.org/drawingml/2006/main">
              <a:ext uri="{FF2B5EF4-FFF2-40B4-BE49-F238E27FC236}">
                <a16:creationId xmlns:a16="http://schemas.microsoft.com/office/drawing/2014/main" id="{3392C003-6C67-488C-A177-8FE3357B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298448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2" name="Google Shape;282;p7">
            <a:extLst xmlns:a="http://schemas.openxmlformats.org/drawingml/2006/main">
              <a:ext uri="{FF2B5EF4-FFF2-40B4-BE49-F238E27FC236}">
                <a16:creationId xmlns:a16="http://schemas.microsoft.com/office/drawing/2014/main" id="{5F3F2C5D-BC5B-400C-A47C-A692F9A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389888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83" name="Google Shape;283;p7">
            <a:extLst xmlns:a="http://schemas.openxmlformats.org/drawingml/2006/main">
              <a:ext uri="{FF2B5EF4-FFF2-40B4-BE49-F238E27FC236}">
                <a16:creationId xmlns:a16="http://schemas.microsoft.com/office/drawing/2014/main" id="{6EC8054A-32BF-4904-AA1A-5D8F4B74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408176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Player list or criteria</a:t>
            </a:r>
          </a:p>
        </p:txBody>
      </p:sp>
      <p:sp>
        <p:nvSpPr>
          <p:cNvPr id="284" name="Google Shape;284;p7">
            <a:extLst xmlns:a="http://schemas.openxmlformats.org/drawingml/2006/main">
              <a:ext uri="{FF2B5EF4-FFF2-40B4-BE49-F238E27FC236}">
                <a16:creationId xmlns:a16="http://schemas.microsoft.com/office/drawing/2014/main" id="{7017D0D5-1EEB-4AA0-A85C-FC55903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645920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A list, or clear rules to generate one.</a:t>
            </a:r>
          </a:p>
        </p:txBody>
      </p:sp>
      <p:sp>
        <p:nvSpPr>
          <p:cNvPr id="285" name="Google Shape;285;p7">
            <a:extLst xmlns:a="http://schemas.openxmlformats.org/drawingml/2006/main">
              <a:ext uri="{FF2B5EF4-FFF2-40B4-BE49-F238E27FC236}">
                <a16:creationId xmlns:a16="http://schemas.microsoft.com/office/drawing/2014/main" id="{C67D598D-7C91-416B-B98A-07C7884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8024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6" name="Google Shape;286;p7">
            <a:extLst xmlns:a="http://schemas.openxmlformats.org/drawingml/2006/main">
              <a:ext uri="{FF2B5EF4-FFF2-40B4-BE49-F238E27FC236}">
                <a16:creationId xmlns:a16="http://schemas.microsoft.com/office/drawing/2014/main" id="{D77F33F3-ED13-4AC0-9DCC-726037DC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569464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87" name="Google Shape;287;p7">
            <a:extLst xmlns:a="http://schemas.openxmlformats.org/drawingml/2006/main">
              <a:ext uri="{FF2B5EF4-FFF2-40B4-BE49-F238E27FC236}">
                <a16:creationId xmlns:a16="http://schemas.microsoft.com/office/drawing/2014/main" id="{F8E3A603-257A-47AA-903B-FD5AD38C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587752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Expected player action</a:t>
            </a:r>
          </a:p>
        </p:txBody>
      </p:sp>
      <p:sp>
        <p:nvSpPr>
          <p:cNvPr id="288" name="Google Shape;288;p7">
            <a:extLst xmlns:a="http://schemas.openxmlformats.org/drawingml/2006/main">
              <a:ext uri="{FF2B5EF4-FFF2-40B4-BE49-F238E27FC236}">
                <a16:creationId xmlns:a16="http://schemas.microsoft.com/office/drawing/2014/main" id="{5DE868FF-01D2-4785-AA8F-B7D0C2A2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25496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Deposit, log in, try a product — defines bonus type and turnover.</a:t>
            </a:r>
          </a:p>
        </p:txBody>
      </p:sp>
      <p:sp>
        <p:nvSpPr>
          <p:cNvPr id="289" name="Google Shape;289;p7">
            <a:extLst xmlns:a="http://schemas.openxmlformats.org/drawingml/2006/main">
              <a:ext uri="{FF2B5EF4-FFF2-40B4-BE49-F238E27FC236}">
                <a16:creationId xmlns:a16="http://schemas.microsoft.com/office/drawing/2014/main" id="{E618A24E-3F07-4D5C-B677-AE611289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2478024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0" name="Google Shape;290;p7">
            <a:extLst xmlns:a="http://schemas.openxmlformats.org/drawingml/2006/main">
              <a:ext uri="{FF2B5EF4-FFF2-40B4-BE49-F238E27FC236}">
                <a16:creationId xmlns:a16="http://schemas.microsoft.com/office/drawing/2014/main" id="{0062EEF5-17A7-4FF9-A735-DCDD4FE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69464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91" name="Google Shape;291;p7">
            <a:extLst xmlns:a="http://schemas.openxmlformats.org/drawingml/2006/main">
              <a:ext uri="{FF2B5EF4-FFF2-40B4-BE49-F238E27FC236}">
                <a16:creationId xmlns:a16="http://schemas.microsoft.com/office/drawing/2014/main" id="{8C1FCCB0-37A6-467E-B5B5-2298AE2F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587752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Budget / max bonus direction</a:t>
            </a:r>
          </a:p>
        </p:txBody>
      </p:sp>
      <p:sp>
        <p:nvSpPr>
          <p:cNvPr id="292" name="Google Shape;292;p7">
            <a:extLst xmlns:a="http://schemas.openxmlformats.org/drawingml/2006/main">
              <a:ext uri="{FF2B5EF4-FFF2-40B4-BE49-F238E27FC236}">
                <a16:creationId xmlns:a16="http://schemas.microsoft.com/office/drawing/2014/main" id="{635DC4AC-532A-42CA-B819-06AD37BF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2825496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Cap or total budget, so amounts and TO are configured right.</a:t>
            </a:r>
          </a:p>
        </p:txBody>
      </p:sp>
      <p:sp>
        <p:nvSpPr>
          <p:cNvPr id="293" name="Google Shape;293;p7">
            <a:extLst xmlns:a="http://schemas.openxmlformats.org/drawingml/2006/main">
              <a:ext uri="{FF2B5EF4-FFF2-40B4-BE49-F238E27FC236}">
                <a16:creationId xmlns:a16="http://schemas.microsoft.com/office/drawing/2014/main" id="{02F5C99A-C0BE-4F4F-B7F6-69FEDD7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478024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4" name="Google Shape;294;p7">
            <a:extLst xmlns:a="http://schemas.openxmlformats.org/drawingml/2006/main">
              <a:ext uri="{FF2B5EF4-FFF2-40B4-BE49-F238E27FC236}">
                <a16:creationId xmlns:a16="http://schemas.microsoft.com/office/drawing/2014/main" id="{7520A185-D5A6-4DD9-956A-FFD319FE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569464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295" name="Google Shape;295;p7">
            <a:extLst xmlns:a="http://schemas.openxmlformats.org/drawingml/2006/main">
              <a:ext uri="{FF2B5EF4-FFF2-40B4-BE49-F238E27FC236}">
                <a16:creationId xmlns:a16="http://schemas.microsoft.com/office/drawing/2014/main" id="{58A533FE-618B-4750-A204-6BEC93AD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587752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Timing and deadline</a:t>
            </a:r>
          </a:p>
        </p:txBody>
      </p:sp>
      <p:sp>
        <p:nvSpPr>
          <p:cNvPr id="296" name="Google Shape;296;p7">
            <a:extLst xmlns:a="http://schemas.openxmlformats.org/drawingml/2006/main">
              <a:ext uri="{FF2B5EF4-FFF2-40B4-BE49-F238E27FC236}">
                <a16:creationId xmlns:a16="http://schemas.microsoft.com/office/drawing/2014/main" id="{829BAA30-05DE-406F-867C-98840224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825496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Earlier notice enables proper preparation, coordination, and QC.</a:t>
            </a:r>
          </a:p>
        </p:txBody>
      </p:sp>
      <p:sp>
        <p:nvSpPr>
          <p:cNvPr id="297" name="Google Shape;297;p7">
            <a:extLst xmlns:a="http://schemas.openxmlformats.org/drawingml/2006/main">
              <a:ext uri="{FF2B5EF4-FFF2-40B4-BE49-F238E27FC236}">
                <a16:creationId xmlns:a16="http://schemas.microsoft.com/office/drawing/2014/main" id="{922F8657-822F-4FAF-9F8B-AAF9582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57600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8" name="Google Shape;298;p7">
            <a:extLst xmlns:a="http://schemas.openxmlformats.org/drawingml/2006/main">
              <a:ext uri="{FF2B5EF4-FFF2-40B4-BE49-F238E27FC236}">
                <a16:creationId xmlns:a16="http://schemas.microsoft.com/office/drawing/2014/main" id="{52D81344-B014-4EEC-A282-7BA0A59A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74904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7</a:t>
            </a:r>
          </a:p>
        </p:txBody>
      </p:sp>
      <p:sp>
        <p:nvSpPr>
          <p:cNvPr id="299" name="Google Shape;299;p7">
            <a:extLst xmlns:a="http://schemas.openxmlformats.org/drawingml/2006/main">
              <a:ext uri="{FF2B5EF4-FFF2-40B4-BE49-F238E27FC236}">
                <a16:creationId xmlns:a16="http://schemas.microsoft.com/office/drawing/2014/main" id="{73870966-524F-4A0B-AADB-FD691C22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67328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Priority level</a:t>
            </a:r>
          </a:p>
        </p:txBody>
      </p:sp>
      <p:sp>
        <p:nvSpPr>
          <p:cNvPr id="300" name="Google Shape;300;p7">
            <a:extLst xmlns:a="http://schemas.openxmlformats.org/drawingml/2006/main">
              <a:ext uri="{FF2B5EF4-FFF2-40B4-BE49-F238E27FC236}">
                <a16:creationId xmlns:a16="http://schemas.microsoft.com/office/drawing/2014/main" id="{B1BE2F51-2E93-43B3-9297-71F538AA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05072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Sequence work correctly and flag conflicts early.</a:t>
            </a:r>
          </a:p>
        </p:txBody>
      </p:sp>
      <p:sp>
        <p:nvSpPr>
          <p:cNvPr id="301" name="Google Shape;301;p7">
            <a:extLst xmlns:a="http://schemas.openxmlformats.org/drawingml/2006/main">
              <a:ext uri="{FF2B5EF4-FFF2-40B4-BE49-F238E27FC236}">
                <a16:creationId xmlns:a16="http://schemas.microsoft.com/office/drawing/2014/main" id="{66AB0731-C480-4310-A099-4F77511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3657600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2" name="Google Shape;302;p7">
            <a:extLst xmlns:a="http://schemas.openxmlformats.org/drawingml/2006/main">
              <a:ext uri="{FF2B5EF4-FFF2-40B4-BE49-F238E27FC236}">
                <a16:creationId xmlns:a16="http://schemas.microsoft.com/office/drawing/2014/main" id="{EA44C63A-8125-458D-925B-8E3F4CE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4904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8</a:t>
            </a:r>
          </a:p>
        </p:txBody>
      </p:sp>
      <p:sp>
        <p:nvSpPr>
          <p:cNvPr id="303" name="Google Shape;303;p7">
            <a:extLst xmlns:a="http://schemas.openxmlformats.org/drawingml/2006/main">
              <a:ext uri="{FF2B5EF4-FFF2-40B4-BE49-F238E27FC236}">
                <a16:creationId xmlns:a16="http://schemas.microsoft.com/office/drawing/2014/main" id="{58DF4792-FB59-437A-B601-7ABE08C3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3767328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Success metric</a:t>
            </a:r>
          </a:p>
        </p:txBody>
      </p:sp>
      <p:sp>
        <p:nvSpPr>
          <p:cNvPr id="304" name="Google Shape;304;p7">
            <a:extLst xmlns:a="http://schemas.openxmlformats.org/drawingml/2006/main">
              <a:ext uri="{FF2B5EF4-FFF2-40B4-BE49-F238E27FC236}">
                <a16:creationId xmlns:a16="http://schemas.microsoft.com/office/drawing/2014/main" id="{D61B9258-6413-48EB-9311-1304AD38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472" y="4005072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A shared definition of success to report against.</a:t>
            </a:r>
          </a:p>
        </p:txBody>
      </p:sp>
      <p:sp>
        <p:nvSpPr>
          <p:cNvPr id="305" name="Google Shape;305;p7">
            <a:extLst xmlns:a="http://schemas.openxmlformats.org/drawingml/2006/main">
              <a:ext uri="{FF2B5EF4-FFF2-40B4-BE49-F238E27FC236}">
                <a16:creationId xmlns:a16="http://schemas.microsoft.com/office/drawing/2014/main" id="{4A90E8AC-C711-43E6-8CB9-E0AABFD2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657600"/>
            <a:ext cx="2724912" cy="107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DDDBD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6" name="Google Shape;306;p7">
            <a:extLst xmlns:a="http://schemas.openxmlformats.org/drawingml/2006/main">
              <a:ext uri="{FF2B5EF4-FFF2-40B4-BE49-F238E27FC236}">
                <a16:creationId xmlns:a16="http://schemas.microsoft.com/office/drawing/2014/main" id="{72B66CEC-CF2B-4DFA-9E76-36119117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749040"/>
            <a:ext cx="31089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700"/>
              <a:buFont typeface="Cambria"/>
              <a:buNone/>
            </a:pPr>
            <a:r>
              <a:rPr sz="1700" b="1" i="1">
                <a:solidFill>
                  <a:srgbClr val="B5924A"/>
                </a:solidFill>
                <a:latin typeface="Cambria"/>
                <a:ea typeface="Cambria"/>
                <a:cs typeface="Cambria"/>
              </a:rPr>
              <a:t>9</a:t>
            </a:r>
          </a:p>
        </p:txBody>
      </p:sp>
      <p:sp>
        <p:nvSpPr>
          <p:cNvPr id="307" name="Google Shape;307;p7">
            <a:extLst xmlns:a="http://schemas.openxmlformats.org/drawingml/2006/main">
              <a:ext uri="{FF2B5EF4-FFF2-40B4-BE49-F238E27FC236}">
                <a16:creationId xmlns:a16="http://schemas.microsoft.com/office/drawing/2014/main" id="{23BD4660-0ECE-40E5-BA55-A20E45F3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767328"/>
            <a:ext cx="2121408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050"/>
              <a:buFont typeface="Calibri"/>
              <a:buNone/>
            </a:pPr>
            <a:r>
              <a:rPr sz="10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Post-campaign results</a:t>
            </a:r>
          </a:p>
        </p:txBody>
      </p:sp>
      <p:sp>
        <p:nvSpPr>
          <p:cNvPr id="308" name="Google Shape;308;p7">
            <a:extLst xmlns:a="http://schemas.openxmlformats.org/drawingml/2006/main">
              <a:ext uri="{FF2B5EF4-FFF2-40B4-BE49-F238E27FC236}">
                <a16:creationId xmlns:a16="http://schemas.microsoft.com/office/drawing/2014/main" id="{5281209D-F758-481E-94BF-C78DF57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005072"/>
            <a:ext cx="2121408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Who deposited, when, how much. Without this we cannot measure or improve.</a:t>
            </a:r>
          </a:p>
        </p:txBody>
      </p:sp>
      <p:sp>
        <p:nvSpPr>
          <p:cNvPr id="309" name="Google Shape;309;p7">
            <a:extLst xmlns:a="http://schemas.openxmlformats.org/drawingml/2006/main">
              <a:ext uri="{FF2B5EF4-FFF2-40B4-BE49-F238E27FC236}">
                <a16:creationId xmlns:a16="http://schemas.microsoft.com/office/drawing/2014/main" id="{AACA30C8-CC87-45B4-8688-651285C3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405065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5" name="Google Shape;315;p8">
            <a:extLst xmlns:a="http://schemas.openxmlformats.org/drawingml/2006/main">
              <a:ext uri="{FF2B5EF4-FFF2-40B4-BE49-F238E27FC236}">
                <a16:creationId xmlns:a16="http://schemas.microsoft.com/office/drawing/2014/main" id="{6C95BDC2-AF71-40C0-A371-4EE5F463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6 · HOW WE MEASURE SUCCESS</a:t>
            </a:r>
          </a:p>
        </p:txBody>
      </p:sp>
      <p:sp>
        <p:nvSpPr>
          <p:cNvPr id="316" name="Google Shape;316;p8">
            <a:extLst xmlns:a="http://schemas.openxmlformats.org/drawingml/2006/main">
              <a:ext uri="{FF2B5EF4-FFF2-40B4-BE49-F238E27FC236}">
                <a16:creationId xmlns:a16="http://schemas.microsoft.com/office/drawing/2014/main" id="{E3FF2B10-B85B-4A08-8B99-9ABE124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Operational discipline, cost control, revenue signal</a:t>
            </a:r>
          </a:p>
        </p:txBody>
      </p:sp>
      <p:sp>
        <p:nvSpPr>
          <p:cNvPr id="317" name="Google Shape;317;p8">
            <a:extLst xmlns:a="http://schemas.openxmlformats.org/drawingml/2006/main">
              <a:ext uri="{FF2B5EF4-FFF2-40B4-BE49-F238E27FC236}">
                <a16:creationId xmlns:a16="http://schemas.microsoft.com/office/drawing/2014/main" id="{A0C63539-008D-4299-824A-7099B8C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724912" cy="3035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8" name="Google Shape;318;p8">
            <a:extLst xmlns:a="http://schemas.openxmlformats.org/drawingml/2006/main">
              <a:ext uri="{FF2B5EF4-FFF2-40B4-BE49-F238E27FC236}">
                <a16:creationId xmlns:a16="http://schemas.microsoft.com/office/drawing/2014/main" id="{CB7BB8EE-8110-4347-A8A1-C9BD221A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80160"/>
            <a:ext cx="2359152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sz="13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Operational</a:t>
            </a:r>
          </a:p>
        </p:txBody>
      </p:sp>
      <p:cxnSp>
        <p:nvCxnSpPr>
          <p:cNvPr id="374" name="Google Shape;319;p8"/>
          <p:cNvCxnSpPr/>
          <p:nvPr/>
        </p:nvCxnSpPr>
        <p:spPr>
          <a:xfrm xmlns:a="http://schemas.openxmlformats.org/drawingml/2006/main">
            <a:off x="640080" y="1591056"/>
            <a:ext cx="235915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0" name="Google Shape;320;p8">
            <a:extLst xmlns:a="http://schemas.openxmlformats.org/drawingml/2006/main">
              <a:ext uri="{FF2B5EF4-FFF2-40B4-BE49-F238E27FC236}">
                <a16:creationId xmlns:a16="http://schemas.microsoft.com/office/drawing/2014/main" id="{FCB713CB-0BF3-4AD2-83F9-5CC75D52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0078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Request completeness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% complete on first submission</a:t>
            </a:r>
          </a:p>
        </p:txBody>
      </p:sp>
      <p:sp>
        <p:nvSpPr>
          <p:cNvPr id="321" name="Google Shape;321;p8">
            <a:extLst xmlns:a="http://schemas.openxmlformats.org/drawingml/2006/main">
              <a:ext uri="{FF2B5EF4-FFF2-40B4-BE49-F238E27FC236}">
                <a16:creationId xmlns:a16="http://schemas.microsoft.com/office/drawing/2014/main" id="{5DB2DF20-66CB-4894-970B-FFA18CE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16836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SLA / turnaround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Request received → promo live</a:t>
            </a:r>
          </a:p>
        </p:txBody>
      </p:sp>
      <p:sp>
        <p:nvSpPr>
          <p:cNvPr id="322" name="Google Shape;322;p8">
            <a:extLst xmlns:a="http://schemas.openxmlformats.org/drawingml/2006/main">
              <a:ext uri="{FF2B5EF4-FFF2-40B4-BE49-F238E27FC236}">
                <a16:creationId xmlns:a16="http://schemas.microsoft.com/office/drawing/2014/main" id="{DEAECA46-5422-497D-A9DE-89AAE81F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32888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QC first-pass rate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Passing checklist without correction</a:t>
            </a:r>
          </a:p>
        </p:txBody>
      </p:sp>
      <p:sp>
        <p:nvSpPr>
          <p:cNvPr id="323" name="Google Shape;323;p8">
            <a:extLst xmlns:a="http://schemas.openxmlformats.org/drawingml/2006/main">
              <a:ext uri="{FF2B5EF4-FFF2-40B4-BE49-F238E27FC236}">
                <a16:creationId xmlns:a16="http://schemas.microsoft.com/office/drawing/2014/main" id="{1EFDDF02-9F39-4998-8718-B9E751E9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8940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Automation error rate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Errors per run, weekly trend</a:t>
            </a:r>
          </a:p>
        </p:txBody>
      </p:sp>
      <p:sp>
        <p:nvSpPr>
          <p:cNvPr id="324" name="Google Shape;324;p8">
            <a:extLst xmlns:a="http://schemas.openxmlformats.org/drawingml/2006/main">
              <a:ext uri="{FF2B5EF4-FFF2-40B4-BE49-F238E27FC236}">
                <a16:creationId xmlns:a16="http://schemas.microsoft.com/office/drawing/2014/main" id="{1DEF21AB-9671-4F09-ADE9-D1AB655E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64992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Duplicates cleared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Legacy issues resolved per month</a:t>
            </a:r>
          </a:p>
        </p:txBody>
      </p:sp>
      <p:sp>
        <p:nvSpPr>
          <p:cNvPr id="325" name="Google Shape;325;p8">
            <a:extLst xmlns:a="http://schemas.openxmlformats.org/drawingml/2006/main">
              <a:ext uri="{FF2B5EF4-FFF2-40B4-BE49-F238E27FC236}">
                <a16:creationId xmlns:a16="http://schemas.microsoft.com/office/drawing/2014/main" id="{1A30B665-B014-49D2-9823-EBB70458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8104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Campaigns reviewed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% closed with a post-mortem</a:t>
            </a:r>
          </a:p>
        </p:txBody>
      </p:sp>
      <p:sp>
        <p:nvSpPr>
          <p:cNvPr id="326" name="Google Shape;326;p8">
            <a:extLst xmlns:a="http://schemas.openxmlformats.org/drawingml/2006/main">
              <a:ext uri="{FF2B5EF4-FFF2-40B4-BE49-F238E27FC236}">
                <a16:creationId xmlns:a16="http://schemas.microsoft.com/office/drawing/2014/main" id="{51327056-06CD-4C13-A72E-EA5D57D4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984" y="1170432"/>
            <a:ext cx="2724912" cy="3035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7" name="Google Shape;327;p8">
            <a:extLst xmlns:a="http://schemas.openxmlformats.org/drawingml/2006/main">
              <a:ext uri="{FF2B5EF4-FFF2-40B4-BE49-F238E27FC236}">
                <a16:creationId xmlns:a16="http://schemas.microsoft.com/office/drawing/2014/main" id="{9B92F62F-5A66-402E-80E2-5C7E4CA6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1280160"/>
            <a:ext cx="2359152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sz="13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Cost</a:t>
            </a:r>
          </a:p>
        </p:txBody>
      </p:sp>
      <p:cxnSp>
        <p:nvCxnSpPr>
          <p:cNvPr id="383" name="Google Shape;328;p8"/>
          <p:cNvCxnSpPr/>
          <p:nvPr/>
        </p:nvCxnSpPr>
        <p:spPr>
          <a:xfrm xmlns:a="http://schemas.openxmlformats.org/drawingml/2006/main">
            <a:off x="3483864" y="1591056"/>
            <a:ext cx="235915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9" name="Google Shape;329;p8">
            <a:extLst xmlns:a="http://schemas.openxmlformats.org/drawingml/2006/main">
              <a:ext uri="{FF2B5EF4-FFF2-40B4-BE49-F238E27FC236}">
                <a16:creationId xmlns:a16="http://schemas.microsoft.com/office/drawing/2014/main" id="{D6A2B9EE-AE1B-4856-8D35-57F7D84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170078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Bonus cost / active player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Month-on-month trend</a:t>
            </a:r>
          </a:p>
        </p:txBody>
      </p:sp>
      <p:sp>
        <p:nvSpPr>
          <p:cNvPr id="330" name="Google Shape;330;p8">
            <a:extLst xmlns:a="http://schemas.openxmlformats.org/drawingml/2006/main">
              <a:ext uri="{FF2B5EF4-FFF2-40B4-BE49-F238E27FC236}">
                <a16:creationId xmlns:a16="http://schemas.microsoft.com/office/drawing/2014/main" id="{417711BA-5A91-4A6F-BEC1-42584B4F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116836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Cost per claim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Bonus paid ÷ claims per campaign</a:t>
            </a:r>
          </a:p>
        </p:txBody>
      </p:sp>
      <p:sp>
        <p:nvSpPr>
          <p:cNvPr id="331" name="Google Shape;331;p8">
            <a:extLst xmlns:a="http://schemas.openxmlformats.org/drawingml/2006/main">
              <a:ext uri="{FF2B5EF4-FFF2-40B4-BE49-F238E27FC236}">
                <a16:creationId xmlns:a16="http://schemas.microsoft.com/office/drawing/2014/main" id="{58B79F2C-39D3-4931-801C-39DC50AD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532888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Cost per reactivated player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Campaign bonus ÷ re-depositors</a:t>
            </a:r>
          </a:p>
        </p:txBody>
      </p:sp>
      <p:sp>
        <p:nvSpPr>
          <p:cNvPr id="332" name="Google Shape;332;p8">
            <a:extLst xmlns:a="http://schemas.openxmlformats.org/drawingml/2006/main">
              <a:ext uri="{FF2B5EF4-FFF2-40B4-BE49-F238E27FC236}">
                <a16:creationId xmlns:a16="http://schemas.microsoft.com/office/drawing/2014/main" id="{88917B11-B785-4DEB-A475-63118E16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2948940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Cap utilisation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Average claim vs max cap</a:t>
            </a:r>
          </a:p>
        </p:txBody>
      </p:sp>
      <p:sp>
        <p:nvSpPr>
          <p:cNvPr id="333" name="Google Shape;333;p8">
            <a:extLst xmlns:a="http://schemas.openxmlformats.org/drawingml/2006/main">
              <a:ext uri="{FF2B5EF4-FFF2-40B4-BE49-F238E27FC236}">
                <a16:creationId xmlns:a16="http://schemas.microsoft.com/office/drawing/2014/main" id="{AFC4D394-A18E-4D44-A07C-DCF88647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364992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Promos retired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Sunset list output per quarter</a:t>
            </a:r>
          </a:p>
        </p:txBody>
      </p:sp>
      <p:sp>
        <p:nvSpPr>
          <p:cNvPr id="334" name="Google Shape;334;p8">
            <a:extLst xmlns:a="http://schemas.openxmlformats.org/drawingml/2006/main">
              <a:ext uri="{FF2B5EF4-FFF2-40B4-BE49-F238E27FC236}">
                <a16:creationId xmlns:a16="http://schemas.microsoft.com/office/drawing/2014/main" id="{CA39D6ED-1494-48F4-A2EA-7741BA78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864" y="378104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Abuse cases actioned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Players excluded per period</a:t>
            </a:r>
          </a:p>
        </p:txBody>
      </p:sp>
      <p:sp>
        <p:nvSpPr>
          <p:cNvPr id="335" name="Google Shape;335;p8">
            <a:extLst xmlns:a="http://schemas.openxmlformats.org/drawingml/2006/main">
              <a:ext uri="{FF2B5EF4-FFF2-40B4-BE49-F238E27FC236}">
                <a16:creationId xmlns:a16="http://schemas.microsoft.com/office/drawing/2014/main" id="{48ECD54F-44BC-4A90-A445-16ECA435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1170432"/>
            <a:ext cx="2724912" cy="3035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8">
            <a:extLst xmlns:a="http://schemas.openxmlformats.org/drawingml/2006/main">
              <a:ext uri="{FF2B5EF4-FFF2-40B4-BE49-F238E27FC236}">
                <a16:creationId xmlns:a16="http://schemas.microsoft.com/office/drawing/2014/main" id="{19D4075C-EDC9-431B-A59F-5D37B35E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280160"/>
            <a:ext cx="2359152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350"/>
              <a:buFont typeface="Cambria"/>
              <a:buNone/>
            </a:pPr>
            <a:r>
              <a:rPr sz="13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Revenue</a:t>
            </a:r>
          </a:p>
        </p:txBody>
      </p:sp>
      <p:cxnSp>
        <p:nvCxnSpPr>
          <p:cNvPr id="392" name="Google Shape;337;p8"/>
          <p:cNvCxnSpPr/>
          <p:nvPr/>
        </p:nvCxnSpPr>
        <p:spPr>
          <a:xfrm xmlns:a="http://schemas.openxmlformats.org/drawingml/2006/main">
            <a:off x="6327648" y="1591056"/>
            <a:ext cx="235915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DDB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8" name="Google Shape;338;p8">
            <a:extLst xmlns:a="http://schemas.openxmlformats.org/drawingml/2006/main">
              <a:ext uri="{FF2B5EF4-FFF2-40B4-BE49-F238E27FC236}">
                <a16:creationId xmlns:a16="http://schemas.microsoft.com/office/drawing/2014/main" id="{00B1C4F9-197F-4D3D-8249-A137E352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70078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Claim-to-deposit rate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Deposit within 24/72h of claim</a:t>
            </a:r>
          </a:p>
        </p:txBody>
      </p:sp>
      <p:sp>
        <p:nvSpPr>
          <p:cNvPr id="339" name="Google Shape;339;p8">
            <a:extLst xmlns:a="http://schemas.openxmlformats.org/drawingml/2006/main">
              <a:ext uri="{FF2B5EF4-FFF2-40B4-BE49-F238E27FC236}">
                <a16:creationId xmlns:a16="http://schemas.microsoft.com/office/drawing/2014/main" id="{129906DC-B84D-47E8-9B40-27F3C054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116836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Reactivated players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Deposits after win-back campaign</a:t>
            </a:r>
          </a:p>
        </p:txBody>
      </p:sp>
      <p:sp>
        <p:nvSpPr>
          <p:cNvPr id="340" name="Google Shape;340;p8">
            <a:extLst xmlns:a="http://schemas.openxmlformats.org/drawingml/2006/main">
              <a:ext uri="{FF2B5EF4-FFF2-40B4-BE49-F238E27FC236}">
                <a16:creationId xmlns:a16="http://schemas.microsoft.com/office/drawing/2014/main" id="{2DC4BB81-B8AF-4DFA-B8C4-EA7314A3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532888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Avg deposit after promo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Vs pre-promo baseline</a:t>
            </a:r>
          </a:p>
        </p:txBody>
      </p:sp>
      <p:sp>
        <p:nvSpPr>
          <p:cNvPr id="341" name="Google Shape;341;p8">
            <a:extLst xmlns:a="http://schemas.openxmlformats.org/drawingml/2006/main">
              <a:ext uri="{FF2B5EF4-FFF2-40B4-BE49-F238E27FC236}">
                <a16:creationId xmlns:a16="http://schemas.microsoft.com/office/drawing/2014/main" id="{FCAE64A2-B4B1-4E34-A4DE-7C26013C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948940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Cross-product conversion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Sports-only → casino deposit</a:t>
            </a:r>
          </a:p>
        </p:txBody>
      </p:sp>
      <p:sp>
        <p:nvSpPr>
          <p:cNvPr id="342" name="Google Shape;342;p8">
            <a:extLst xmlns:a="http://schemas.openxmlformats.org/drawingml/2006/main">
              <a:ext uri="{FF2B5EF4-FFF2-40B4-BE49-F238E27FC236}">
                <a16:creationId xmlns:a16="http://schemas.microsoft.com/office/drawing/2014/main" id="{3482F0D7-5CEE-4F59-87E6-3B2BBE6D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364992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VIP tier progression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Tier movement after milestone promo</a:t>
            </a:r>
          </a:p>
        </p:txBody>
      </p:sp>
      <p:sp>
        <p:nvSpPr>
          <p:cNvPr id="343" name="Google Shape;343;p8">
            <a:extLst xmlns:a="http://schemas.openxmlformats.org/drawingml/2006/main">
              <a:ext uri="{FF2B5EF4-FFF2-40B4-BE49-F238E27FC236}">
                <a16:creationId xmlns:a16="http://schemas.microsoft.com/office/drawing/2014/main" id="{C25AC18C-7FC7-4922-A222-27132053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3781044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950"/>
              <a:buFont typeface="Calibri"/>
              <a:buNone/>
            </a:pPr>
            <a:r>
              <a:rPr sz="950" b="1">
                <a:solidFill>
                  <a:srgbClr val="18181F"/>
                </a:solidFill>
                <a:latin typeface="Calibri"/>
                <a:ea typeface="Calibri"/>
                <a:cs typeface="Calibri"/>
              </a:rPr>
              <a:t>Revenue contribution</a:t>
            </a:r>
          </a:p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00"/>
              <a:buFont typeface="Calibri"/>
              <a:buNone/>
            </a:pPr>
            <a:r>
              <a:rPr sz="8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Where GGR/NGR is available</a:t>
            </a:r>
          </a:p>
        </p:txBody>
      </p:sp>
      <p:sp>
        <p:nvSpPr>
          <p:cNvPr id="344" name="Google Shape;344;p8">
            <a:extLst xmlns:a="http://schemas.openxmlformats.org/drawingml/2006/main">
              <a:ext uri="{FF2B5EF4-FFF2-40B4-BE49-F238E27FC236}">
                <a16:creationId xmlns:a16="http://schemas.microsoft.com/office/drawing/2014/main" id="{B62BE6EC-CBD9-402D-90C8-C2BB9CA1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34256"/>
            <a:ext cx="82296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5" name="Google Shape;345;p8">
            <a:extLst xmlns:a="http://schemas.openxmlformats.org/drawingml/2006/main">
              <a:ext uri="{FF2B5EF4-FFF2-40B4-BE49-F238E27FC236}">
                <a16:creationId xmlns:a16="http://schemas.microsoft.com/office/drawing/2014/main" id="{99BEEF41-3427-4948-93D3-8CAC21E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70832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50"/>
              <a:buFont typeface="Calibri"/>
              <a:buNone/>
            </a:pPr>
            <a:r>
              <a:rPr sz="9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Baselines set in Month 1.  </a:t>
            </a: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Revenue metrics require post-campaign deposit data from Sales — directional until </a:t>
            </a: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attribution is live (Phase 3)</a:t>
            </a: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. ROI cannot be substantiated without it.</a:t>
            </a:r>
          </a:p>
        </p:txBody>
      </p:sp>
      <p:sp>
        <p:nvSpPr>
          <p:cNvPr id="346" name="Google Shape;346;p8">
            <a:extLst xmlns:a="http://schemas.openxmlformats.org/drawingml/2006/main">
              <a:ext uri="{FF2B5EF4-FFF2-40B4-BE49-F238E27FC236}">
                <a16:creationId xmlns:a16="http://schemas.microsoft.com/office/drawing/2014/main" id="{D337C05A-62FC-4CE7-9604-2174674A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58506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Google Shape;352;p9">
            <a:extLst xmlns:a="http://schemas.openxmlformats.org/drawingml/2006/main">
              <a:ext uri="{FF2B5EF4-FFF2-40B4-BE49-F238E27FC236}">
                <a16:creationId xmlns:a16="http://schemas.microsoft.com/office/drawing/2014/main" id="{1CB11705-B2A5-4B32-89F0-E9333EC4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7 · RISKS AND MITIGATION</a:t>
            </a:r>
          </a:p>
        </p:txBody>
      </p:sp>
      <p:sp>
        <p:nvSpPr>
          <p:cNvPr id="353" name="Google Shape;353;p9">
            <a:extLst xmlns:a="http://schemas.openxmlformats.org/drawingml/2006/main">
              <a:ext uri="{FF2B5EF4-FFF2-40B4-BE49-F238E27FC236}">
                <a16:creationId xmlns:a16="http://schemas.microsoft.com/office/drawing/2014/main" id="{FA68979B-1680-47CF-A35F-D05E2EB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Known risks, owned openly</a:t>
            </a:r>
          </a:p>
        </p:txBody>
      </p:sp>
      <p:graphicFrame>
        <p:nvGraphicFramePr>
          <p:cNvPr id="359" name="Google Shape;354;p9"/>
          <p:cNvGraphicFramePr/>
          <p:nvPr/>
        </p:nvGraphicFramePr>
        <p:xfrm>
          <a:off xmlns:a="http://schemas.openxmlformats.org/drawingml/2006/main" x="457200" y="118872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>
                <a:tableStyleId>{9867DB63-B682-4F3D-A2F8-1A38E2159944}</a:tableStyleId>
              </a:tblPr>
              <a:tblGrid>
                <a:gridCol w="2148850"/>
                <a:gridCol w="2514600"/>
                <a:gridCol w="3566150"/>
              </a:tblGrid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98"/>
                        </a:buClr>
                        <a:buSzPts val="800"/>
                        <a:buFont typeface="Calibri"/>
                        <a:buNone/>
                      </a:pPr>
                      <a:r>
                        <a:rPr sz="800" b="1" u="none" cap="none">
                          <a:solidFill>
                            <a:srgbClr val="8C8C98"/>
                          </a:solidFill>
                          <a:latin typeface="Calibri"/>
                          <a:ea typeface="Calibri"/>
                          <a:cs typeface="Calibri"/>
                        </a:rPr>
                        <a:t>RISK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C8C98"/>
                        </a:buClr>
                        <a:buSzPts val="800"/>
                        <a:buFont typeface="Calibri"/>
                        <a:buNone/>
                      </a:pPr>
                      <a:r>
                        <a:rPr sz="800" b="1" u="none" cap="none">
                          <a:solidFill>
                            <a:srgbClr val="8C8C98"/>
                          </a:solidFill>
                          <a:latin typeface="Calibri"/>
                          <a:ea typeface="Calibri"/>
                          <a:cs typeface="Calibri"/>
                        </a:rPr>
                        <a:t>WHY IT MATTERS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  <a:solidFill>
                      <a:srgbClr val="ECEA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C35"/>
                        </a:buClr>
                        <a:buSzPts val="800"/>
                        <a:buFont typeface="Calibri"/>
                        <a:buNone/>
                      </a:pPr>
                      <a:r>
                        <a:rPr sz="800" b="1" u="none" cap="none">
                          <a:solidFill>
                            <a:srgbClr val="8A6C35"/>
                          </a:solidFill>
                          <a:latin typeface="Calibri"/>
                          <a:ea typeface="Calibri"/>
                          <a:cs typeface="Calibri"/>
                        </a:rPr>
                        <a:t>MITIGATION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  <a:solidFill>
                      <a:srgbClr val="F5EDD8"/>
                    </a:solidFill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Automation errors repeat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Recurring QC failures across brands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Exception log now; weekly review; update rules as patterns emerge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Unclear promo objectives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Misaligned promos and rework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Incomplete briefs returned for clarification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Weak data tracking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Revenue claims cannot be proven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Validated language only; </a:t>
                      </a: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attribution model built in Phase 3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Bonus hunters / abuse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Cost without revenue return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Flag with Sales; exclusion lists; monitor claim-vs-deposit ratio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Manual workload growth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Volume overwhelms team, errors rise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Fix automation exceptions before scaling; SOP + dashboard early-warning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Cross-team role clarity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Collaborative initiatives stall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Agree Promo and Sales roles at HOD level; confirm inputs upfront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Duplicate / legacy records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Player confusion, wrong redemptions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Finish WS1 dedupe; monthly sunset rhythm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Overpromising revenue impact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Credibility damage with management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No unproven numbers until attribution data exists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  <a:tr h="36120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8181F"/>
                        </a:buClr>
                        <a:buSzPts val="900"/>
                        <a:buFont typeface="Calibri"/>
                        <a:buNone/>
                      </a:pPr>
                      <a:r>
                        <a:rPr sz="900" b="1" u="none" cap="none">
                          <a:solidFill>
                            <a:srgbClr val="18181F"/>
                          </a:solidFill>
                          <a:latin typeface="Calibri"/>
                          <a:ea typeface="Calibri"/>
                          <a:cs typeface="Calibri"/>
                        </a:rPr>
                        <a:t>QC ownership gap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Errors reach players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A4A56"/>
                        </a:buClr>
                        <a:buSzPts val="900"/>
                        <a:buFont typeface="Calibri"/>
                        <a:buNone/>
                      </a:pPr>
                      <a:r>
                        <a:rPr sz="900" u="none" cap="none">
                          <a:solidFill>
                            <a:srgbClr val="4A4A56"/>
                          </a:solidFill>
                          <a:latin typeface="Calibri"/>
                          <a:ea typeface="Calibri"/>
                          <a:cs typeface="Calibri"/>
                        </a:rPr>
                        <a:t>Pre-launch checklist; named QC owner per platform</a:t>
                      </a:r>
                    </a:p>
                  </a:txBody>
                  <a:tcPr marL="73150" marR="73150" marT="45725" marB="45725" anchor="ctr">
                    <a:lnL w="9525" cmpd="sng">
                      <a:solidFill>
                        <a:srgbClr val="DDDBD8"/>
                      </a:solidFill>
                      <a:prstDash val="solid"/>
                    </a:lnL>
                    <a:lnR w="9525" cmpd="sng">
                      <a:solidFill>
                        <a:srgbClr val="DDDBD8"/>
                      </a:solidFill>
                      <a:prstDash val="solid"/>
                    </a:lnR>
                    <a:lnT w="9525" cmpd="sng">
                      <a:solidFill>
                        <a:srgbClr val="DDDBD8"/>
                      </a:solidFill>
                      <a:prstDash val="solid"/>
                    </a:lnT>
                    <a:lnB w="9525" cmpd="sng">
                      <a:solidFill>
                        <a:srgbClr val="DDDBD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55" name="Google Shape;355;p9">
            <a:extLst xmlns:a="http://schemas.openxmlformats.org/drawingml/2006/main">
              <a:ext uri="{FF2B5EF4-FFF2-40B4-BE49-F238E27FC236}">
                <a16:creationId xmlns:a16="http://schemas.microsoft.com/office/drawing/2014/main" id="{8419750B-D211-4699-9927-D09589F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8563897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1" name="Google Shape;361;p10">
            <a:extLst xmlns:a="http://schemas.openxmlformats.org/drawingml/2006/main">
              <a:ext uri="{FF2B5EF4-FFF2-40B4-BE49-F238E27FC236}">
                <a16:creationId xmlns:a16="http://schemas.microsoft.com/office/drawing/2014/main" id="{0869E78B-E7D7-4A95-B0A5-246471EF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8 · RECOMMENDED NEXT 30 DAYS</a:t>
            </a:r>
          </a:p>
        </p:txBody>
      </p:sp>
      <p:sp>
        <p:nvSpPr>
          <p:cNvPr id="362" name="Google Shape;362;p10">
            <a:extLst xmlns:a="http://schemas.openxmlformats.org/drawingml/2006/main">
              <a:ext uri="{FF2B5EF4-FFF2-40B4-BE49-F238E27FC236}">
                <a16:creationId xmlns:a16="http://schemas.microsoft.com/office/drawing/2014/main" id="{94DD659C-2833-452F-9D94-CF49544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Control-building first, pilots by week three</a:t>
            </a:r>
          </a:p>
        </p:txBody>
      </p:sp>
      <p:sp>
        <p:nvSpPr>
          <p:cNvPr id="363" name="Google Shape;363;p10">
            <a:extLst xmlns:a="http://schemas.openxmlformats.org/drawingml/2006/main">
              <a:ext uri="{FF2B5EF4-FFF2-40B4-BE49-F238E27FC236}">
                <a16:creationId xmlns:a16="http://schemas.microsoft.com/office/drawing/2014/main" id="{AE72F5AE-E4F0-4358-B7AE-50279A74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70432"/>
            <a:ext cx="201168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DD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10">
            <a:extLst xmlns:a="http://schemas.openxmlformats.org/drawingml/2006/main">
              <a:ext uri="{FF2B5EF4-FFF2-40B4-BE49-F238E27FC236}">
                <a16:creationId xmlns:a16="http://schemas.microsoft.com/office/drawing/2014/main" id="{E7838B4D-73D0-4279-8DFB-88BB76B6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43584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850"/>
              <a:buFont typeface="Calibri"/>
              <a:buNone/>
            </a:pPr>
            <a:r>
              <a:rPr sz="85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WEEK 1</a:t>
            </a:r>
          </a:p>
        </p:txBody>
      </p:sp>
      <p:sp>
        <p:nvSpPr>
          <p:cNvPr id="365" name="Google Shape;365;p10">
            <a:extLst xmlns:a="http://schemas.openxmlformats.org/drawingml/2006/main">
              <a:ext uri="{FF2B5EF4-FFF2-40B4-BE49-F238E27FC236}">
                <a16:creationId xmlns:a16="http://schemas.microsoft.com/office/drawing/2014/main" id="{E2DF2ADF-1064-4C16-A38F-94DAD7E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2646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sz="11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Align and Identify</a:t>
            </a:r>
          </a:p>
        </p:txBody>
      </p:sp>
      <p:sp>
        <p:nvSpPr>
          <p:cNvPr id="366" name="Google Shape;366;p10">
            <a:extLst xmlns:a="http://schemas.openxmlformats.org/drawingml/2006/main">
              <a:ext uri="{FF2B5EF4-FFF2-40B4-BE49-F238E27FC236}">
                <a16:creationId xmlns:a16="http://schemas.microsoft.com/office/drawing/2014/main" id="{F838B932-0FBF-4141-80AA-9B65B8F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7" name="Google Shape;367;p10">
            <a:extLst xmlns:a="http://schemas.openxmlformats.org/drawingml/2006/main">
              <a:ext uri="{FF2B5EF4-FFF2-40B4-BE49-F238E27FC236}">
                <a16:creationId xmlns:a16="http://schemas.microsoft.com/office/drawing/2014/main" id="{25435A7D-3ECE-4551-89CA-27C6C4F2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920240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Request template + objectives with Sales</a:t>
            </a:r>
          </a:p>
        </p:txBody>
      </p:sp>
      <p:sp>
        <p:nvSpPr>
          <p:cNvPr id="368" name="Google Shape;368;p10">
            <a:extLst xmlns:a="http://schemas.openxmlformats.org/drawingml/2006/main">
              <a:ext uri="{FF2B5EF4-FFF2-40B4-BE49-F238E27FC236}">
                <a16:creationId xmlns:a16="http://schemas.microsoft.com/office/drawing/2014/main" id="{4D47F9A6-AB27-4932-B9D1-EA736E60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500884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9" name="Google Shape;369;p10">
            <a:extLst xmlns:a="http://schemas.openxmlformats.org/drawingml/2006/main">
              <a:ext uri="{FF2B5EF4-FFF2-40B4-BE49-F238E27FC236}">
                <a16:creationId xmlns:a16="http://schemas.microsoft.com/office/drawing/2014/main" id="{2B047784-812D-4833-9AB7-468688BD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455164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Map internal vs Sales data sources</a:t>
            </a:r>
          </a:p>
        </p:txBody>
      </p:sp>
      <p:sp>
        <p:nvSpPr>
          <p:cNvPr id="370" name="Google Shape;370;p10">
            <a:extLst xmlns:a="http://schemas.openxmlformats.org/drawingml/2006/main">
              <a:ext uri="{FF2B5EF4-FFF2-40B4-BE49-F238E27FC236}">
                <a16:creationId xmlns:a16="http://schemas.microsoft.com/office/drawing/2014/main" id="{AE7A7D11-9DE9-4355-8DC8-5E32BFC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3580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10">
            <a:extLst xmlns:a="http://schemas.openxmlformats.org/drawingml/2006/main">
              <a:ext uri="{FF2B5EF4-FFF2-40B4-BE49-F238E27FC236}">
                <a16:creationId xmlns:a16="http://schemas.microsoft.com/office/drawing/2014/main" id="{18C2ABD8-B903-4F8E-BEEF-8F36C5FD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990088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Start automation QC exception log</a:t>
            </a:r>
          </a:p>
        </p:txBody>
      </p:sp>
      <p:sp>
        <p:nvSpPr>
          <p:cNvPr id="372" name="Google Shape;372;p10">
            <a:extLst xmlns:a="http://schemas.openxmlformats.org/drawingml/2006/main">
              <a:ext uri="{FF2B5EF4-FFF2-40B4-BE49-F238E27FC236}">
                <a16:creationId xmlns:a16="http://schemas.microsoft.com/office/drawing/2014/main" id="{B2DA5F8B-C06F-4151-8B3F-17A83F0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7073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3" name="Google Shape;373;p10">
            <a:extLst xmlns:a="http://schemas.openxmlformats.org/drawingml/2006/main">
              <a:ext uri="{FF2B5EF4-FFF2-40B4-BE49-F238E27FC236}">
                <a16:creationId xmlns:a16="http://schemas.microsoft.com/office/drawing/2014/main" id="{96429A75-0E72-41E7-8FF1-D81ED5DB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525012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List legacy / duplicate promo issues</a:t>
            </a:r>
          </a:p>
        </p:txBody>
      </p:sp>
      <p:sp>
        <p:nvSpPr>
          <p:cNvPr id="374" name="Google Shape;374;p10">
            <a:extLst xmlns:a="http://schemas.openxmlformats.org/drawingml/2006/main">
              <a:ext uri="{FF2B5EF4-FFF2-40B4-BE49-F238E27FC236}">
                <a16:creationId xmlns:a16="http://schemas.microsoft.com/office/drawing/2014/main" id="{109D2078-2208-42DA-BB4C-68B594D4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0565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5" name="Google Shape;375;p10">
            <a:extLst xmlns:a="http://schemas.openxmlformats.org/drawingml/2006/main">
              <a:ext uri="{FF2B5EF4-FFF2-40B4-BE49-F238E27FC236}">
                <a16:creationId xmlns:a16="http://schemas.microsoft.com/office/drawing/2014/main" id="{F51599AD-206F-4D9A-A8F2-8D13143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059936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Confirm lapsed-list owner in Sales</a:t>
            </a:r>
          </a:p>
        </p:txBody>
      </p:sp>
      <p:sp>
        <p:nvSpPr>
          <p:cNvPr id="376" name="Google Shape;376;p10">
            <a:extLst xmlns:a="http://schemas.openxmlformats.org/drawingml/2006/main">
              <a:ext uri="{FF2B5EF4-FFF2-40B4-BE49-F238E27FC236}">
                <a16:creationId xmlns:a16="http://schemas.microsoft.com/office/drawing/2014/main" id="{64467370-5A35-4274-A51C-BE69EA39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145" y="1170432"/>
            <a:ext cx="201168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7" name="Google Shape;377;p10">
            <a:extLst xmlns:a="http://schemas.openxmlformats.org/drawingml/2006/main">
              <a:ext uri="{FF2B5EF4-FFF2-40B4-BE49-F238E27FC236}">
                <a16:creationId xmlns:a16="http://schemas.microsoft.com/office/drawing/2014/main" id="{D133EB01-3B12-46AC-A4B0-68065F89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1243584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WEEK 2</a:t>
            </a:r>
          </a:p>
        </p:txBody>
      </p:sp>
      <p:sp>
        <p:nvSpPr>
          <p:cNvPr id="378" name="Google Shape;378;p10">
            <a:extLst xmlns:a="http://schemas.openxmlformats.org/drawingml/2006/main">
              <a:ext uri="{FF2B5EF4-FFF2-40B4-BE49-F238E27FC236}">
                <a16:creationId xmlns:a16="http://schemas.microsoft.com/office/drawing/2014/main" id="{7924D63D-5F32-4A8D-9B43-6EAC209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142646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sz="11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Audit and Build</a:t>
            </a:r>
          </a:p>
        </p:txBody>
      </p:sp>
      <p:sp>
        <p:nvSpPr>
          <p:cNvPr id="379" name="Google Shape;379;p10">
            <a:extLst xmlns:a="http://schemas.openxmlformats.org/drawingml/2006/main">
              <a:ext uri="{FF2B5EF4-FFF2-40B4-BE49-F238E27FC236}">
                <a16:creationId xmlns:a16="http://schemas.microsoft.com/office/drawing/2014/main" id="{91D11FCA-6ED5-4D14-89F5-F7EBDE5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196596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0" name="Google Shape;380;p10">
            <a:extLst xmlns:a="http://schemas.openxmlformats.org/drawingml/2006/main">
              <a:ext uri="{FF2B5EF4-FFF2-40B4-BE49-F238E27FC236}">
                <a16:creationId xmlns:a16="http://schemas.microsoft.com/office/drawing/2014/main" id="{400DD042-F934-4A16-A05F-185D3B6B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321" y="1920240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Cap audit sample — claimants, 90 days</a:t>
            </a:r>
          </a:p>
        </p:txBody>
      </p:sp>
      <p:sp>
        <p:nvSpPr>
          <p:cNvPr id="381" name="Google Shape;381;p10">
            <a:extLst xmlns:a="http://schemas.openxmlformats.org/drawingml/2006/main">
              <a:ext uri="{FF2B5EF4-FFF2-40B4-BE49-F238E27FC236}">
                <a16:creationId xmlns:a16="http://schemas.microsoft.com/office/drawing/2014/main" id="{140EE71C-4077-42A7-8C3F-A815A9A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2500884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2" name="Google Shape;382;p10">
            <a:extLst xmlns:a="http://schemas.openxmlformats.org/drawingml/2006/main">
              <a:ext uri="{FF2B5EF4-FFF2-40B4-BE49-F238E27FC236}">
                <a16:creationId xmlns:a16="http://schemas.microsoft.com/office/drawing/2014/main" id="{43E02667-1710-44D8-85DE-A1EFBAEF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321" y="2455164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Draft promo sunset list</a:t>
            </a:r>
          </a:p>
        </p:txBody>
      </p:sp>
      <p:sp>
        <p:nvSpPr>
          <p:cNvPr id="383" name="Google Shape;383;p10">
            <a:extLst xmlns:a="http://schemas.openxmlformats.org/drawingml/2006/main">
              <a:ext uri="{FF2B5EF4-FFF2-40B4-BE49-F238E27FC236}">
                <a16:creationId xmlns:a16="http://schemas.microsoft.com/office/drawing/2014/main" id="{C09DAD90-A6DF-47B2-909C-3E6A2505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303580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4" name="Google Shape;384;p10">
            <a:extLst xmlns:a="http://schemas.openxmlformats.org/drawingml/2006/main">
              <a:ext uri="{FF2B5EF4-FFF2-40B4-BE49-F238E27FC236}">
                <a16:creationId xmlns:a16="http://schemas.microsoft.com/office/drawing/2014/main" id="{C8E37243-7FD9-4FA7-A09E-BF12B72A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321" y="2990088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Basic dashboard: volume, QC, SLA</a:t>
            </a:r>
          </a:p>
        </p:txBody>
      </p:sp>
      <p:sp>
        <p:nvSpPr>
          <p:cNvPr id="385" name="Google Shape;385;p10">
            <a:extLst xmlns:a="http://schemas.openxmlformats.org/drawingml/2006/main">
              <a:ext uri="{FF2B5EF4-FFF2-40B4-BE49-F238E27FC236}">
                <a16:creationId xmlns:a16="http://schemas.microsoft.com/office/drawing/2014/main" id="{62C31195-D6EA-40F4-A215-315C24EA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357073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6" name="Google Shape;386;p10">
            <a:extLst xmlns:a="http://schemas.openxmlformats.org/drawingml/2006/main">
              <a:ext uri="{FF2B5EF4-FFF2-40B4-BE49-F238E27FC236}">
                <a16:creationId xmlns:a16="http://schemas.microsoft.com/office/drawing/2014/main" id="{007771BA-CED3-4782-B021-06BB5E6B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321" y="3525012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Define post-mortem template</a:t>
            </a:r>
          </a:p>
        </p:txBody>
      </p:sp>
      <p:sp>
        <p:nvSpPr>
          <p:cNvPr id="387" name="Google Shape;387;p10">
            <a:extLst xmlns:a="http://schemas.openxmlformats.org/drawingml/2006/main">
              <a:ext uri="{FF2B5EF4-FFF2-40B4-BE49-F238E27FC236}">
                <a16:creationId xmlns:a16="http://schemas.microsoft.com/office/drawing/2014/main" id="{F146F22D-0155-408D-ADF2-0293B14F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305" y="410565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8" name="Google Shape;388;p10">
            <a:extLst xmlns:a="http://schemas.openxmlformats.org/drawingml/2006/main">
              <a:ext uri="{FF2B5EF4-FFF2-40B4-BE49-F238E27FC236}">
                <a16:creationId xmlns:a16="http://schemas.microsoft.com/office/drawing/2014/main" id="{AD005B92-DCDC-442E-8C74-933CDD65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321" y="4059936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Submit audits for approval</a:t>
            </a:r>
          </a:p>
        </p:txBody>
      </p:sp>
      <p:sp>
        <p:nvSpPr>
          <p:cNvPr id="389" name="Google Shape;389;p10">
            <a:extLst xmlns:a="http://schemas.openxmlformats.org/drawingml/2006/main">
              <a:ext uri="{FF2B5EF4-FFF2-40B4-BE49-F238E27FC236}">
                <a16:creationId xmlns:a16="http://schemas.microsoft.com/office/drawing/2014/main" id="{3DE9CDAB-FD3C-4D54-99AD-578405FA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090" y="1170432"/>
            <a:ext cx="201168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0" name="Google Shape;390;p10">
            <a:extLst xmlns:a="http://schemas.openxmlformats.org/drawingml/2006/main">
              <a:ext uri="{FF2B5EF4-FFF2-40B4-BE49-F238E27FC236}">
                <a16:creationId xmlns:a16="http://schemas.microsoft.com/office/drawing/2014/main" id="{B0FFF615-BE01-469C-94FE-1AFD6177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1243584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WEEK 3</a:t>
            </a:r>
          </a:p>
        </p:txBody>
      </p:sp>
      <p:sp>
        <p:nvSpPr>
          <p:cNvPr id="391" name="Google Shape;391;p10">
            <a:extLst xmlns:a="http://schemas.openxmlformats.org/drawingml/2006/main">
              <a:ext uri="{FF2B5EF4-FFF2-40B4-BE49-F238E27FC236}">
                <a16:creationId xmlns:a16="http://schemas.microsoft.com/office/drawing/2014/main" id="{EB024E06-D916-49BA-B82B-B1BF4449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142646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sz="11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Pilot and Strengthen</a:t>
            </a:r>
          </a:p>
        </p:txBody>
      </p:sp>
      <p:sp>
        <p:nvSpPr>
          <p:cNvPr id="392" name="Google Shape;392;p10">
            <a:extLst xmlns:a="http://schemas.openxmlformats.org/drawingml/2006/main">
              <a:ext uri="{FF2B5EF4-FFF2-40B4-BE49-F238E27FC236}">
                <a16:creationId xmlns:a16="http://schemas.microsoft.com/office/drawing/2014/main" id="{F4D7FE61-324E-4CB3-B961-3453FBF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196596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3" name="Google Shape;393;p10">
            <a:extLst xmlns:a="http://schemas.openxmlformats.org/drawingml/2006/main">
              <a:ext uri="{FF2B5EF4-FFF2-40B4-BE49-F238E27FC236}">
                <a16:creationId xmlns:a16="http://schemas.microsoft.com/office/drawing/2014/main" id="{870766A3-F0F7-4537-9BD5-1CF1A3F7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66" y="1920240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Pilot first reactivation pipeline</a:t>
            </a:r>
          </a:p>
        </p:txBody>
      </p:sp>
      <p:sp>
        <p:nvSpPr>
          <p:cNvPr id="394" name="Google Shape;394;p10">
            <a:extLst xmlns:a="http://schemas.openxmlformats.org/drawingml/2006/main">
              <a:ext uri="{FF2B5EF4-FFF2-40B4-BE49-F238E27FC236}">
                <a16:creationId xmlns:a16="http://schemas.microsoft.com/office/drawing/2014/main" id="{D7CC7066-5CD1-4D55-8F61-E1228A3F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2500884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5" name="Google Shape;395;p10">
            <a:extLst xmlns:a="http://schemas.openxmlformats.org/drawingml/2006/main">
              <a:ext uri="{FF2B5EF4-FFF2-40B4-BE49-F238E27FC236}">
                <a16:creationId xmlns:a16="http://schemas.microsoft.com/office/drawing/2014/main" id="{5FB7D080-7FB1-4E99-9D4D-1C5052FD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66" y="2455164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Pilot first segment campaign</a:t>
            </a:r>
          </a:p>
        </p:txBody>
      </p:sp>
      <p:sp>
        <p:nvSpPr>
          <p:cNvPr id="396" name="Google Shape;396;p10">
            <a:extLst xmlns:a="http://schemas.openxmlformats.org/drawingml/2006/main">
              <a:ext uri="{FF2B5EF4-FFF2-40B4-BE49-F238E27FC236}">
                <a16:creationId xmlns:a16="http://schemas.microsoft.com/office/drawing/2014/main" id="{D76B2BF4-1698-4468-9E23-FB154DCA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303580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7" name="Google Shape;397;p10">
            <a:extLst xmlns:a="http://schemas.openxmlformats.org/drawingml/2006/main">
              <a:ext uri="{FF2B5EF4-FFF2-40B4-BE49-F238E27FC236}">
                <a16:creationId xmlns:a16="http://schemas.microsoft.com/office/drawing/2014/main" id="{9F711A94-6C46-4539-B3A0-ED0737B0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66" y="2990088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Sales promo knowledge sharing</a:t>
            </a:r>
          </a:p>
        </p:txBody>
      </p:sp>
      <p:sp>
        <p:nvSpPr>
          <p:cNvPr id="398" name="Google Shape;398;p10">
            <a:extLst xmlns:a="http://schemas.openxmlformats.org/drawingml/2006/main">
              <a:ext uri="{FF2B5EF4-FFF2-40B4-BE49-F238E27FC236}">
                <a16:creationId xmlns:a16="http://schemas.microsoft.com/office/drawing/2014/main" id="{5026C20C-BBEE-43E4-920D-9FA61916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357073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9" name="Google Shape;399;p10">
            <a:extLst xmlns:a="http://schemas.openxmlformats.org/drawingml/2006/main">
              <a:ext uri="{FF2B5EF4-FFF2-40B4-BE49-F238E27FC236}">
                <a16:creationId xmlns:a16="http://schemas.microsoft.com/office/drawing/2014/main" id="{E24FB2E8-122D-4A89-B307-9C32D248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66" y="3525012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Update automation rules from log</a:t>
            </a:r>
          </a:p>
        </p:txBody>
      </p:sp>
      <p:sp>
        <p:nvSpPr>
          <p:cNvPr id="400" name="Google Shape;400;p10">
            <a:extLst xmlns:a="http://schemas.openxmlformats.org/drawingml/2006/main">
              <a:ext uri="{FF2B5EF4-FFF2-40B4-BE49-F238E27FC236}">
                <a16:creationId xmlns:a16="http://schemas.microsoft.com/office/drawing/2014/main" id="{DEFCB9F9-A377-4807-9FD8-01F5BA01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250" y="410565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1" name="Google Shape;401;p10">
            <a:extLst xmlns:a="http://schemas.openxmlformats.org/drawingml/2006/main">
              <a:ext uri="{FF2B5EF4-FFF2-40B4-BE49-F238E27FC236}">
                <a16:creationId xmlns:a16="http://schemas.microsoft.com/office/drawing/2014/main" id="{90B87C59-D227-4574-976F-CDFF013C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266" y="4059936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Apply approved cap / sunset changes</a:t>
            </a:r>
          </a:p>
        </p:txBody>
      </p:sp>
      <p:sp>
        <p:nvSpPr>
          <p:cNvPr id="402" name="Google Shape;402;p10">
            <a:extLst xmlns:a="http://schemas.openxmlformats.org/drawingml/2006/main">
              <a:ext uri="{FF2B5EF4-FFF2-40B4-BE49-F238E27FC236}">
                <a16:creationId xmlns:a16="http://schemas.microsoft.com/office/drawing/2014/main" id="{BD154186-2721-4CC5-A21A-F071D05F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034" y="1170432"/>
            <a:ext cx="201168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AE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3" name="Google Shape;403;p10">
            <a:extLst xmlns:a="http://schemas.openxmlformats.org/drawingml/2006/main">
              <a:ext uri="{FF2B5EF4-FFF2-40B4-BE49-F238E27FC236}">
                <a16:creationId xmlns:a16="http://schemas.microsoft.com/office/drawing/2014/main" id="{19F4B228-793C-4559-BB6C-0B6C9FB0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1243584"/>
            <a:ext cx="17373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WEEK 4</a:t>
            </a:r>
          </a:p>
        </p:txBody>
      </p:sp>
      <p:sp>
        <p:nvSpPr>
          <p:cNvPr id="404" name="Google Shape;404;p10">
            <a:extLst xmlns:a="http://schemas.openxmlformats.org/drawingml/2006/main">
              <a:ext uri="{FF2B5EF4-FFF2-40B4-BE49-F238E27FC236}">
                <a16:creationId xmlns:a16="http://schemas.microsoft.com/office/drawing/2014/main" id="{17FFAA20-E4BF-4942-92C7-DD8B0193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1426464"/>
            <a:ext cx="173736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1150"/>
              <a:buFont typeface="Cambria"/>
              <a:buNone/>
            </a:pPr>
            <a:r>
              <a:rPr sz="115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Review and Confirm</a:t>
            </a:r>
          </a:p>
        </p:txBody>
      </p:sp>
      <p:sp>
        <p:nvSpPr>
          <p:cNvPr id="405" name="Google Shape;405;p10">
            <a:extLst xmlns:a="http://schemas.openxmlformats.org/drawingml/2006/main">
              <a:ext uri="{FF2B5EF4-FFF2-40B4-BE49-F238E27FC236}">
                <a16:creationId xmlns:a16="http://schemas.microsoft.com/office/drawing/2014/main" id="{E61F22CA-8FB9-4DA9-9824-F8869096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1965960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6" name="Google Shape;406;p10">
            <a:extLst xmlns:a="http://schemas.openxmlformats.org/drawingml/2006/main">
              <a:ext uri="{FF2B5EF4-FFF2-40B4-BE49-F238E27FC236}">
                <a16:creationId xmlns:a16="http://schemas.microsoft.com/office/drawing/2014/main" id="{E56ADF40-42BE-4715-9862-CFF71DC6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10" y="1920240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Review pilot results</a:t>
            </a:r>
          </a:p>
        </p:txBody>
      </p:sp>
      <p:sp>
        <p:nvSpPr>
          <p:cNvPr id="407" name="Google Shape;407;p10">
            <a:extLst xmlns:a="http://schemas.openxmlformats.org/drawingml/2006/main">
              <a:ext uri="{FF2B5EF4-FFF2-40B4-BE49-F238E27FC236}">
                <a16:creationId xmlns:a16="http://schemas.microsoft.com/office/drawing/2014/main" id="{9D946142-DC20-4D70-8F1C-6346453F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2500884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8" name="Google Shape;408;p10">
            <a:extLst xmlns:a="http://schemas.openxmlformats.org/drawingml/2006/main">
              <a:ext uri="{FF2B5EF4-FFF2-40B4-BE49-F238E27FC236}">
                <a16:creationId xmlns:a16="http://schemas.microsoft.com/office/drawing/2014/main" id="{0ACE6908-128A-4075-95B7-878803DA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10" y="2455164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First management snapshot</a:t>
            </a:r>
          </a:p>
        </p:txBody>
      </p:sp>
      <p:sp>
        <p:nvSpPr>
          <p:cNvPr id="409" name="Google Shape;409;p10">
            <a:extLst xmlns:a="http://schemas.openxmlformats.org/drawingml/2006/main">
              <a:ext uri="{FF2B5EF4-FFF2-40B4-BE49-F238E27FC236}">
                <a16:creationId xmlns:a16="http://schemas.microsoft.com/office/drawing/2014/main" id="{DA2C4049-B305-42B6-B08A-93626BA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3035808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0" name="Google Shape;410;p10">
            <a:extLst xmlns:a="http://schemas.openxmlformats.org/drawingml/2006/main">
              <a:ext uri="{FF2B5EF4-FFF2-40B4-BE49-F238E27FC236}">
                <a16:creationId xmlns:a16="http://schemas.microsoft.com/office/drawing/2014/main" id="{9CFC7397-A250-44BD-852D-116DEC45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10" y="2990088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Confirm next month's promo calendar</a:t>
            </a:r>
          </a:p>
        </p:txBody>
      </p:sp>
      <p:sp>
        <p:nvSpPr>
          <p:cNvPr id="411" name="Google Shape;411;p10">
            <a:extLst xmlns:a="http://schemas.openxmlformats.org/drawingml/2006/main">
              <a:ext uri="{FF2B5EF4-FFF2-40B4-BE49-F238E27FC236}">
                <a16:creationId xmlns:a16="http://schemas.microsoft.com/office/drawing/2014/main" id="{B5153E5E-D0FB-49D7-B4DD-AE3D0F1F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3570732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2" name="Google Shape;412;p10">
            <a:extLst xmlns:a="http://schemas.openxmlformats.org/drawingml/2006/main">
              <a:ext uri="{FF2B5EF4-FFF2-40B4-BE49-F238E27FC236}">
                <a16:creationId xmlns:a16="http://schemas.microsoft.com/office/drawing/2014/main" id="{CA5B9BC2-B686-41F8-913C-BFF0B4F0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10" y="3525012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Lock monthly operating rhythm</a:t>
            </a:r>
          </a:p>
        </p:txBody>
      </p:sp>
      <p:sp>
        <p:nvSpPr>
          <p:cNvPr id="413" name="Google Shape;413;p10">
            <a:extLst xmlns:a="http://schemas.openxmlformats.org/drawingml/2006/main">
              <a:ext uri="{FF2B5EF4-FFF2-40B4-BE49-F238E27FC236}">
                <a16:creationId xmlns:a16="http://schemas.microsoft.com/office/drawing/2014/main" id="{5C8BDC31-E87C-434D-A91E-ABDD02A0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94" y="4105656"/>
            <a:ext cx="54864" cy="548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4" name="Google Shape;414;p10">
            <a:extLst xmlns:a="http://schemas.openxmlformats.org/drawingml/2006/main">
              <a:ext uri="{FF2B5EF4-FFF2-40B4-BE49-F238E27FC236}">
                <a16:creationId xmlns:a16="http://schemas.microsoft.com/office/drawing/2014/main" id="{9E1D52E5-003D-4B1A-86A3-9CFBCC9C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210" y="4059936"/>
            <a:ext cx="1627632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850"/>
              <a:buFont typeface="Calibri"/>
              <a:buNone/>
            </a:pPr>
            <a:r>
              <a:rPr sz="8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Document SOP updates</a:t>
            </a:r>
          </a:p>
        </p:txBody>
      </p:sp>
      <p:sp>
        <p:nvSpPr>
          <p:cNvPr id="415" name="Google Shape;415;p10">
            <a:extLst xmlns:a="http://schemas.openxmlformats.org/drawingml/2006/main">
              <a:ext uri="{FF2B5EF4-FFF2-40B4-BE49-F238E27FC236}">
                <a16:creationId xmlns:a16="http://schemas.microsoft.com/office/drawing/2014/main" id="{59B760F8-10BB-47F5-984E-2CDD01AA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5795386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1" name="Google Shape;421;p11">
            <a:extLst xmlns:a="http://schemas.openxmlformats.org/drawingml/2006/main">
              <a:ext uri="{FF2B5EF4-FFF2-40B4-BE49-F238E27FC236}">
                <a16:creationId xmlns:a16="http://schemas.microsoft.com/office/drawing/2014/main" id="{CA37494A-4078-41AA-AC18-E7FF2B6D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 b="1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9 · THE 10-SECOND VIEW</a:t>
            </a:r>
          </a:p>
        </p:txBody>
      </p:sp>
      <p:sp>
        <p:nvSpPr>
          <p:cNvPr id="422" name="Google Shape;422;p11">
            <a:extLst xmlns:a="http://schemas.openxmlformats.org/drawingml/2006/main">
              <a:ext uri="{FF2B5EF4-FFF2-40B4-BE49-F238E27FC236}">
                <a16:creationId xmlns:a16="http://schemas.microsoft.com/office/drawing/2014/main" id="{F93480FB-4F65-43A0-8F9A-FAE811E3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035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18181F"/>
              </a:buClr>
              <a:buSzPts val="2700"/>
              <a:buFont typeface="Cambria"/>
              <a:buNone/>
            </a:pPr>
            <a:r>
              <a:rPr sz="2700" b="1">
                <a:solidFill>
                  <a:srgbClr val="18181F"/>
                </a:solidFill>
                <a:latin typeface="Cambria"/>
                <a:ea typeface="Cambria"/>
                <a:cs typeface="Cambria"/>
              </a:rPr>
              <a:t>If you only remember four things</a:t>
            </a:r>
          </a:p>
        </p:txBody>
      </p:sp>
      <p:sp>
        <p:nvSpPr>
          <p:cNvPr id="423" name="Google Shape;423;p11">
            <a:extLst xmlns:a="http://schemas.openxmlformats.org/drawingml/2006/main">
              <a:ext uri="{FF2B5EF4-FFF2-40B4-BE49-F238E27FC236}">
                <a16:creationId xmlns:a16="http://schemas.microsoft.com/office/drawing/2014/main" id="{CDC83A45-1695-459D-B64D-4541922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0507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4" name="Google Shape;424;p11">
            <a:extLst xmlns:a="http://schemas.openxmlformats.org/drawingml/2006/main">
              <a:ext uri="{FF2B5EF4-FFF2-40B4-BE49-F238E27FC236}">
                <a16:creationId xmlns:a16="http://schemas.microsoft.com/office/drawing/2014/main" id="{DB4FCEDA-AA85-462B-AAAF-611AB1B8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16736"/>
            <a:ext cx="36484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sz="90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WHAT VALUE DOES PROMO BRING?</a:t>
            </a:r>
          </a:p>
        </p:txBody>
      </p:sp>
      <p:sp>
        <p:nvSpPr>
          <p:cNvPr id="425" name="Google Shape;425;p11">
            <a:extLst xmlns:a="http://schemas.openxmlformats.org/drawingml/2006/main">
              <a:ext uri="{FF2B5EF4-FFF2-40B4-BE49-F238E27FC236}">
                <a16:creationId xmlns:a16="http://schemas.microsoft.com/office/drawing/2014/main" id="{95AA0734-7DF0-44CE-A3EC-47FB4551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1">
            <a:extLst xmlns:a="http://schemas.openxmlformats.org/drawingml/2006/main">
              <a:ext uri="{FF2B5EF4-FFF2-40B4-BE49-F238E27FC236}">
                <a16:creationId xmlns:a16="http://schemas.microsoft.com/office/drawing/2014/main" id="{A419127C-3353-4ECD-93D9-8445349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609344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Targeted campaign execution across platforms</a:t>
            </a:r>
          </a:p>
        </p:txBody>
      </p:sp>
      <p:sp>
        <p:nvSpPr>
          <p:cNvPr id="427" name="Google Shape;427;p11">
            <a:extLst xmlns:a="http://schemas.openxmlformats.org/drawingml/2006/main">
              <a:ext uri="{FF2B5EF4-FFF2-40B4-BE49-F238E27FC236}">
                <a16:creationId xmlns:a16="http://schemas.microsoft.com/office/drawing/2014/main" id="{752E92C8-C0F2-4098-913A-0DFEF3EC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7053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8" name="Google Shape;428;p11">
            <a:extLst xmlns:a="http://schemas.openxmlformats.org/drawingml/2006/main">
              <a:ext uri="{FF2B5EF4-FFF2-40B4-BE49-F238E27FC236}">
                <a16:creationId xmlns:a16="http://schemas.microsoft.com/office/drawing/2014/main" id="{A2D098F1-25A4-4D7E-9895-B481197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1915668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QC and governance before promos go live</a:t>
            </a:r>
          </a:p>
        </p:txBody>
      </p:sp>
      <p:sp>
        <p:nvSpPr>
          <p:cNvPr id="429" name="Google Shape;429;p11">
            <a:extLst xmlns:a="http://schemas.openxmlformats.org/drawingml/2006/main">
              <a:ext uri="{FF2B5EF4-FFF2-40B4-BE49-F238E27FC236}">
                <a16:creationId xmlns:a16="http://schemas.microsoft.com/office/drawing/2014/main" id="{2BB302BD-1B7D-4AE5-8304-95A893D2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7685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0" name="Google Shape;430;p11">
            <a:extLst xmlns:a="http://schemas.openxmlformats.org/drawingml/2006/main">
              <a:ext uri="{FF2B5EF4-FFF2-40B4-BE49-F238E27FC236}">
                <a16:creationId xmlns:a16="http://schemas.microsoft.com/office/drawing/2014/main" id="{16D85914-89A5-4EC3-8FA9-F67A49F5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21992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Automation with control — not just speed</a:t>
            </a:r>
          </a:p>
        </p:txBody>
      </p:sp>
      <p:sp>
        <p:nvSpPr>
          <p:cNvPr id="431" name="Google Shape;431;p11">
            <a:extLst xmlns:a="http://schemas.openxmlformats.org/drawingml/2006/main">
              <a:ext uri="{FF2B5EF4-FFF2-40B4-BE49-F238E27FC236}">
                <a16:creationId xmlns:a16="http://schemas.microsoft.com/office/drawing/2014/main" id="{12EAACA0-74AD-4F4E-875E-055EC606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831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2" name="Google Shape;432;p11">
            <a:extLst xmlns:a="http://schemas.openxmlformats.org/drawingml/2006/main">
              <a:ext uri="{FF2B5EF4-FFF2-40B4-BE49-F238E27FC236}">
                <a16:creationId xmlns:a16="http://schemas.microsoft.com/office/drawing/2014/main" id="{FCE938CE-4470-4F0D-9FEF-7F3EE02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8316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Promo data and visibility for management</a:t>
            </a:r>
          </a:p>
        </p:txBody>
      </p:sp>
      <p:sp>
        <p:nvSpPr>
          <p:cNvPr id="433" name="Google Shape;433;p11">
            <a:extLst xmlns:a="http://schemas.openxmlformats.org/drawingml/2006/main">
              <a:ext uri="{FF2B5EF4-FFF2-40B4-BE49-F238E27FC236}">
                <a16:creationId xmlns:a16="http://schemas.microsoft.com/office/drawing/2014/main" id="{942634BB-1A03-4587-AF9B-CCCEB04A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1188720"/>
            <a:ext cx="40507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4" name="Google Shape;434;p11">
            <a:extLst xmlns:a="http://schemas.openxmlformats.org/drawingml/2006/main">
              <a:ext uri="{FF2B5EF4-FFF2-40B4-BE49-F238E27FC236}">
                <a16:creationId xmlns:a16="http://schemas.microsoft.com/office/drawing/2014/main" id="{08ED1AC7-2BB5-4229-A8AD-AFF503CE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316736"/>
            <a:ext cx="36484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sz="90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HOW DOES PROMO REDUCE COST?</a:t>
            </a:r>
          </a:p>
        </p:txBody>
      </p:sp>
      <p:sp>
        <p:nvSpPr>
          <p:cNvPr id="435" name="Google Shape;435;p11">
            <a:extLst xmlns:a="http://schemas.openxmlformats.org/drawingml/2006/main">
              <a:ext uri="{FF2B5EF4-FFF2-40B4-BE49-F238E27FC236}">
                <a16:creationId xmlns:a16="http://schemas.microsoft.com/office/drawing/2014/main" id="{C134EECC-EB50-40A8-AB8F-FA51A0C7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66420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6" name="Google Shape;436;p11">
            <a:extLst xmlns:a="http://schemas.openxmlformats.org/drawingml/2006/main">
              <a:ext uri="{FF2B5EF4-FFF2-40B4-BE49-F238E27FC236}">
                <a16:creationId xmlns:a16="http://schemas.microsoft.com/office/drawing/2014/main" id="{42A39D96-EBAA-430B-8BCF-E68B078F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609344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Cap audit cuts over-capped bonus liability</a:t>
            </a:r>
          </a:p>
        </p:txBody>
      </p:sp>
      <p:sp>
        <p:nvSpPr>
          <p:cNvPr id="437" name="Google Shape;437;p11">
            <a:extLst xmlns:a="http://schemas.openxmlformats.org/drawingml/2006/main">
              <a:ext uri="{FF2B5EF4-FFF2-40B4-BE49-F238E27FC236}">
                <a16:creationId xmlns:a16="http://schemas.microsoft.com/office/drawing/2014/main" id="{C3964831-1307-47CA-8EEB-07BCF87C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97053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8" name="Google Shape;438;p11">
            <a:extLst xmlns:a="http://schemas.openxmlformats.org/drawingml/2006/main">
              <a:ext uri="{FF2B5EF4-FFF2-40B4-BE49-F238E27FC236}">
                <a16:creationId xmlns:a16="http://schemas.microsoft.com/office/drawing/2014/main" id="{E9E3B551-DF76-48AF-A1A8-3D915B2E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1915668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Abuse control removes low-value claims</a:t>
            </a:r>
          </a:p>
        </p:txBody>
      </p:sp>
      <p:sp>
        <p:nvSpPr>
          <p:cNvPr id="439" name="Google Shape;439;p11">
            <a:extLst xmlns:a="http://schemas.openxmlformats.org/drawingml/2006/main">
              <a:ext uri="{FF2B5EF4-FFF2-40B4-BE49-F238E27FC236}">
                <a16:creationId xmlns:a16="http://schemas.microsoft.com/office/drawing/2014/main" id="{7AC089A3-1419-4F59-9F11-4C1C41AC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276856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0" name="Google Shape;440;p11">
            <a:extLst xmlns:a="http://schemas.openxmlformats.org/drawingml/2006/main">
              <a:ext uri="{FF2B5EF4-FFF2-40B4-BE49-F238E27FC236}">
                <a16:creationId xmlns:a16="http://schemas.microsoft.com/office/drawing/2014/main" id="{2BB290D6-0676-4B9B-9D0C-944D2205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221992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Duplicate and legacy cleanup</a:t>
            </a:r>
          </a:p>
        </p:txBody>
      </p:sp>
      <p:sp>
        <p:nvSpPr>
          <p:cNvPr id="441" name="Google Shape;441;p11">
            <a:extLst xmlns:a="http://schemas.openxmlformats.org/drawingml/2006/main">
              <a:ext uri="{FF2B5EF4-FFF2-40B4-BE49-F238E27FC236}">
                <a16:creationId xmlns:a16="http://schemas.microsoft.com/office/drawing/2014/main" id="{7EEA0D64-F8C5-474D-BCD6-4E91C0B1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258318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2" name="Google Shape;442;p11">
            <a:extLst xmlns:a="http://schemas.openxmlformats.org/drawingml/2006/main">
              <a:ext uri="{FF2B5EF4-FFF2-40B4-BE49-F238E27FC236}">
                <a16:creationId xmlns:a16="http://schemas.microsoft.com/office/drawing/2014/main" id="{86266E0E-F368-4FC3-BA1A-91E947D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528316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Stronger QC reduces live errors</a:t>
            </a:r>
          </a:p>
        </p:txBody>
      </p:sp>
      <p:sp>
        <p:nvSpPr>
          <p:cNvPr id="443" name="Google Shape;443;p11">
            <a:extLst xmlns:a="http://schemas.openxmlformats.org/drawingml/2006/main">
              <a:ext uri="{FF2B5EF4-FFF2-40B4-BE49-F238E27FC236}">
                <a16:creationId xmlns:a16="http://schemas.microsoft.com/office/drawing/2014/main" id="{F4CCAEEC-ADBB-490E-9697-03156BC3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4952"/>
            <a:ext cx="40507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4" name="Google Shape;444;p11">
            <a:extLst xmlns:a="http://schemas.openxmlformats.org/drawingml/2006/main">
              <a:ext uri="{FF2B5EF4-FFF2-40B4-BE49-F238E27FC236}">
                <a16:creationId xmlns:a16="http://schemas.microsoft.com/office/drawing/2014/main" id="{F4B78F48-07E3-44CC-9B66-B3C3CBBF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172968"/>
            <a:ext cx="36484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sz="90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HOW DOES PROMO SUPPORT REVENUE?</a:t>
            </a:r>
          </a:p>
        </p:txBody>
      </p:sp>
      <p:sp>
        <p:nvSpPr>
          <p:cNvPr id="445" name="Google Shape;445;p11">
            <a:extLst xmlns:a="http://schemas.openxmlformats.org/drawingml/2006/main">
              <a:ext uri="{FF2B5EF4-FFF2-40B4-BE49-F238E27FC236}">
                <a16:creationId xmlns:a16="http://schemas.microsoft.com/office/drawing/2014/main" id="{69B55501-4A92-49C0-8703-627DBDF2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204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6" name="Google Shape;446;p11">
            <a:extLst xmlns:a="http://schemas.openxmlformats.org/drawingml/2006/main">
              <a:ext uri="{FF2B5EF4-FFF2-40B4-BE49-F238E27FC236}">
                <a16:creationId xmlns:a16="http://schemas.microsoft.com/office/drawing/2014/main" id="{4B30D6FF-B685-4692-A8EB-582F2EA7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465576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Monthly reactivation of lapsed players</a:t>
            </a:r>
          </a:p>
        </p:txBody>
      </p:sp>
      <p:sp>
        <p:nvSpPr>
          <p:cNvPr id="447" name="Google Shape;447;p11">
            <a:extLst xmlns:a="http://schemas.openxmlformats.org/drawingml/2006/main">
              <a:ext uri="{FF2B5EF4-FFF2-40B4-BE49-F238E27FC236}">
                <a16:creationId xmlns:a16="http://schemas.microsoft.com/office/drawing/2014/main" id="{3BD785AE-E5EF-4A82-B1A8-3570B137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267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8" name="Google Shape;448;p11">
            <a:extLst xmlns:a="http://schemas.openxmlformats.org/drawingml/2006/main">
              <a:ext uri="{FF2B5EF4-FFF2-40B4-BE49-F238E27FC236}">
                <a16:creationId xmlns:a16="http://schemas.microsoft.com/office/drawing/2014/main" id="{772D1013-65FF-4AAC-96B5-73098EDE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71900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Segment campaigns matched to behaviour</a:t>
            </a:r>
          </a:p>
        </p:txBody>
      </p:sp>
      <p:sp>
        <p:nvSpPr>
          <p:cNvPr id="449" name="Google Shape;449;p11">
            <a:extLst xmlns:a="http://schemas.openxmlformats.org/drawingml/2006/main">
              <a:ext uri="{FF2B5EF4-FFF2-40B4-BE49-F238E27FC236}">
                <a16:creationId xmlns:a16="http://schemas.microsoft.com/office/drawing/2014/main" id="{B92D38C7-D0F0-4318-9F05-8BD7080E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1330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0" name="Google Shape;450;p11">
            <a:extLst xmlns:a="http://schemas.openxmlformats.org/drawingml/2006/main">
              <a:ext uri="{FF2B5EF4-FFF2-40B4-BE49-F238E27FC236}">
                <a16:creationId xmlns:a16="http://schemas.microsoft.com/office/drawing/2014/main" id="{378777EF-FE0B-4768-B7B7-6B00D6E6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78224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Cross-product bridging</a:t>
            </a:r>
          </a:p>
        </p:txBody>
      </p:sp>
      <p:sp>
        <p:nvSpPr>
          <p:cNvPr id="451" name="Google Shape;451;p11">
            <a:extLst xmlns:a="http://schemas.openxmlformats.org/drawingml/2006/main">
              <a:ext uri="{FF2B5EF4-FFF2-40B4-BE49-F238E27FC236}">
                <a16:creationId xmlns:a16="http://schemas.microsoft.com/office/drawing/2014/main" id="{BA23A302-505C-43A1-ABE5-FDA73356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43941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2" name="Google Shape;452;p11">
            <a:extLst xmlns:a="http://schemas.openxmlformats.org/drawingml/2006/main">
              <a:ext uri="{FF2B5EF4-FFF2-40B4-BE49-F238E27FC236}">
                <a16:creationId xmlns:a16="http://schemas.microsoft.com/office/drawing/2014/main" id="{E72398F0-AC52-4F5C-8D91-100BA549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384548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Attribution model (Phase 3) to prove impact</a:t>
            </a:r>
          </a:p>
        </p:txBody>
      </p:sp>
      <p:sp>
        <p:nvSpPr>
          <p:cNvPr id="453" name="Google Shape;453;p11">
            <a:extLst xmlns:a="http://schemas.openxmlformats.org/drawingml/2006/main">
              <a:ext uri="{FF2B5EF4-FFF2-40B4-BE49-F238E27FC236}">
                <a16:creationId xmlns:a16="http://schemas.microsoft.com/office/drawing/2014/main" id="{9A4FE66D-FAF7-42B7-8C64-D679BD5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44952"/>
            <a:ext cx="4050792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E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4" name="Google Shape;454;p11">
            <a:extLst xmlns:a="http://schemas.openxmlformats.org/drawingml/2006/main">
              <a:ext uri="{FF2B5EF4-FFF2-40B4-BE49-F238E27FC236}">
                <a16:creationId xmlns:a16="http://schemas.microsoft.com/office/drawing/2014/main" id="{F71B29CB-0072-4779-A804-96FF8F3F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172968"/>
            <a:ext cx="3648456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A6C35"/>
              </a:buClr>
              <a:buSzPts val="900"/>
              <a:buFont typeface="Calibri"/>
              <a:buNone/>
            </a:pPr>
            <a:r>
              <a:rPr sz="900" b="1">
                <a:solidFill>
                  <a:srgbClr val="8A6C35"/>
                </a:solidFill>
                <a:latin typeface="Calibri"/>
                <a:ea typeface="Calibri"/>
                <a:cs typeface="Calibri"/>
              </a:rPr>
              <a:t>WHAT IS THE NEXT STEP?</a:t>
            </a:r>
          </a:p>
        </p:txBody>
      </p:sp>
      <p:sp>
        <p:nvSpPr>
          <p:cNvPr id="455" name="Google Shape;455;p11">
            <a:extLst xmlns:a="http://schemas.openxmlformats.org/drawingml/2006/main">
              <a:ext uri="{FF2B5EF4-FFF2-40B4-BE49-F238E27FC236}">
                <a16:creationId xmlns:a16="http://schemas.microsoft.com/office/drawing/2014/main" id="{AE73E4ED-E1C6-4A12-AC03-4FAD5F1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520440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6" name="Google Shape;456;p11">
            <a:extLst xmlns:a="http://schemas.openxmlformats.org/drawingml/2006/main">
              <a:ext uri="{FF2B5EF4-FFF2-40B4-BE49-F238E27FC236}">
                <a16:creationId xmlns:a16="http://schemas.microsoft.com/office/drawing/2014/main" id="{CCB6103F-7265-4CF2-AFB4-AAA5A939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465576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Approve request template + quality gate</a:t>
            </a:r>
          </a:p>
        </p:txBody>
      </p:sp>
      <p:sp>
        <p:nvSpPr>
          <p:cNvPr id="457" name="Google Shape;457;p11">
            <a:extLst xmlns:a="http://schemas.openxmlformats.org/drawingml/2006/main">
              <a:ext uri="{FF2B5EF4-FFF2-40B4-BE49-F238E27FC236}">
                <a16:creationId xmlns:a16="http://schemas.microsoft.com/office/drawing/2014/main" id="{C2BACC8B-4D77-45DD-962F-00D40D29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826764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58" name="Google Shape;458;p11">
            <a:extLst xmlns:a="http://schemas.openxmlformats.org/drawingml/2006/main">
              <a:ext uri="{FF2B5EF4-FFF2-40B4-BE49-F238E27FC236}">
                <a16:creationId xmlns:a16="http://schemas.microsoft.com/office/drawing/2014/main" id="{A378C690-E2F6-4CCC-A083-2CF6A74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3771900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Approve cap audit + sunset review</a:t>
            </a:r>
          </a:p>
        </p:txBody>
      </p:sp>
      <p:sp>
        <p:nvSpPr>
          <p:cNvPr id="459" name="Google Shape;459;p11">
            <a:extLst xmlns:a="http://schemas.openxmlformats.org/drawingml/2006/main">
              <a:ext uri="{FF2B5EF4-FFF2-40B4-BE49-F238E27FC236}">
                <a16:creationId xmlns:a16="http://schemas.microsoft.com/office/drawing/2014/main" id="{C07C4278-470B-4D72-9C59-D65CEEFD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4133088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0" name="Google Shape;460;p11">
            <a:extLst xmlns:a="http://schemas.openxmlformats.org/drawingml/2006/main">
              <a:ext uri="{FF2B5EF4-FFF2-40B4-BE49-F238E27FC236}">
                <a16:creationId xmlns:a16="http://schemas.microsoft.com/office/drawing/2014/main" id="{D091AB1C-90C2-47B4-9A42-BD7B343E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4078224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Support two controlled pilots in week three</a:t>
            </a:r>
          </a:p>
        </p:txBody>
      </p:sp>
      <p:sp>
        <p:nvSpPr>
          <p:cNvPr id="461" name="Google Shape;461;p11">
            <a:extLst xmlns:a="http://schemas.openxmlformats.org/drawingml/2006/main">
              <a:ext uri="{FF2B5EF4-FFF2-40B4-BE49-F238E27FC236}">
                <a16:creationId xmlns:a16="http://schemas.microsoft.com/office/drawing/2014/main" id="{3F9C2509-7486-4A61-B316-B6984F64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4439412"/>
            <a:ext cx="64008" cy="64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2" name="Google Shape;462;p11">
            <a:extLst xmlns:a="http://schemas.openxmlformats.org/drawingml/2006/main">
              <a:ext uri="{FF2B5EF4-FFF2-40B4-BE49-F238E27FC236}">
                <a16:creationId xmlns:a16="http://schemas.microsoft.com/office/drawing/2014/main" id="{002F34DB-921F-4985-9F59-2B872D5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4384548"/>
            <a:ext cx="352044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4A4A56"/>
              </a:buClr>
              <a:buSzPts val="950"/>
              <a:buFont typeface="Calibri"/>
              <a:buNone/>
            </a:pPr>
            <a:r>
              <a:rPr sz="950">
                <a:solidFill>
                  <a:srgbClr val="4A4A56"/>
                </a:solidFill>
                <a:latin typeface="Calibri"/>
                <a:ea typeface="Calibri"/>
                <a:cs typeface="Calibri"/>
              </a:rPr>
              <a:t>Commit to post-campaign data sharing</a:t>
            </a:r>
          </a:p>
        </p:txBody>
      </p:sp>
      <p:sp>
        <p:nvSpPr>
          <p:cNvPr id="463" name="Google Shape;463;p11">
            <a:extLst xmlns:a="http://schemas.openxmlformats.org/drawingml/2006/main">
              <a:ext uri="{FF2B5EF4-FFF2-40B4-BE49-F238E27FC236}">
                <a16:creationId xmlns:a16="http://schemas.microsoft.com/office/drawing/2014/main" id="{EA8583A8-E745-477A-93B9-7F87281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846320"/>
            <a:ext cx="7772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850"/>
              <a:buFont typeface="Calibri"/>
              <a:buNone/>
            </a:pPr>
            <a:r>
              <a:rPr sz="85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904692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18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9" name="Google Shape;469;p12">
            <a:extLst xmlns:a="http://schemas.openxmlformats.org/drawingml/2006/main">
              <a:ext uri="{FF2B5EF4-FFF2-40B4-BE49-F238E27FC236}">
                <a16:creationId xmlns:a16="http://schemas.microsoft.com/office/drawing/2014/main" id="{E3CE9772-783D-4585-BCE0-542EF86E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720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950"/>
              <a:buFont typeface="Calibri"/>
              <a:buNone/>
            </a:pPr>
            <a:r>
              <a:rPr sz="950" b="1">
                <a:solidFill>
                  <a:srgbClr val="B5924A"/>
                </a:solidFill>
                <a:latin typeface="Calibri"/>
                <a:ea typeface="Calibri"/>
                <a:cs typeface="Calibri"/>
              </a:rPr>
              <a:t>IN THE ROOM</a:t>
            </a:r>
          </a:p>
        </p:txBody>
      </p:sp>
      <p:sp>
        <p:nvSpPr>
          <p:cNvPr id="470" name="Google Shape;470;p12">
            <a:extLst xmlns:a="http://schemas.openxmlformats.org/drawingml/2006/main">
              <a:ext uri="{FF2B5EF4-FFF2-40B4-BE49-F238E27FC236}">
                <a16:creationId xmlns:a16="http://schemas.microsoft.com/office/drawing/2014/main" id="{D4057639-237A-43C5-92E5-34D323E4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13232"/>
            <a:ext cx="73152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sz="2800" i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Talking points</a:t>
            </a:r>
          </a:p>
        </p:txBody>
      </p:sp>
      <p:sp>
        <p:nvSpPr>
          <p:cNvPr id="471" name="Google Shape;471;p12">
            <a:extLst xmlns:a="http://schemas.openxmlformats.org/drawingml/2006/main">
              <a:ext uri="{FF2B5EF4-FFF2-40B4-BE49-F238E27FC236}">
                <a16:creationId xmlns:a16="http://schemas.microsoft.com/office/drawing/2014/main" id="{F325E040-173E-4EFB-9B6D-9E7B900B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8191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2" name="Google Shape;472;p12">
            <a:extLst xmlns:a="http://schemas.openxmlformats.org/drawingml/2006/main">
              <a:ext uri="{FF2B5EF4-FFF2-40B4-BE49-F238E27FC236}">
                <a16:creationId xmlns:a16="http://schemas.microsoft.com/office/drawing/2014/main" id="{1DF281B7-2733-4043-91B8-CAA3A73B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481328"/>
            <a:ext cx="76809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sz="1350" i="1">
                <a:solidFill>
                  <a:srgbClr val="D8D6D2"/>
                </a:solidFill>
                <a:latin typeface="Cambria"/>
                <a:ea typeface="Cambria"/>
                <a:cs typeface="Cambria"/>
              </a:rPr>
              <a:t>“Promo adds more value when we are involved in campaign structure, QC, cost control, and performance review — not just execution.”</a:t>
            </a:r>
          </a:p>
        </p:txBody>
      </p:sp>
      <p:sp>
        <p:nvSpPr>
          <p:cNvPr id="473" name="Google Shape;473;p12">
            <a:extLst xmlns:a="http://schemas.openxmlformats.org/drawingml/2006/main">
              <a:ext uri="{FF2B5EF4-FFF2-40B4-BE49-F238E27FC236}">
                <a16:creationId xmlns:a16="http://schemas.microsoft.com/office/drawing/2014/main" id="{C8AC6944-4A45-49CD-AD9C-11B4FE1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386584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4" name="Google Shape;474;p12">
            <a:extLst xmlns:a="http://schemas.openxmlformats.org/drawingml/2006/main">
              <a:ext uri="{FF2B5EF4-FFF2-40B4-BE49-F238E27FC236}">
                <a16:creationId xmlns:a16="http://schemas.microsoft.com/office/drawing/2014/main" id="{CCC28197-139A-4B98-9E7C-DA8E727B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86000"/>
            <a:ext cx="76809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sz="1350" i="1">
                <a:solidFill>
                  <a:srgbClr val="D8D6D2"/>
                </a:solidFill>
                <a:latin typeface="Cambria"/>
                <a:ea typeface="Cambria"/>
                <a:cs typeface="Cambria"/>
              </a:rPr>
              <a:t>“June showed that speed without control creates risk. Our next focus is stronger QC, exception tracking, and dashboard visibility — before we scale further.”</a:t>
            </a:r>
          </a:p>
        </p:txBody>
      </p:sp>
      <p:sp>
        <p:nvSpPr>
          <p:cNvPr id="475" name="Google Shape;475;p12">
            <a:extLst xmlns:a="http://schemas.openxmlformats.org/drawingml/2006/main">
              <a:ext uri="{FF2B5EF4-FFF2-40B4-BE49-F238E27FC236}">
                <a16:creationId xmlns:a16="http://schemas.microsoft.com/office/drawing/2014/main" id="{6DECE782-20B3-4C4F-A76A-F9EC1682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191256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92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6" name="Google Shape;476;p12">
            <a:extLst xmlns:a="http://schemas.openxmlformats.org/drawingml/2006/main">
              <a:ext uri="{FF2B5EF4-FFF2-40B4-BE49-F238E27FC236}">
                <a16:creationId xmlns:a16="http://schemas.microsoft.com/office/drawing/2014/main" id="{16DDA715-8F9E-43E2-9C93-A292A7EB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768096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6D2"/>
              </a:buClr>
              <a:buSzPts val="1350"/>
              <a:buFont typeface="Cambria"/>
              <a:buNone/>
            </a:pPr>
            <a:r>
              <a:rPr sz="1350" i="1">
                <a:solidFill>
                  <a:srgbClr val="D8D6D2"/>
                </a:solidFill>
                <a:latin typeface="Cambria"/>
                <a:ea typeface="Cambria"/>
                <a:cs typeface="Cambria"/>
              </a:rPr>
              <a:t>“The goal is not more promos. It is promos that are measurable, less wasteful, and connected to deposit behaviour.”</a:t>
            </a:r>
          </a:p>
        </p:txBody>
      </p:sp>
      <p:cxnSp>
        <p:nvCxnSpPr>
          <p:cNvPr id="497" name="Google Shape;477;p12"/>
          <p:cNvCxnSpPr/>
          <p:nvPr/>
        </p:nvCxnSpPr>
        <p:spPr>
          <a:xfrm xmlns:a="http://schemas.openxmlformats.org/drawingml/2006/main">
            <a:off x="502920" y="4041648"/>
            <a:ext cx="81381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A3A4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8" name="Google Shape;478;p12">
            <a:extLst xmlns:a="http://schemas.openxmlformats.org/drawingml/2006/main">
              <a:ext uri="{FF2B5EF4-FFF2-40B4-BE49-F238E27FC236}">
                <a16:creationId xmlns:a16="http://schemas.microsoft.com/office/drawing/2014/main" id="{971E2A89-A587-429C-B51A-823A75DF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87952"/>
            <a:ext cx="81381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B5924A"/>
              </a:buClr>
              <a:buSzPts val="1200"/>
              <a:buFont typeface="Calibri"/>
              <a:buNone/>
            </a:pPr>
            <a:r>
              <a:rPr sz="1200" b="1">
                <a:solidFill>
                  <a:srgbClr val="B5924A"/>
                </a:solidFill>
                <a:latin typeface="Calibri"/>
                <a:ea typeface="Calibri"/>
                <a:cs typeface="Calibri"/>
              </a:rPr>
              <a:t>Volume → value.  </a:t>
            </a:r>
            <a:r>
              <a:rPr sz="1200">
                <a:solidFill>
                  <a:srgbClr val="D8D6D2"/>
                </a:solidFill>
                <a:latin typeface="Calibri"/>
                <a:ea typeface="Calibri"/>
                <a:cs typeface="Calibri"/>
              </a:rPr>
              <a:t>That starts with clearer briefs from Sales and a post-campaign data-sharing agreement.</a:t>
            </a:r>
          </a:p>
        </p:txBody>
      </p:sp>
      <p:sp>
        <p:nvSpPr>
          <p:cNvPr id="479" name="Google Shape;479;p12">
            <a:extLst xmlns:a="http://schemas.openxmlformats.org/drawingml/2006/main">
              <a:ext uri="{FF2B5EF4-FFF2-40B4-BE49-F238E27FC236}">
                <a16:creationId xmlns:a16="http://schemas.microsoft.com/office/drawing/2014/main" id="{C42C5557-4C00-44ED-BA81-7B9EAB00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1728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8C8C98"/>
              </a:buClr>
              <a:buSzPts val="900"/>
              <a:buFont typeface="Calibri"/>
              <a:buNone/>
            </a:pPr>
            <a:r>
              <a:rPr sz="900">
                <a:solidFill>
                  <a:srgbClr val="8C8C98"/>
                </a:solidFill>
                <a:latin typeface="Calibri"/>
                <a:ea typeface="Calibri"/>
                <a:cs typeface="Calibri"/>
              </a:rPr>
              <a:t>Promo Department · Value Creation Framework · July 2026</a:t>
            </a:r>
          </a:p>
        </p:txBody>
      </p:sp>
    </p:spTree>
    <p:extLst>
      <p:ext uri="{BB962C8B-B14F-4D97-AF65-F5344CB8AC3E}">
        <p14:creationId xmlns:p14="http://schemas.microsoft.com/office/powerpoint/2010/main" val="4160945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2026-07-21T10:32:11.7600000Z</dcterms:created>
  <dcterms:modified xsi:type="dcterms:W3CDTF">2026-07-21T10:32:11.7600000Z</dcterms:modified>
</coreProperties>
</file>