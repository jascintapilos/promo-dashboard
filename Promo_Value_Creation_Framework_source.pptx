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WszbWGlzVSfQ+oVFxi028WMWq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67DB63-B682-4F3D-A2F8-1A38E2159944}">
  <a:tblStyle styleId="{9867DB63-B682-4F3D-A2F8-1A38E215994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Frame: Promo moved under Sales — this session is about how Promo contributes to business outcomes, not just task execution. Three goals: increase promotion effectiveness, decrease promo cost, increase revenue.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Five-point story: broader role, less waste, revenue support, control before scale, and a measurable operating system. Be honest on June — it was the trigger to strengthen controls, and cleanup is already underway.</a:t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slide view of the whole framework. Goal A = effectiveness, Goal B = cost, Goal C = revenue. Each pillar has practical actions and a measurement basis — nothing here is theoretical.</a:t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Initiatives 1–5: quality gate, segmentation, reactivation, cap audit, sunset list. Note the effort/impact balance — most are low effort. Metrics are defined upfront for every initiative.</a:t>
            </a:r>
            <a:endParaRPr/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Initiatives 6–10: abuse control, calendar timing, dashboard, automation exception log, post-mortems. The exception log responds directly to June. Post-mortems close the loop so campaign learnings compound.</a:t>
            </a:r>
            <a:endParaRPr/>
          </a:p>
        </p:txBody>
      </p:sp>
      <p:sp>
        <p:nvSpPr>
          <p:cNvPr id="162" name="Google Shape;16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Sequencing logic: control and cleanup first (all seven Now items use existing data), campaign work once Sales alignment is in place, and revenue tracking last because it depends on a data-sharing agreement. Q2 items are deliberately not promised early.</a:t>
            </a:r>
            <a:endParaRPr/>
          </a:p>
        </p:txBody>
      </p:sp>
      <p:sp>
        <p:nvSpPr>
          <p:cNvPr id="211" name="Google Shape;21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Google Shape;26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ask of Sales, framed constructively: nine inputs. Emphasise #9 — post-campaign result sharing is the single input that unlocks all revenue measurement. Numbers 1, 2 and 6 fix most of the rework today.</a:t>
            </a:r>
            <a:endParaRPr/>
          </a:p>
        </p:txBody>
      </p:sp>
      <p:sp>
        <p:nvSpPr>
          <p:cNvPr id="268" name="Google Shape;26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 metric families. Operational metrics we can start measuring immediately; cost metrics as audits are approved; revenue metrics only become credible once Sales shares deposit data. Say clearly: no ROI claims until attribution is live.</a:t>
            </a:r>
            <a:endParaRPr/>
          </a:p>
        </p:txBody>
      </p:sp>
      <p:sp>
        <p:nvSpPr>
          <p:cNvPr id="313" name="Google Shape;31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9" name="Google Shape;34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Purpose of this slide: show management the risks are already understood and each has a concrete mitigation. Highlight the automation and overpromising rows — those two demonstrate self-awareness after June.</a:t>
            </a:r>
            <a:endParaRPr/>
          </a:p>
        </p:txBody>
      </p:sp>
      <p:sp>
        <p:nvSpPr>
          <p:cNvPr id="350" name="Google Shape;35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8" name="Google Shape;35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Realistic 30-day plan. Weeks 1–2 are alignment, audits and the dashboard skeleton; pilots only start week 3 once the quality gate and exception log exist. Week 4 ends with a management snapshot and a decision on what becomes monthly rhythm.</a:t>
            </a:r>
            <a:endParaRPr/>
          </a:p>
        </p:txBody>
      </p:sp>
      <p:sp>
        <p:nvSpPr>
          <p:cNvPr id="359" name="Google Shape;35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8" name="Google Shape;41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Closing summary — usable as the leave-behind. Four questions management will ask: value, cost, revenue, next step. Each answer is four lines.</a:t>
            </a:r>
            <a:endParaRPr/>
          </a:p>
        </p:txBody>
      </p:sp>
      <p:sp>
        <p:nvSpPr>
          <p:cNvPr id="419" name="Google Shape;419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6" name="Google Shape;46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Close with the ask: (1) agree the request template and campaign objectives, (2) commit to post-campaign deposit data sharing, (3) support the Now-phase audits. Everything else in the plan follows from those three.</a:t>
            </a:r>
            <a:endParaRPr/>
          </a:p>
        </p:txBody>
      </p:sp>
      <p:sp>
        <p:nvSpPr>
          <p:cNvPr id="467" name="Google Shape;467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5577840" y="640080"/>
            <a:ext cx="3108960" cy="3108960"/>
          </a:xfrm>
          <a:prstGeom prst="ellipse">
            <a:avLst/>
          </a:prstGeom>
          <a:solidFill>
            <a:srgbClr val="B5924A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6675120" y="1737360"/>
            <a:ext cx="2194560" cy="2194560"/>
          </a:xfrm>
          <a:prstGeom prst="ellipse">
            <a:avLst/>
          </a:prstGeom>
          <a:solidFill>
            <a:srgbClr val="B5924A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7452360" y="2606040"/>
            <a:ext cx="1234440" cy="1234440"/>
          </a:xfrm>
          <a:prstGeom prst="ellipse">
            <a:avLst/>
          </a:prstGeom>
          <a:solidFill>
            <a:srgbClr val="B5924A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502920" y="123444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5924A"/>
                </a:solidFill>
                <a:latin typeface="Calibri"/>
                <a:ea typeface="Calibri"/>
                <a:cs typeface="Calibri"/>
                <a:sym typeface="Calibri"/>
              </a:rPr>
              <a:t>PROMO DEPARTMENT  ·  MANAGEMENT REVIEW  ·  JULY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02920" y="1572768"/>
            <a:ext cx="5852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0" i="1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Value Creation Framework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02920" y="2542032"/>
            <a:ext cx="5394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D6D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8D6D2"/>
                </a:solidFill>
                <a:latin typeface="Calibri"/>
                <a:ea typeface="Calibri"/>
                <a:cs typeface="Calibri"/>
                <a:sym typeface="Calibri"/>
              </a:rPr>
              <a:t>How Promo supports Sales and business growth through better targeting,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D6D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8D6D2"/>
                </a:solidFill>
                <a:latin typeface="Calibri"/>
                <a:ea typeface="Calibri"/>
                <a:cs typeface="Calibri"/>
                <a:sym typeface="Calibri"/>
              </a:rPr>
              <a:t>cost control, measurable tracking, and execution discipline.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02920" y="3794760"/>
            <a:ext cx="1642262" cy="384048"/>
          </a:xfrm>
          <a:prstGeom prst="roundRect">
            <a:avLst>
              <a:gd fmla="val 14286" name="adj"/>
            </a:avLst>
          </a:prstGeom>
          <a:solidFill>
            <a:srgbClr val="18181F"/>
          </a:solidFill>
          <a:ln cap="flat" cmpd="sng" w="12700">
            <a:solidFill>
              <a:srgbClr val="3A3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30936" y="3950208"/>
            <a:ext cx="73152" cy="73152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749808" y="3794760"/>
            <a:ext cx="136794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6D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8D6D2"/>
                </a:solidFill>
                <a:latin typeface="Calibri"/>
                <a:ea typeface="Calibri"/>
                <a:cs typeface="Calibri"/>
                <a:sym typeface="Calibri"/>
              </a:rPr>
              <a:t>INCREASE PROMOTION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309774" y="3794760"/>
            <a:ext cx="1717243" cy="384048"/>
          </a:xfrm>
          <a:prstGeom prst="roundRect">
            <a:avLst>
              <a:gd fmla="val 14286" name="adj"/>
            </a:avLst>
          </a:prstGeom>
          <a:solidFill>
            <a:srgbClr val="18181F"/>
          </a:solidFill>
          <a:ln cap="flat" cmpd="sng" w="12700">
            <a:solidFill>
              <a:srgbClr val="3A3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2437790" y="3950208"/>
            <a:ext cx="73152" cy="73152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2556662" y="3794760"/>
            <a:ext cx="14429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6D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8D6D2"/>
                </a:solidFill>
                <a:latin typeface="Calibri"/>
                <a:ea typeface="Calibri"/>
                <a:cs typeface="Calibri"/>
                <a:sym typeface="Calibri"/>
              </a:rPr>
              <a:t>DECREASE PROMO COST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191610" y="3794760"/>
            <a:ext cx="1492301" cy="384048"/>
          </a:xfrm>
          <a:prstGeom prst="roundRect">
            <a:avLst>
              <a:gd fmla="val 14286" name="adj"/>
            </a:avLst>
          </a:prstGeom>
          <a:solidFill>
            <a:srgbClr val="18181F"/>
          </a:solidFill>
          <a:ln cap="flat" cmpd="sng" w="12700">
            <a:solidFill>
              <a:srgbClr val="3A3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4319626" y="3950208"/>
            <a:ext cx="73152" cy="73152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438498" y="3794760"/>
            <a:ext cx="1217981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6D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8D6D2"/>
                </a:solidFill>
                <a:latin typeface="Calibri"/>
                <a:ea typeface="Calibri"/>
                <a:cs typeface="Calibri"/>
                <a:sym typeface="Calibri"/>
              </a:rPr>
              <a:t>INCREASE REVENUE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02920" y="46177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1 · EXECUTIVE SUMMARY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8181F"/>
                </a:solidFill>
                <a:latin typeface="Cambria"/>
                <a:ea typeface="Cambria"/>
                <a:cs typeface="Cambria"/>
                <a:sym typeface="Cambria"/>
              </a:rPr>
              <a:t>From execution support to business partner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" y="1170432"/>
            <a:ext cx="3474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2000"/>
              <a:buFont typeface="Cambria"/>
              <a:buNone/>
            </a:pPr>
            <a:r>
              <a:rPr b="1" i="1" lang="en-US" sz="2000">
                <a:solidFill>
                  <a:srgbClr val="B5924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914400" y="1207008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Beyond request execution.  </a:t>
            </a:r>
            <a:r>
              <a:rPr lang="en-US" sz="11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Promo can help Sales improve campaign effectiveness — the right offer, to the right player, at the right time and channel.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57200" y="1737360"/>
            <a:ext cx="3474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2000"/>
              <a:buFont typeface="Cambria"/>
              <a:buNone/>
            </a:pPr>
            <a:r>
              <a:rPr b="1" i="1" lang="en-US" sz="2000">
                <a:solidFill>
                  <a:srgbClr val="B5924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914400" y="1773936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Reduce waste.  </a:t>
            </a:r>
            <a:r>
              <a:rPr lang="en-US" sz="11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Better QC, cap reviews, duplicate cleanup, and abuse control can cut bonus cost and overhead without cutting campaign volume.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" y="2304288"/>
            <a:ext cx="3474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2000"/>
              <a:buFont typeface="Cambria"/>
              <a:buNone/>
            </a:pPr>
            <a:r>
              <a:rPr b="1" i="1" lang="en-US" sz="2000">
                <a:solidFill>
                  <a:srgbClr val="B5924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914400" y="2340864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Support revenue growth.  </a:t>
            </a:r>
            <a:r>
              <a:rPr lang="en-US" sz="11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Improve reactivation, enable segmentation, support cross-product offers, and build the tracking needed to validate what works.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57200" y="2871216"/>
            <a:ext cx="3474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2000"/>
              <a:buFont typeface="Cambria"/>
              <a:buNone/>
            </a:pPr>
            <a:r>
              <a:rPr b="1" i="1" lang="en-US" sz="2000">
                <a:solidFill>
                  <a:srgbClr val="B5924A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914400" y="2907792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Control before scale.  </a:t>
            </a:r>
            <a:r>
              <a:rPr lang="en-US" sz="11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Automation is useful, but June showed that QC, SOP, and dashboard visibility must be strengthened before full scaling.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57200" y="3438144"/>
            <a:ext cx="3474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2000"/>
              <a:buFont typeface="Cambria"/>
              <a:buNone/>
            </a:pPr>
            <a:r>
              <a:rPr b="1" i="1" lang="en-US" sz="2000">
                <a:solidFill>
                  <a:srgbClr val="B5924A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914400" y="347472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A measurable operating system.  </a:t>
            </a:r>
            <a:r>
              <a:rPr lang="en-US" sz="11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Request quality → setup accuracy → campaign performance → cost and revenue review. This framework sets out how we get there.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57200" y="4114800"/>
            <a:ext cx="8229600" cy="658368"/>
          </a:xfrm>
          <a:prstGeom prst="rect">
            <a:avLst/>
          </a:prstGeom>
          <a:solidFill>
            <a:srgbClr val="F5ED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658368" y="4169664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8A6C35"/>
                </a:solidFill>
                <a:latin typeface="Calibri"/>
                <a:ea typeface="Calibri"/>
                <a:cs typeface="Calibri"/>
                <a:sym typeface="Calibri"/>
              </a:rPr>
              <a:t>On June:  </a:t>
            </a:r>
            <a:r>
              <a:rPr lang="en-US" sz="10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positioned as automation stabilisation and control-building. Issues surfaced gaps in QC, exception tracking, and legacy records — cleanup is underway (WS1 dedupe, QC checklists, SOP documentation).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8138160" y="48463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02 / 12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2 · VALUE PILLARS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8181F"/>
                </a:solidFill>
                <a:latin typeface="Cambria"/>
                <a:ea typeface="Cambria"/>
                <a:cs typeface="Cambria"/>
                <a:sym typeface="Cambria"/>
              </a:rPr>
              <a:t>Three business goals, one operating model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57200" y="1170432"/>
            <a:ext cx="2724912" cy="3584448"/>
          </a:xfrm>
          <a:prstGeom prst="rect">
            <a:avLst/>
          </a:prstGeom>
          <a:solidFill>
            <a:srgbClr val="F2F1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658368" y="1335024"/>
            <a:ext cx="23225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8A6C35"/>
                </a:solidFill>
                <a:latin typeface="Calibri"/>
                <a:ea typeface="Calibri"/>
                <a:cs typeface="Calibri"/>
                <a:sym typeface="Calibri"/>
              </a:rPr>
              <a:t>GOAL A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58368" y="1536192"/>
            <a:ext cx="232257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18181F"/>
                </a:solidFill>
                <a:latin typeface="Cambria"/>
                <a:ea typeface="Cambria"/>
                <a:cs typeface="Cambria"/>
                <a:sym typeface="Cambria"/>
              </a:rPr>
              <a:t>Increase Promotion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18181F"/>
                </a:solidFill>
                <a:latin typeface="Cambria"/>
                <a:ea typeface="Cambria"/>
                <a:cs typeface="Cambria"/>
                <a:sym typeface="Cambria"/>
              </a:rPr>
              <a:t>Effectiveness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58368" y="2139696"/>
            <a:ext cx="23225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Right player, right offer, right time and channel.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3"/>
          <p:cNvCxnSpPr/>
          <p:nvPr/>
        </p:nvCxnSpPr>
        <p:spPr>
          <a:xfrm>
            <a:off x="658368" y="2578608"/>
            <a:ext cx="2322576" cy="0"/>
          </a:xfrm>
          <a:prstGeom prst="straightConnector1">
            <a:avLst/>
          </a:prstGeom>
          <a:noFill/>
          <a:ln cap="flat" cmpd="sng" w="12700">
            <a:solidFill>
              <a:srgbClr val="DDDB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3"/>
          <p:cNvSpPr/>
          <p:nvPr/>
        </p:nvSpPr>
        <p:spPr>
          <a:xfrm>
            <a:off x="658368" y="2747772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804672" y="26883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Segment-triggered campaigns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658368" y="2985516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804672" y="2926080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Peak-timing deployment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58368" y="3223260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804672" y="3163824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Multi-channel delivery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58368" y="3461004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804672" y="3401568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Monthly reactivation pipeline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58368" y="3698748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804672" y="3639312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Calendar-based planning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3936492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804672" y="387705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Standardised request structure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58368" y="4224528"/>
            <a:ext cx="23225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Measured by  </a:t>
            </a:r>
            <a:r>
              <a:rPr i="1"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Claim rate · channel performance · request completeness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300984" y="1170432"/>
            <a:ext cx="2724912" cy="3584448"/>
          </a:xfrm>
          <a:prstGeom prst="rect">
            <a:avLst/>
          </a:prstGeom>
          <a:solidFill>
            <a:srgbClr val="F2F1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3502152" y="1335024"/>
            <a:ext cx="23225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8A6C35"/>
                </a:solidFill>
                <a:latin typeface="Calibri"/>
                <a:ea typeface="Calibri"/>
                <a:cs typeface="Calibri"/>
                <a:sym typeface="Calibri"/>
              </a:rPr>
              <a:t>GOAL B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502152" y="1536192"/>
            <a:ext cx="232257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18181F"/>
                </a:solidFill>
                <a:latin typeface="Cambria"/>
                <a:ea typeface="Cambria"/>
                <a:cs typeface="Cambria"/>
                <a:sym typeface="Cambria"/>
              </a:rPr>
              <a:t>Decrease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18181F"/>
                </a:solidFill>
                <a:latin typeface="Cambria"/>
                <a:ea typeface="Cambria"/>
                <a:cs typeface="Cambria"/>
                <a:sym typeface="Cambria"/>
              </a:rPr>
              <a:t>Promo Cost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502152" y="2139696"/>
            <a:ext cx="23225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Cut bonus waste, leakage, duplicates, and maintenance.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3502152" y="2578608"/>
            <a:ext cx="2322576" cy="0"/>
          </a:xfrm>
          <a:prstGeom prst="straightConnector1">
            <a:avLst/>
          </a:prstGeom>
          <a:noFill/>
          <a:ln cap="flat" cmpd="sng" w="12700">
            <a:solidFill>
              <a:srgbClr val="DDDB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3502152" y="2747772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3648456" y="26883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Promo cap audit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502152" y="2985516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3648456" y="2926080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Promo sunset list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502152" y="3223260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3648456" y="3163824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Duplicate promo cleanup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502152" y="3461004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3648456" y="3401568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Bonus hunter / abuse control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502152" y="3698748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3648456" y="3639312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Minimum effective bonus testing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3502152" y="3936492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3648456" y="387705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Pre-live QC + exception tracking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502152" y="4224528"/>
            <a:ext cx="23225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Measured by  </a:t>
            </a:r>
            <a:r>
              <a:rPr i="1"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Bonus cost · cap vs deposit · QC error log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144768" y="1170432"/>
            <a:ext cx="2724912" cy="3584448"/>
          </a:xfrm>
          <a:prstGeom prst="rect">
            <a:avLst/>
          </a:prstGeom>
          <a:solidFill>
            <a:srgbClr val="F2F1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6345936" y="1335024"/>
            <a:ext cx="23225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8A6C35"/>
                </a:solidFill>
                <a:latin typeface="Calibri"/>
                <a:ea typeface="Calibri"/>
                <a:cs typeface="Calibri"/>
                <a:sym typeface="Calibri"/>
              </a:rPr>
              <a:t>GOAL C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6345936" y="1536192"/>
            <a:ext cx="232257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18181F"/>
                </a:solidFill>
                <a:latin typeface="Cambria"/>
                <a:ea typeface="Cambria"/>
                <a:cs typeface="Cambria"/>
                <a:sym typeface="Cambria"/>
              </a:rPr>
              <a:t>Increase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18181F"/>
                </a:solidFill>
                <a:latin typeface="Cambria"/>
                <a:ea typeface="Cambria"/>
                <a:cs typeface="Cambria"/>
                <a:sym typeface="Cambria"/>
              </a:rPr>
              <a:t>Revenue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6345936" y="2139696"/>
            <a:ext cx="23225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From promo creation support to revenue enablement.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3"/>
          <p:cNvCxnSpPr/>
          <p:nvPr/>
        </p:nvCxnSpPr>
        <p:spPr>
          <a:xfrm>
            <a:off x="6345936" y="2578608"/>
            <a:ext cx="2322576" cy="0"/>
          </a:xfrm>
          <a:prstGeom prst="straightConnector1">
            <a:avLst/>
          </a:prstGeom>
          <a:noFill/>
          <a:ln cap="flat" cmpd="sng" w="12700">
            <a:solidFill>
              <a:srgbClr val="DDDB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3"/>
          <p:cNvSpPr/>
          <p:nvPr/>
        </p:nvSpPr>
        <p:spPr>
          <a:xfrm>
            <a:off x="6345936" y="2747772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6492240" y="26883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Reactivation revenue campaigns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345936" y="2985516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6492240" y="2926080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Cross-product bridging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6345936" y="3223260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6492240" y="3163824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VIP progression ladder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6345936" y="3461004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6492240" y="3401568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Promo attribution model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345936" y="3698748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6492240" y="3639312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Sweet-spot cap strategy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345936" y="3936492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6492240" y="387705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Post-mortems + dashboards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6345936" y="4224528"/>
            <a:ext cx="23225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Measured by  </a:t>
            </a:r>
            <a:r>
              <a:rPr i="1"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Promo → claim → deposit · 24/72h · cost per reactivation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8138160" y="48463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03 / 12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3 · PRACTICAL INITIATIVES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8181F"/>
                </a:solidFill>
                <a:latin typeface="Cambria"/>
                <a:ea typeface="Cambria"/>
                <a:cs typeface="Cambria"/>
                <a:sym typeface="Cambria"/>
              </a:rPr>
              <a:t>Ten realistic initiatives — 1 to 5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394960" y="1115568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EFFORT / IMPACT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858000" y="111556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MEASUREMENT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57200" y="1399032"/>
            <a:ext cx="329184" cy="329184"/>
          </a:xfrm>
          <a:prstGeom prst="ellipse">
            <a:avLst/>
          </a:prstGeom>
          <a:solidFill>
            <a:srgbClr val="F5EDD8"/>
          </a:solidFill>
          <a:ln cap="flat" cmpd="sng" w="12700">
            <a:solidFill>
              <a:srgbClr val="B59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457200" y="139903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1200"/>
              <a:buFont typeface="Cambria"/>
              <a:buNone/>
            </a:pPr>
            <a:r>
              <a:rPr b="1" i="1" lang="en-US" sz="1200">
                <a:solidFill>
                  <a:srgbClr val="8A6C35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932688" y="1335024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Promo Request Quality Gate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932688" y="1572768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Required fields — objective, segment, timing, reward logic — before Promo proceeds. No run on incomplete briefs.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5394960" y="137160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Effort  </a:t>
            </a:r>
            <a:r>
              <a:rPr b="1" lang="en-US" sz="950">
                <a:solidFill>
                  <a:srgbClr val="3D7A57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394960" y="160020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Impact  </a:t>
            </a:r>
            <a:r>
              <a:rPr b="1" lang="en-US" sz="950">
                <a:solidFill>
                  <a:srgbClr val="8A6C35"/>
                </a:solidFill>
                <a:latin typeface="Calibri"/>
                <a:ea typeface="Calibri"/>
                <a:cs typeface="Calibri"/>
                <a:sym typeface="Calibri"/>
              </a:rPr>
              <a:t>MED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858000" y="1371600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% complete first-pass · clarification loops · turnaround time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457200" y="1984248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DDDB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4"/>
          <p:cNvSpPr/>
          <p:nvPr/>
        </p:nvSpPr>
        <p:spPr>
          <a:xfrm>
            <a:off x="457200" y="2112264"/>
            <a:ext cx="329184" cy="329184"/>
          </a:xfrm>
          <a:prstGeom prst="ellipse">
            <a:avLst/>
          </a:prstGeom>
          <a:solidFill>
            <a:srgbClr val="F5EDD8"/>
          </a:solidFill>
          <a:ln cap="flat" cmpd="sng" w="12700">
            <a:solidFill>
              <a:srgbClr val="B59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457200" y="211226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1200"/>
              <a:buFont typeface="Cambria"/>
              <a:buNone/>
            </a:pPr>
            <a:r>
              <a:rPr b="1" i="1" lang="en-US" sz="1200">
                <a:solidFill>
                  <a:srgbClr val="8A6C35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932688" y="2048256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Segment-Triggered Campaigns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932688" y="228600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Sales provides the target segment; Promo matches bonus mechanics and channel to that audience.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5394960" y="208483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Effort  </a:t>
            </a:r>
            <a:r>
              <a:rPr b="1" lang="en-US" sz="950">
                <a:solidFill>
                  <a:srgbClr val="8A6C35"/>
                </a:solidFill>
                <a:latin typeface="Calibri"/>
                <a:ea typeface="Calibri"/>
                <a:cs typeface="Calibri"/>
                <a:sym typeface="Calibri"/>
              </a:rPr>
              <a:t>MED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5394960" y="231343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Impact  </a:t>
            </a:r>
            <a:r>
              <a:rPr b="1" lang="en-US" sz="950">
                <a:solidFill>
                  <a:srgbClr val="9A3A3A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6858000" y="2084832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Claim rate by segment · deposit conversion · response rate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4"/>
          <p:cNvCxnSpPr/>
          <p:nvPr/>
        </p:nvCxnSpPr>
        <p:spPr>
          <a:xfrm>
            <a:off x="457200" y="269748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DDDB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4"/>
          <p:cNvSpPr/>
          <p:nvPr/>
        </p:nvSpPr>
        <p:spPr>
          <a:xfrm>
            <a:off x="457200" y="2825496"/>
            <a:ext cx="329184" cy="329184"/>
          </a:xfrm>
          <a:prstGeom prst="ellipse">
            <a:avLst/>
          </a:prstGeom>
          <a:solidFill>
            <a:srgbClr val="F5EDD8"/>
          </a:solidFill>
          <a:ln cap="flat" cmpd="sng" w="12700">
            <a:solidFill>
              <a:srgbClr val="B59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457200" y="282549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1200"/>
              <a:buFont typeface="Cambria"/>
              <a:buNone/>
            </a:pPr>
            <a:r>
              <a:rPr b="1" i="1" lang="en-US" sz="1200">
                <a:solidFill>
                  <a:srgbClr val="8A6C35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932688" y="2761488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Monthly Reactivation Pipeline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932688" y="2999232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Scheduled win-back Free Credit for 30-day lapsed players, from a monthly Sales export.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5394960" y="2798064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Effort  </a:t>
            </a:r>
            <a:r>
              <a:rPr b="1" lang="en-US" sz="950">
                <a:solidFill>
                  <a:srgbClr val="3D7A57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5394960" y="3026664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Impact  </a:t>
            </a:r>
            <a:r>
              <a:rPr b="1" lang="en-US" sz="950">
                <a:solidFill>
                  <a:srgbClr val="9A3A3A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6858000" y="2798064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Reactivated players · deposit within 14 days · cost per reactivation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4"/>
          <p:cNvCxnSpPr/>
          <p:nvPr/>
        </p:nvCxnSpPr>
        <p:spPr>
          <a:xfrm>
            <a:off x="457200" y="341071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DDDB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4"/>
          <p:cNvSpPr/>
          <p:nvPr/>
        </p:nvSpPr>
        <p:spPr>
          <a:xfrm>
            <a:off x="457200" y="3538728"/>
            <a:ext cx="329184" cy="329184"/>
          </a:xfrm>
          <a:prstGeom prst="ellipse">
            <a:avLst/>
          </a:prstGeom>
          <a:solidFill>
            <a:srgbClr val="F5EDD8"/>
          </a:solidFill>
          <a:ln cap="flat" cmpd="sng" w="12700">
            <a:solidFill>
              <a:srgbClr val="B59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457200" y="353872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1200"/>
              <a:buFont typeface="Cambria"/>
              <a:buNone/>
            </a:pPr>
            <a:r>
              <a:rPr b="1" i="1" lang="en-US" sz="1200">
                <a:solidFill>
                  <a:srgbClr val="8A6C35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932688" y="3474720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Promo Cap Audit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932688" y="3712464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Compare max bonus cap vs average claimant deposit; flag promos where cap exceeds 2× average.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5394960" y="351129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Effort  </a:t>
            </a:r>
            <a:r>
              <a:rPr b="1" lang="en-US" sz="950">
                <a:solidFill>
                  <a:srgbClr val="3D7A57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5394960" y="373989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Impact  </a:t>
            </a:r>
            <a:r>
              <a:rPr b="1" lang="en-US" sz="950">
                <a:solidFill>
                  <a:srgbClr val="8A6C35"/>
                </a:solidFill>
                <a:latin typeface="Calibri"/>
                <a:ea typeface="Calibri"/>
                <a:cs typeface="Calibri"/>
                <a:sym typeface="Calibri"/>
              </a:rPr>
              <a:t>MED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6858000" y="3511296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Bonus cost saved · cap utilisation · deposit impact after change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4"/>
          <p:cNvCxnSpPr/>
          <p:nvPr/>
        </p:nvCxnSpPr>
        <p:spPr>
          <a:xfrm>
            <a:off x="457200" y="4123944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DDDB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4"/>
          <p:cNvSpPr/>
          <p:nvPr/>
        </p:nvSpPr>
        <p:spPr>
          <a:xfrm>
            <a:off x="457200" y="4251960"/>
            <a:ext cx="329184" cy="329184"/>
          </a:xfrm>
          <a:prstGeom prst="ellipse">
            <a:avLst/>
          </a:prstGeom>
          <a:solidFill>
            <a:srgbClr val="F5EDD8"/>
          </a:solidFill>
          <a:ln cap="flat" cmpd="sng" w="12700">
            <a:solidFill>
              <a:srgbClr val="B59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457200" y="425196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1200"/>
              <a:buFont typeface="Cambria"/>
              <a:buNone/>
            </a:pPr>
            <a:r>
              <a:rPr b="1" i="1" lang="en-US" sz="1200">
                <a:solidFill>
                  <a:srgbClr val="8A6C35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932688" y="4187952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Promo Sunset List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932688" y="4425696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Monthly review to retire low-uptake, duplicate, or risky promos — with management sign-off.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5394960" y="4224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Effort  </a:t>
            </a:r>
            <a:r>
              <a:rPr b="1" lang="en-US" sz="950">
                <a:solidFill>
                  <a:srgbClr val="3D7A57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5394960" y="44531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Impact  </a:t>
            </a:r>
            <a:r>
              <a:rPr b="1" lang="en-US" sz="950">
                <a:solidFill>
                  <a:srgbClr val="8A6C35"/>
                </a:solidFill>
                <a:latin typeface="Calibri"/>
                <a:ea typeface="Calibri"/>
                <a:cs typeface="Calibri"/>
                <a:sym typeface="Calibri"/>
              </a:rPr>
              <a:t>MED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6858000" y="4224528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Promos retired · duplicates reduced · T&amp;C issues cleared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8138160" y="48463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04 / 12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3 · PRACTICAL INITIATIVES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8181F"/>
                </a:solidFill>
                <a:latin typeface="Cambria"/>
                <a:ea typeface="Cambria"/>
                <a:cs typeface="Cambria"/>
                <a:sym typeface="Cambria"/>
              </a:rPr>
              <a:t>Ten realistic initiatives — 6 to 10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5394960" y="1115568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EFFORT / IMPACT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6858000" y="111556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MEASUREMENT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57200" y="1399032"/>
            <a:ext cx="329184" cy="329184"/>
          </a:xfrm>
          <a:prstGeom prst="ellipse">
            <a:avLst/>
          </a:prstGeom>
          <a:solidFill>
            <a:srgbClr val="F5EDD8"/>
          </a:solidFill>
          <a:ln cap="flat" cmpd="sng" w="12700">
            <a:solidFill>
              <a:srgbClr val="B59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457200" y="139903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1200"/>
              <a:buFont typeface="Cambria"/>
              <a:buNone/>
            </a:pPr>
            <a:r>
              <a:rPr b="1" i="1" lang="en-US" sz="1200">
                <a:solidFill>
                  <a:srgbClr val="8A6C35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932688" y="1335024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Bonus Hunter / Abuse Control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932688" y="1572768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Flag bonus-heavy, low-retention players; exclude from campaigns or shift to lower-bonus mechanics.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5394960" y="137160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Effort  </a:t>
            </a:r>
            <a:r>
              <a:rPr b="1" lang="en-US" sz="950">
                <a:solidFill>
                  <a:srgbClr val="3D7A57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5394960" y="160020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Impact  </a:t>
            </a:r>
            <a:r>
              <a:rPr b="1" lang="en-US" sz="950">
                <a:solidFill>
                  <a:srgbClr val="8A6C35"/>
                </a:solidFill>
                <a:latin typeface="Calibri"/>
                <a:ea typeface="Calibri"/>
                <a:cs typeface="Calibri"/>
                <a:sym typeface="Calibri"/>
              </a:rPr>
              <a:t>MED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6858000" y="1371600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Bonus cost reduced · repeat abuse cases · retention after claim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" name="Google Shape;175;p5"/>
          <p:cNvCxnSpPr/>
          <p:nvPr/>
        </p:nvCxnSpPr>
        <p:spPr>
          <a:xfrm>
            <a:off x="457200" y="1984248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DDDB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5"/>
          <p:cNvSpPr/>
          <p:nvPr/>
        </p:nvSpPr>
        <p:spPr>
          <a:xfrm>
            <a:off x="457200" y="2112264"/>
            <a:ext cx="329184" cy="329184"/>
          </a:xfrm>
          <a:prstGeom prst="ellipse">
            <a:avLst/>
          </a:prstGeom>
          <a:solidFill>
            <a:srgbClr val="F5EDD8"/>
          </a:solidFill>
          <a:ln cap="flat" cmpd="sng" w="12700">
            <a:solidFill>
              <a:srgbClr val="B59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457200" y="211226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1200"/>
              <a:buFont typeface="Cambria"/>
              <a:buNone/>
            </a:pPr>
            <a:r>
              <a:rPr b="1" i="1" lang="en-US" sz="1200">
                <a:solidFill>
                  <a:srgbClr val="8A6C35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932688" y="2048256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Promo Calendar + Peak Timing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932688" y="228600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Monthly calendar with Sales around paydays, sports events, holidays — planned, not reactive.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5394960" y="208483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Effort  </a:t>
            </a:r>
            <a:r>
              <a:rPr b="1" lang="en-US" sz="950">
                <a:solidFill>
                  <a:srgbClr val="3D7A57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5394960" y="231343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Impact  </a:t>
            </a:r>
            <a:r>
              <a:rPr b="1" lang="en-US" sz="950">
                <a:solidFill>
                  <a:srgbClr val="8A6C35"/>
                </a:solidFill>
                <a:latin typeface="Calibri"/>
                <a:ea typeface="Calibri"/>
                <a:cs typeface="Calibri"/>
                <a:sym typeface="Calibri"/>
              </a:rPr>
              <a:t>MED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6858000" y="2084832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Claim rate by timing window · planned vs reactive ratio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p5"/>
          <p:cNvCxnSpPr/>
          <p:nvPr/>
        </p:nvCxnSpPr>
        <p:spPr>
          <a:xfrm>
            <a:off x="457200" y="269748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DDDB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5"/>
          <p:cNvSpPr/>
          <p:nvPr/>
        </p:nvSpPr>
        <p:spPr>
          <a:xfrm>
            <a:off x="457200" y="2825496"/>
            <a:ext cx="329184" cy="329184"/>
          </a:xfrm>
          <a:prstGeom prst="ellipse">
            <a:avLst/>
          </a:prstGeom>
          <a:solidFill>
            <a:srgbClr val="F5EDD8"/>
          </a:solidFill>
          <a:ln cap="flat" cmpd="sng" w="12700">
            <a:solidFill>
              <a:srgbClr val="B59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457200" y="282549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1200"/>
              <a:buFont typeface="Cambria"/>
              <a:buNone/>
            </a:pPr>
            <a:r>
              <a:rPr b="1" i="1" lang="en-US" sz="1200">
                <a:solidFill>
                  <a:srgbClr val="8A6C35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932688" y="2761488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Dashboard Reporting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932688" y="2999232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Live view of promo volume, SLA, QC pass rate, automation issues, and campaign status for management.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5394960" y="2798064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Effort  </a:t>
            </a:r>
            <a:r>
              <a:rPr b="1" lang="en-US" sz="950">
                <a:solidFill>
                  <a:srgbClr val="8A6C35"/>
                </a:solidFill>
                <a:latin typeface="Calibri"/>
                <a:ea typeface="Calibri"/>
                <a:cs typeface="Calibri"/>
                <a:sym typeface="Calibri"/>
              </a:rPr>
              <a:t>MED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5394960" y="3026664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Impact  </a:t>
            </a:r>
            <a:r>
              <a:rPr b="1" lang="en-US" sz="950">
                <a:solidFill>
                  <a:srgbClr val="9A3A3A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6858000" y="2798064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Dashboard usage · report automation rate · decisions supported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5"/>
          <p:cNvCxnSpPr/>
          <p:nvPr/>
        </p:nvCxnSpPr>
        <p:spPr>
          <a:xfrm>
            <a:off x="457200" y="341071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DDDB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5"/>
          <p:cNvSpPr/>
          <p:nvPr/>
        </p:nvSpPr>
        <p:spPr>
          <a:xfrm>
            <a:off x="457200" y="3538728"/>
            <a:ext cx="329184" cy="329184"/>
          </a:xfrm>
          <a:prstGeom prst="ellipse">
            <a:avLst/>
          </a:prstGeom>
          <a:solidFill>
            <a:srgbClr val="F5EDD8"/>
          </a:solidFill>
          <a:ln cap="flat" cmpd="sng" w="12700">
            <a:solidFill>
              <a:srgbClr val="B59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457200" y="353872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1200"/>
              <a:buFont typeface="Cambria"/>
              <a:buNone/>
            </a:pPr>
            <a:r>
              <a:rPr b="1" i="1" lang="en-US" sz="1200">
                <a:solidFill>
                  <a:srgbClr val="8A6C35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932688" y="3474720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Automation QC + Exception Log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932688" y="3712464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Log every automation error and QC failure; review weekly; update rules so known issues never repeat.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5394960" y="351129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Effort  </a:t>
            </a:r>
            <a:r>
              <a:rPr b="1" lang="en-US" sz="950">
                <a:solidFill>
                  <a:srgbClr val="3D7A57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5394960" y="373989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Impact  </a:t>
            </a:r>
            <a:r>
              <a:rPr b="1" lang="en-US" sz="950">
                <a:solidFill>
                  <a:srgbClr val="9A3A3A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6858000" y="3511296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Automation error rate · repeat-error reduction · QC first-pass rate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5"/>
          <p:cNvCxnSpPr/>
          <p:nvPr/>
        </p:nvCxnSpPr>
        <p:spPr>
          <a:xfrm>
            <a:off x="457200" y="4123944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DDDB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5"/>
          <p:cNvSpPr/>
          <p:nvPr/>
        </p:nvSpPr>
        <p:spPr>
          <a:xfrm>
            <a:off x="457200" y="4251960"/>
            <a:ext cx="329184" cy="329184"/>
          </a:xfrm>
          <a:prstGeom prst="ellipse">
            <a:avLst/>
          </a:prstGeom>
          <a:solidFill>
            <a:srgbClr val="F5EDD8"/>
          </a:solidFill>
          <a:ln cap="flat" cmpd="sng" w="12700">
            <a:solidFill>
              <a:srgbClr val="B59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457200" y="425196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1200"/>
              <a:buFont typeface="Cambria"/>
              <a:buNone/>
            </a:pPr>
            <a:r>
              <a:rPr b="1" i="1" lang="en-US" sz="1200">
                <a:solidFill>
                  <a:srgbClr val="8A6C35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932688" y="4187952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Campaign Post-Mortem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932688" y="4425696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After each campaign: objective, cost, claims, deposits, issues, and next action — shared with Sales.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5394960" y="4224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Effort  </a:t>
            </a:r>
            <a:r>
              <a:rPr b="1" lang="en-US" sz="950">
                <a:solidFill>
                  <a:srgbClr val="3D7A57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5394960" y="44531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Impact  </a:t>
            </a:r>
            <a:r>
              <a:rPr b="1" lang="en-US" sz="950">
                <a:solidFill>
                  <a:srgbClr val="9A3A3A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6858000" y="4224528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% campaigns reviewed · action items done · repeat performance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8138160" y="48463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05 / 12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4 · PRIORITY ROADMAP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8181F"/>
                </a:solidFill>
                <a:latin typeface="Cambria"/>
                <a:ea typeface="Cambria"/>
                <a:cs typeface="Cambria"/>
                <a:sym typeface="Cambria"/>
              </a:rPr>
              <a:t>Quick wins first, strategic plays in sequence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457200" y="1170432"/>
            <a:ext cx="2724912" cy="749808"/>
          </a:xfrm>
          <a:prstGeom prst="rect">
            <a:avLst/>
          </a:prstGeom>
          <a:solidFill>
            <a:srgbClr val="F5ED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621792" y="1261872"/>
            <a:ext cx="23957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8A6C35"/>
                </a:solidFill>
                <a:latin typeface="Calibri"/>
                <a:ea typeface="Calibri"/>
                <a:cs typeface="Calibri"/>
                <a:sym typeface="Calibri"/>
              </a:rPr>
              <a:t>NOW — QUICK WINS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621792" y="1481328"/>
            <a:ext cx="23957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July 2026   </a:t>
            </a:r>
            <a:r>
              <a:rPr i="1"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Current data and process. No new systems.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621792" y="2148840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768096" y="2084832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Promo Request Quality Gate</a:t>
            </a: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   Promotion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621792" y="2455164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768096" y="2391156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Promo Cap Audit</a:t>
            </a: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   Cost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621792" y="2761488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768096" y="2697480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Promo Sunset List</a:t>
            </a: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   Cost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621792" y="3067812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768096" y="3003804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Bonus Hunter / Abuse Control</a:t>
            </a: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   Cost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621792" y="3374136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768096" y="3310128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Monthly Reactivation Pipeline</a:t>
            </a: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   Promotion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621792" y="3680460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768096" y="3616452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Duplicate Promo Cleanup</a:t>
            </a: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   Cost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621792" y="3986784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768096" y="3922776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Automation QC Exception Log</a:t>
            </a: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   Cost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3300984" y="1170432"/>
            <a:ext cx="2724912" cy="749808"/>
          </a:xfrm>
          <a:prstGeom prst="rect">
            <a:avLst/>
          </a:prstGeom>
          <a:solidFill>
            <a:srgbClr val="EC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3465576" y="1261872"/>
            <a:ext cx="23957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MONTH 1 — MEDIUM-TERM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3465576" y="1481328"/>
            <a:ext cx="23957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August 2026   </a:t>
            </a:r>
            <a:r>
              <a:rPr i="1"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Needs Sales alignment or shared data.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3465576" y="2148840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3611880" y="2084832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Segment-Triggered Campaigns</a:t>
            </a: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   Promotion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3465576" y="2455164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3611880" y="2391156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Cross-Product Bridging</a:t>
            </a: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   Revenue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3465576" y="2761488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3611880" y="2697480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Event Calendar Sync</a:t>
            </a: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   Promotion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3465576" y="3067812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3611880" y="3003804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Broader Deduplication</a:t>
            </a: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   Cost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3465576" y="3374136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3611880" y="3310128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Min Effective Bonus Testing</a:t>
            </a: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   Cost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3465576" y="3680460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6"/>
          <p:cNvSpPr/>
          <p:nvPr/>
        </p:nvSpPr>
        <p:spPr>
          <a:xfrm>
            <a:off x="3611880" y="3616452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Multi-Channel Delivery</a:t>
            </a: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   Promotion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3465576" y="3986784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3611880" y="3922776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Dashboard Reporting</a:t>
            </a: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   Promotion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3465576" y="4293108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6"/>
          <p:cNvSpPr/>
          <p:nvPr/>
        </p:nvSpPr>
        <p:spPr>
          <a:xfrm>
            <a:off x="3611880" y="4229100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Campaign Post-Mortem</a:t>
            </a: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   Revenue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6144768" y="1170432"/>
            <a:ext cx="2724912" cy="749808"/>
          </a:xfrm>
          <a:prstGeom prst="rect">
            <a:avLst/>
          </a:prstGeom>
          <a:solidFill>
            <a:srgbClr val="F2F1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6"/>
          <p:cNvSpPr/>
          <p:nvPr/>
        </p:nvSpPr>
        <p:spPr>
          <a:xfrm>
            <a:off x="6309360" y="1261872"/>
            <a:ext cx="23957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Q2 — STRATEGIC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6309360" y="1481328"/>
            <a:ext cx="23957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Sep – Dec 2026   </a:t>
            </a:r>
            <a:r>
              <a:rPr i="1"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Needs integration, attribution, cross-team agreement.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6309360" y="2148840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6"/>
          <p:cNvSpPr/>
          <p:nvPr/>
        </p:nvSpPr>
        <p:spPr>
          <a:xfrm>
            <a:off x="6455664" y="2084832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Promo Attribution Model</a:t>
            </a: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   Revenue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6309360" y="2455164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6"/>
          <p:cNvSpPr/>
          <p:nvPr/>
        </p:nvSpPr>
        <p:spPr>
          <a:xfrm>
            <a:off x="6455664" y="2391156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VIP Progression Ladder</a:t>
            </a: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   Revenue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6309360" y="2761488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"/>
          <p:cNvSpPr/>
          <p:nvPr/>
        </p:nvSpPr>
        <p:spPr>
          <a:xfrm>
            <a:off x="6455664" y="2697480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Real-Time Deposit Triggers</a:t>
            </a: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   Revenue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6309360" y="3067812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6"/>
          <p:cNvSpPr/>
          <p:nvPr/>
        </p:nvSpPr>
        <p:spPr>
          <a:xfrm>
            <a:off x="6455664" y="3003804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End-to-End Revenue Tracking</a:t>
            </a: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   Revenue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6309360" y="3374136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6"/>
          <p:cNvSpPr/>
          <p:nvPr/>
        </p:nvSpPr>
        <p:spPr>
          <a:xfrm>
            <a:off x="6455664" y="3310128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Campaign ROI Review</a:t>
            </a: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   Revenue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8138160" y="48463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06 / 12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5 · WHAT PROMO NEEDS FROM SALES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8181F"/>
                </a:solidFill>
                <a:latin typeface="Cambria"/>
                <a:ea typeface="Cambria"/>
                <a:cs typeface="Cambria"/>
                <a:sym typeface="Cambria"/>
              </a:rPr>
              <a:t>Better input, better campaigns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Promo's output quality is directly linked to the quality of the brief received.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457200" y="1298448"/>
            <a:ext cx="2724912" cy="10789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B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585216" y="1389888"/>
            <a:ext cx="3108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1700"/>
              <a:buFont typeface="Cambria"/>
              <a:buNone/>
            </a:pPr>
            <a:r>
              <a:rPr b="1" i="1" lang="en-US" sz="1700">
                <a:solidFill>
                  <a:srgbClr val="B5924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932688" y="1408176"/>
            <a:ext cx="21214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Campaign objective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932688" y="1645920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Reactivation, first deposit, cross-product, or retention — defines the mechanics.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3300984" y="1298448"/>
            <a:ext cx="2724912" cy="10789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B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3429000" y="1389888"/>
            <a:ext cx="3108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1700"/>
              <a:buFont typeface="Cambria"/>
              <a:buNone/>
            </a:pPr>
            <a:r>
              <a:rPr b="1" i="1" lang="en-US" sz="1700">
                <a:solidFill>
                  <a:srgbClr val="B5924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3776472" y="1408176"/>
            <a:ext cx="21214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Target segment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3776472" y="1645920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Activity, deposit range, platform. “All players” is not a segment.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6144768" y="1298448"/>
            <a:ext cx="2724912" cy="10789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B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6272784" y="1389888"/>
            <a:ext cx="3108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1700"/>
              <a:buFont typeface="Cambria"/>
              <a:buNone/>
            </a:pPr>
            <a:r>
              <a:rPr b="1" i="1" lang="en-US" sz="1700">
                <a:solidFill>
                  <a:srgbClr val="B5924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6620256" y="1408176"/>
            <a:ext cx="21214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Player list or criteria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6620256" y="1645920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A list, or clear rules to generate one.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457200" y="2478024"/>
            <a:ext cx="2724912" cy="10789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B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585216" y="2569464"/>
            <a:ext cx="3108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1700"/>
              <a:buFont typeface="Cambria"/>
              <a:buNone/>
            </a:pPr>
            <a:r>
              <a:rPr b="1" i="1" lang="en-US" sz="1700">
                <a:solidFill>
                  <a:srgbClr val="B5924A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932688" y="2587752"/>
            <a:ext cx="21214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Expected player action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932688" y="2825496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Deposit, log in, try a product — defines bonus type and turnover.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3300984" y="2478024"/>
            <a:ext cx="2724912" cy="10789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B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3429000" y="2569464"/>
            <a:ext cx="3108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1700"/>
              <a:buFont typeface="Cambria"/>
              <a:buNone/>
            </a:pPr>
            <a:r>
              <a:rPr b="1" i="1" lang="en-US" sz="1700">
                <a:solidFill>
                  <a:srgbClr val="B5924A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3776472" y="2587752"/>
            <a:ext cx="21214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Budget / max bonus direction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3776472" y="2825496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Cap or total budget, so amounts and TO are configured right.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6144768" y="2478024"/>
            <a:ext cx="2724912" cy="10789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B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7"/>
          <p:cNvSpPr/>
          <p:nvPr/>
        </p:nvSpPr>
        <p:spPr>
          <a:xfrm>
            <a:off x="6272784" y="2569464"/>
            <a:ext cx="3108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1700"/>
              <a:buFont typeface="Cambria"/>
              <a:buNone/>
            </a:pPr>
            <a:r>
              <a:rPr b="1" i="1" lang="en-US" sz="1700">
                <a:solidFill>
                  <a:srgbClr val="B5924A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6620256" y="2587752"/>
            <a:ext cx="21214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Timing and deadline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6620256" y="2825496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Earlier notice means proper preparation and QC — not reactive work.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457200" y="3657600"/>
            <a:ext cx="2724912" cy="10789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B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"/>
          <p:cNvSpPr/>
          <p:nvPr/>
        </p:nvSpPr>
        <p:spPr>
          <a:xfrm>
            <a:off x="585216" y="3749040"/>
            <a:ext cx="3108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1700"/>
              <a:buFont typeface="Cambria"/>
              <a:buNone/>
            </a:pPr>
            <a:r>
              <a:rPr b="1" i="1" lang="en-US" sz="1700">
                <a:solidFill>
                  <a:srgbClr val="B5924A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932688" y="3767328"/>
            <a:ext cx="21214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Priority level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932688" y="4005072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Sequence work correctly and flag conflicts early.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3300984" y="3657600"/>
            <a:ext cx="2724912" cy="10789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B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7"/>
          <p:cNvSpPr/>
          <p:nvPr/>
        </p:nvSpPr>
        <p:spPr>
          <a:xfrm>
            <a:off x="3429000" y="3749040"/>
            <a:ext cx="3108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1700"/>
              <a:buFont typeface="Cambria"/>
              <a:buNone/>
            </a:pPr>
            <a:r>
              <a:rPr b="1" i="1" lang="en-US" sz="1700">
                <a:solidFill>
                  <a:srgbClr val="B5924A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3776472" y="3767328"/>
            <a:ext cx="21214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Success metric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3776472" y="4005072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A shared definition of success to report against.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6144768" y="3657600"/>
            <a:ext cx="2724912" cy="10789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B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7"/>
          <p:cNvSpPr/>
          <p:nvPr/>
        </p:nvSpPr>
        <p:spPr>
          <a:xfrm>
            <a:off x="6272784" y="3749040"/>
            <a:ext cx="3108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1700"/>
              <a:buFont typeface="Cambria"/>
              <a:buNone/>
            </a:pPr>
            <a:r>
              <a:rPr b="1" i="1" lang="en-US" sz="1700">
                <a:solidFill>
                  <a:srgbClr val="B5924A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6620256" y="3767328"/>
            <a:ext cx="21214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Post-campaign results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6620256" y="4005072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Who deposited, when, how much. Without this we cannot measure or improve.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8138160" y="48463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07 / 12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8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6 · HOW WE MEASURE SUCCESS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8181F"/>
                </a:solidFill>
                <a:latin typeface="Cambria"/>
                <a:ea typeface="Cambria"/>
                <a:cs typeface="Cambria"/>
                <a:sym typeface="Cambria"/>
              </a:rPr>
              <a:t>Operational discipline, cost control, revenue signal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457200" y="1170432"/>
            <a:ext cx="2724912" cy="3035808"/>
          </a:xfrm>
          <a:prstGeom prst="rect">
            <a:avLst/>
          </a:prstGeom>
          <a:solidFill>
            <a:srgbClr val="F2F1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8"/>
          <p:cNvSpPr/>
          <p:nvPr/>
        </p:nvSpPr>
        <p:spPr>
          <a:xfrm>
            <a:off x="640080" y="1280160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8181F"/>
                </a:solidFill>
                <a:latin typeface="Cambria"/>
                <a:ea typeface="Cambria"/>
                <a:cs typeface="Cambria"/>
                <a:sym typeface="Cambria"/>
              </a:rPr>
              <a:t>Operational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" name="Google Shape;319;p8"/>
          <p:cNvCxnSpPr/>
          <p:nvPr/>
        </p:nvCxnSpPr>
        <p:spPr>
          <a:xfrm>
            <a:off x="640080" y="1591056"/>
            <a:ext cx="2359152" cy="0"/>
          </a:xfrm>
          <a:prstGeom prst="straightConnector1">
            <a:avLst/>
          </a:prstGeom>
          <a:noFill/>
          <a:ln cap="flat" cmpd="sng" w="12700">
            <a:solidFill>
              <a:srgbClr val="DDDB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0" name="Google Shape;320;p8"/>
          <p:cNvSpPr/>
          <p:nvPr/>
        </p:nvSpPr>
        <p:spPr>
          <a:xfrm>
            <a:off x="640080" y="1700784"/>
            <a:ext cx="235915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Request completeness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% complete on first submission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640080" y="2116836"/>
            <a:ext cx="235915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SLA / turnaround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Request received → promo live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640080" y="2532888"/>
            <a:ext cx="235915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QC first-pass rate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Passing checklist without correction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640080" y="2948940"/>
            <a:ext cx="235915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Automation error rate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Errors per run, weekly trend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640080" y="3364992"/>
            <a:ext cx="235915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Duplicates cleared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Legacy issues resolved per month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640080" y="3781044"/>
            <a:ext cx="235915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Campaigns reviewed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% closed with a post-mortem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3300984" y="1170432"/>
            <a:ext cx="2724912" cy="3035808"/>
          </a:xfrm>
          <a:prstGeom prst="rect">
            <a:avLst/>
          </a:prstGeom>
          <a:solidFill>
            <a:srgbClr val="F2F1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8"/>
          <p:cNvSpPr/>
          <p:nvPr/>
        </p:nvSpPr>
        <p:spPr>
          <a:xfrm>
            <a:off x="3483864" y="1280160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8181F"/>
                </a:solidFill>
                <a:latin typeface="Cambria"/>
                <a:ea typeface="Cambria"/>
                <a:cs typeface="Cambria"/>
                <a:sym typeface="Cambria"/>
              </a:rPr>
              <a:t>Cost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8" name="Google Shape;328;p8"/>
          <p:cNvCxnSpPr/>
          <p:nvPr/>
        </p:nvCxnSpPr>
        <p:spPr>
          <a:xfrm>
            <a:off x="3483864" y="1591056"/>
            <a:ext cx="2359152" cy="0"/>
          </a:xfrm>
          <a:prstGeom prst="straightConnector1">
            <a:avLst/>
          </a:prstGeom>
          <a:noFill/>
          <a:ln cap="flat" cmpd="sng" w="12700">
            <a:solidFill>
              <a:srgbClr val="DDDB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9" name="Google Shape;329;p8"/>
          <p:cNvSpPr/>
          <p:nvPr/>
        </p:nvSpPr>
        <p:spPr>
          <a:xfrm>
            <a:off x="3483864" y="1700784"/>
            <a:ext cx="235915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Bonus cost / active player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Month-on-month trend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3483864" y="2116836"/>
            <a:ext cx="235915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Cost per claim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Bonus paid ÷ claims per campaign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3483864" y="2532888"/>
            <a:ext cx="235915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Cost per reactivated player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Campaign bonus ÷ re-depositors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3483864" y="2948940"/>
            <a:ext cx="235915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Cap utilisation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Average claim vs max cap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3483864" y="3364992"/>
            <a:ext cx="235915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Promos retired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Sunset list output per quarter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3483864" y="3781044"/>
            <a:ext cx="235915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Abuse cases actioned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Players excluded per period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6144768" y="1170432"/>
            <a:ext cx="2724912" cy="3035808"/>
          </a:xfrm>
          <a:prstGeom prst="rect">
            <a:avLst/>
          </a:prstGeom>
          <a:solidFill>
            <a:srgbClr val="F2F1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8"/>
          <p:cNvSpPr/>
          <p:nvPr/>
        </p:nvSpPr>
        <p:spPr>
          <a:xfrm>
            <a:off x="6327648" y="1280160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8181F"/>
                </a:solidFill>
                <a:latin typeface="Cambria"/>
                <a:ea typeface="Cambria"/>
                <a:cs typeface="Cambria"/>
                <a:sym typeface="Cambria"/>
              </a:rPr>
              <a:t>Revenue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" name="Google Shape;337;p8"/>
          <p:cNvCxnSpPr/>
          <p:nvPr/>
        </p:nvCxnSpPr>
        <p:spPr>
          <a:xfrm>
            <a:off x="6327648" y="1591056"/>
            <a:ext cx="2359152" cy="0"/>
          </a:xfrm>
          <a:prstGeom prst="straightConnector1">
            <a:avLst/>
          </a:prstGeom>
          <a:noFill/>
          <a:ln cap="flat" cmpd="sng" w="12700">
            <a:solidFill>
              <a:srgbClr val="DDDB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" name="Google Shape;338;p8"/>
          <p:cNvSpPr/>
          <p:nvPr/>
        </p:nvSpPr>
        <p:spPr>
          <a:xfrm>
            <a:off x="6327648" y="1700784"/>
            <a:ext cx="235915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Claim-to-deposit rate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Deposit within 24/72h of claim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6327648" y="2116836"/>
            <a:ext cx="235915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Reactivated players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Deposits after win-back campaign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6327648" y="2532888"/>
            <a:ext cx="235915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Avg deposit after promo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Vs pre-promo baseline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6327648" y="2948940"/>
            <a:ext cx="235915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Cross-product conversion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Sports-only → casino deposit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6327648" y="3364992"/>
            <a:ext cx="235915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VIP tier progression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Tier movement after milestone promo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6327648" y="3781044"/>
            <a:ext cx="235915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8181F"/>
                </a:solidFill>
                <a:latin typeface="Calibri"/>
                <a:ea typeface="Calibri"/>
                <a:cs typeface="Calibri"/>
                <a:sym typeface="Calibri"/>
              </a:rPr>
              <a:t>Revenue contribution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Where GGR/NGR is available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457200" y="4334256"/>
            <a:ext cx="8229600" cy="438912"/>
          </a:xfrm>
          <a:prstGeom prst="rect">
            <a:avLst/>
          </a:prstGeom>
          <a:solidFill>
            <a:srgbClr val="F5ED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8"/>
          <p:cNvSpPr/>
          <p:nvPr/>
        </p:nvSpPr>
        <p:spPr>
          <a:xfrm>
            <a:off x="640080" y="4370832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8A6C35"/>
                </a:solidFill>
                <a:latin typeface="Calibri"/>
                <a:ea typeface="Calibri"/>
                <a:cs typeface="Calibri"/>
                <a:sym typeface="Calibri"/>
              </a:rPr>
              <a:t>Baselines set in Month 1.  </a:t>
            </a: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Revenue metrics require post-campaign deposit data from Sales — directional until attribution is live (Q2). ROI cannot be substantiated without it.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8138160" y="48463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08 / 12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9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7 · RISKS AND MITIGATION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8181F"/>
                </a:solidFill>
                <a:latin typeface="Cambria"/>
                <a:ea typeface="Cambria"/>
                <a:cs typeface="Cambria"/>
                <a:sym typeface="Cambria"/>
              </a:rPr>
              <a:t>Known risks, owned openly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4" name="Google Shape;354;p9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{9867DB63-B682-4F3D-A2F8-1A38E2159944}</a:tableStyleId>
              </a:tblPr>
              <a:tblGrid>
                <a:gridCol w="2148850"/>
                <a:gridCol w="2514600"/>
                <a:gridCol w="3566150"/>
              </a:tblGrid>
              <a:tr h="361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C8C98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8C8C9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RISK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C8C98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8C8C9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WHY IT MATTERS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6C3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8A6C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MITIGATION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DD8"/>
                    </a:solidFill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81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818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Automation errors repeat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Recurring QC failures across brands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Exception log now; weekly review; update rules as patterns emerge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81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818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Unclear promo objectives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Misaligned promos and rework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Request Quality Gate — no run on incomplete briefs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81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818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Weak data tracking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 claims cannot be proven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Validated language only; attribution model built in Q2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81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818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Bonus hunters / abuse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 without revenue return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Flag with Sales; exclusion lists; monitor claim-vs-deposit ratio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81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818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Manual workload growth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Volume overwhelms team, errors rise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 automation exceptions before scaling; SOP + dashboard early-warning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81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818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 misalignment on role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Collaborative initiatives stall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Reframe Promo's role at HOD level; agree inputs upfront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81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818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Duplicate / legacy records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Player confusion, wrong redemptions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Finish WS1 dedupe; monthly sunset rhythm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81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818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Overpromising revenue impact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Credibility damage with management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unproven numbers until attribution data exists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81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818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QC ownership gap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Errors reach players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Pre-launch checklist; named QC owner per platform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B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5" name="Google Shape;355;p9"/>
          <p:cNvSpPr/>
          <p:nvPr/>
        </p:nvSpPr>
        <p:spPr>
          <a:xfrm>
            <a:off x="8138160" y="48463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09 / 12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8 · RECOMMENDED NEXT 30 DAYS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8181F"/>
                </a:solidFill>
                <a:latin typeface="Cambria"/>
                <a:ea typeface="Cambria"/>
                <a:cs typeface="Cambria"/>
                <a:sym typeface="Cambria"/>
              </a:rPr>
              <a:t>Control-building first, pilots by week three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457200" y="1170432"/>
            <a:ext cx="2011680" cy="603504"/>
          </a:xfrm>
          <a:prstGeom prst="rect">
            <a:avLst/>
          </a:prstGeom>
          <a:solidFill>
            <a:srgbClr val="F5ED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0"/>
          <p:cNvSpPr/>
          <p:nvPr/>
        </p:nvSpPr>
        <p:spPr>
          <a:xfrm>
            <a:off x="594360" y="1243584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8A6C35"/>
                </a:solidFill>
                <a:latin typeface="Calibri"/>
                <a:ea typeface="Calibri"/>
                <a:cs typeface="Calibri"/>
                <a:sym typeface="Calibri"/>
              </a:rPr>
              <a:t>WEEK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594360" y="1426464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mbria"/>
              <a:buNone/>
            </a:pPr>
            <a:r>
              <a:rPr b="1" lang="en-US" sz="1150">
                <a:solidFill>
                  <a:srgbClr val="18181F"/>
                </a:solidFill>
                <a:latin typeface="Cambria"/>
                <a:ea typeface="Cambria"/>
                <a:cs typeface="Cambria"/>
                <a:sym typeface="Cambria"/>
              </a:rPr>
              <a:t>Align and Identify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594360" y="1965960"/>
            <a:ext cx="54864" cy="54864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0"/>
          <p:cNvSpPr/>
          <p:nvPr/>
        </p:nvSpPr>
        <p:spPr>
          <a:xfrm>
            <a:off x="722376" y="1920240"/>
            <a:ext cx="16276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Request template + objectives with Sales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594360" y="2500884"/>
            <a:ext cx="54864" cy="54864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0"/>
          <p:cNvSpPr/>
          <p:nvPr/>
        </p:nvSpPr>
        <p:spPr>
          <a:xfrm>
            <a:off x="722376" y="2455164"/>
            <a:ext cx="16276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Map internal vs Sales data sources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594360" y="3035808"/>
            <a:ext cx="54864" cy="54864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0"/>
          <p:cNvSpPr/>
          <p:nvPr/>
        </p:nvSpPr>
        <p:spPr>
          <a:xfrm>
            <a:off x="722376" y="2990088"/>
            <a:ext cx="16276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Start automation QC exception log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594360" y="3570732"/>
            <a:ext cx="54864" cy="54864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0"/>
          <p:cNvSpPr/>
          <p:nvPr/>
        </p:nvSpPr>
        <p:spPr>
          <a:xfrm>
            <a:off x="722376" y="3525012"/>
            <a:ext cx="16276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List legacy / duplicate promo issues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594360" y="4105656"/>
            <a:ext cx="54864" cy="54864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0"/>
          <p:cNvSpPr/>
          <p:nvPr/>
        </p:nvSpPr>
        <p:spPr>
          <a:xfrm>
            <a:off x="722376" y="4059936"/>
            <a:ext cx="16276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Confirm lapsed-list owner in Sales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2530145" y="1170432"/>
            <a:ext cx="2011680" cy="603504"/>
          </a:xfrm>
          <a:prstGeom prst="rect">
            <a:avLst/>
          </a:prstGeom>
          <a:solidFill>
            <a:srgbClr val="EC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0"/>
          <p:cNvSpPr/>
          <p:nvPr/>
        </p:nvSpPr>
        <p:spPr>
          <a:xfrm>
            <a:off x="2667305" y="1243584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WEEK 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2667305" y="1426464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mbria"/>
              <a:buNone/>
            </a:pPr>
            <a:r>
              <a:rPr b="1" lang="en-US" sz="1150">
                <a:solidFill>
                  <a:srgbClr val="18181F"/>
                </a:solidFill>
                <a:latin typeface="Cambria"/>
                <a:ea typeface="Cambria"/>
                <a:cs typeface="Cambria"/>
                <a:sym typeface="Cambria"/>
              </a:rPr>
              <a:t>Audit and Build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2667305" y="1965960"/>
            <a:ext cx="54864" cy="54864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0"/>
          <p:cNvSpPr/>
          <p:nvPr/>
        </p:nvSpPr>
        <p:spPr>
          <a:xfrm>
            <a:off x="2795321" y="1920240"/>
            <a:ext cx="16276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Cap audit sample — claimants, 90 days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2667305" y="2500884"/>
            <a:ext cx="54864" cy="54864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0"/>
          <p:cNvSpPr/>
          <p:nvPr/>
        </p:nvSpPr>
        <p:spPr>
          <a:xfrm>
            <a:off x="2795321" y="2455164"/>
            <a:ext cx="16276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Draft promo sunset list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2667305" y="3035808"/>
            <a:ext cx="54864" cy="54864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0"/>
          <p:cNvSpPr/>
          <p:nvPr/>
        </p:nvSpPr>
        <p:spPr>
          <a:xfrm>
            <a:off x="2795321" y="2990088"/>
            <a:ext cx="16276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Basic dashboard: volume, QC, SLA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2667305" y="3570732"/>
            <a:ext cx="54864" cy="54864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0"/>
          <p:cNvSpPr/>
          <p:nvPr/>
        </p:nvSpPr>
        <p:spPr>
          <a:xfrm>
            <a:off x="2795321" y="3525012"/>
            <a:ext cx="16276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Define post-mortem template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2667305" y="4105656"/>
            <a:ext cx="54864" cy="54864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0"/>
          <p:cNvSpPr/>
          <p:nvPr/>
        </p:nvSpPr>
        <p:spPr>
          <a:xfrm>
            <a:off x="2795321" y="4059936"/>
            <a:ext cx="16276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Submit audits for approval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4603090" y="1170432"/>
            <a:ext cx="2011680" cy="603504"/>
          </a:xfrm>
          <a:prstGeom prst="rect">
            <a:avLst/>
          </a:prstGeom>
          <a:solidFill>
            <a:srgbClr val="EC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0"/>
          <p:cNvSpPr/>
          <p:nvPr/>
        </p:nvSpPr>
        <p:spPr>
          <a:xfrm>
            <a:off x="4740250" y="1243584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WEEK 3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4740250" y="1426464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mbria"/>
              <a:buNone/>
            </a:pPr>
            <a:r>
              <a:rPr b="1" lang="en-US" sz="1150">
                <a:solidFill>
                  <a:srgbClr val="18181F"/>
                </a:solidFill>
                <a:latin typeface="Cambria"/>
                <a:ea typeface="Cambria"/>
                <a:cs typeface="Cambria"/>
                <a:sym typeface="Cambria"/>
              </a:rPr>
              <a:t>Pilot and Strengthen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4740250" y="1965960"/>
            <a:ext cx="54864" cy="54864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0"/>
          <p:cNvSpPr/>
          <p:nvPr/>
        </p:nvSpPr>
        <p:spPr>
          <a:xfrm>
            <a:off x="4868266" y="1920240"/>
            <a:ext cx="16276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Pilot first reactivation pipeline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4740250" y="2500884"/>
            <a:ext cx="54864" cy="54864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0"/>
          <p:cNvSpPr/>
          <p:nvPr/>
        </p:nvSpPr>
        <p:spPr>
          <a:xfrm>
            <a:off x="4868266" y="2455164"/>
            <a:ext cx="16276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Pilot first segment campaign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4740250" y="3035808"/>
            <a:ext cx="54864" cy="54864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0"/>
          <p:cNvSpPr/>
          <p:nvPr/>
        </p:nvSpPr>
        <p:spPr>
          <a:xfrm>
            <a:off x="4868266" y="2990088"/>
            <a:ext cx="16276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Sales promo knowledge sharing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4740250" y="3570732"/>
            <a:ext cx="54864" cy="54864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0"/>
          <p:cNvSpPr/>
          <p:nvPr/>
        </p:nvSpPr>
        <p:spPr>
          <a:xfrm>
            <a:off x="4868266" y="3525012"/>
            <a:ext cx="16276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Update automation rules from log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4740250" y="4105656"/>
            <a:ext cx="54864" cy="54864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0"/>
          <p:cNvSpPr/>
          <p:nvPr/>
        </p:nvSpPr>
        <p:spPr>
          <a:xfrm>
            <a:off x="4868266" y="4059936"/>
            <a:ext cx="16276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Apply approved cap / sunset changes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6676034" y="1170432"/>
            <a:ext cx="2011680" cy="603504"/>
          </a:xfrm>
          <a:prstGeom prst="rect">
            <a:avLst/>
          </a:prstGeom>
          <a:solidFill>
            <a:srgbClr val="EC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0"/>
          <p:cNvSpPr/>
          <p:nvPr/>
        </p:nvSpPr>
        <p:spPr>
          <a:xfrm>
            <a:off x="6813194" y="1243584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WEEK 4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6813194" y="1426464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mbria"/>
              <a:buNone/>
            </a:pPr>
            <a:r>
              <a:rPr b="1" lang="en-US" sz="1150">
                <a:solidFill>
                  <a:srgbClr val="18181F"/>
                </a:solidFill>
                <a:latin typeface="Cambria"/>
                <a:ea typeface="Cambria"/>
                <a:cs typeface="Cambria"/>
                <a:sym typeface="Cambria"/>
              </a:rPr>
              <a:t>Review and Confirm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6813194" y="1965960"/>
            <a:ext cx="54864" cy="54864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6941210" y="1920240"/>
            <a:ext cx="16276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Review pilot results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6813194" y="2500884"/>
            <a:ext cx="54864" cy="54864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0"/>
          <p:cNvSpPr/>
          <p:nvPr/>
        </p:nvSpPr>
        <p:spPr>
          <a:xfrm>
            <a:off x="6941210" y="2455164"/>
            <a:ext cx="16276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First management snapshot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6813194" y="3035808"/>
            <a:ext cx="54864" cy="54864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0"/>
          <p:cNvSpPr/>
          <p:nvPr/>
        </p:nvSpPr>
        <p:spPr>
          <a:xfrm>
            <a:off x="6941210" y="2990088"/>
            <a:ext cx="16276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Confirm next month's promo calendar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6813194" y="3570732"/>
            <a:ext cx="54864" cy="54864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0"/>
          <p:cNvSpPr/>
          <p:nvPr/>
        </p:nvSpPr>
        <p:spPr>
          <a:xfrm>
            <a:off x="6941210" y="3525012"/>
            <a:ext cx="16276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Lock monthly operating rhythm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6813194" y="4105656"/>
            <a:ext cx="54864" cy="54864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0"/>
          <p:cNvSpPr/>
          <p:nvPr/>
        </p:nvSpPr>
        <p:spPr>
          <a:xfrm>
            <a:off x="6941210" y="4059936"/>
            <a:ext cx="16276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Document SOP updates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8138160" y="48463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10 / 12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9 · THE 10-SECOND VIEW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8181F"/>
                </a:solidFill>
                <a:latin typeface="Cambria"/>
                <a:ea typeface="Cambria"/>
                <a:cs typeface="Cambria"/>
                <a:sym typeface="Cambria"/>
              </a:rPr>
              <a:t>If you only remember four things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457200" y="1188720"/>
            <a:ext cx="4050792" cy="1737360"/>
          </a:xfrm>
          <a:prstGeom prst="rect">
            <a:avLst/>
          </a:prstGeom>
          <a:solidFill>
            <a:srgbClr val="F2F1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1"/>
          <p:cNvSpPr/>
          <p:nvPr/>
        </p:nvSpPr>
        <p:spPr>
          <a:xfrm>
            <a:off x="658368" y="1316736"/>
            <a:ext cx="36484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6C35"/>
                </a:solidFill>
                <a:latin typeface="Calibri"/>
                <a:ea typeface="Calibri"/>
                <a:cs typeface="Calibri"/>
                <a:sym typeface="Calibri"/>
              </a:rPr>
              <a:t>WHAT VALUE DOES PROMO BRING?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658368" y="1664208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1"/>
          <p:cNvSpPr/>
          <p:nvPr/>
        </p:nvSpPr>
        <p:spPr>
          <a:xfrm>
            <a:off x="804672" y="1609344"/>
            <a:ext cx="3520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Targeted campaign execution across platforms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658368" y="1970532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1"/>
          <p:cNvSpPr/>
          <p:nvPr/>
        </p:nvSpPr>
        <p:spPr>
          <a:xfrm>
            <a:off x="804672" y="1915668"/>
            <a:ext cx="3520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QC and governance before promos go live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658368" y="2276856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1"/>
          <p:cNvSpPr/>
          <p:nvPr/>
        </p:nvSpPr>
        <p:spPr>
          <a:xfrm>
            <a:off x="804672" y="2221992"/>
            <a:ext cx="3520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Automation with control — not just speed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658368" y="2583180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1"/>
          <p:cNvSpPr/>
          <p:nvPr/>
        </p:nvSpPr>
        <p:spPr>
          <a:xfrm>
            <a:off x="804672" y="2528316"/>
            <a:ext cx="3520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Promo data and visibility for management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4626864" y="1188720"/>
            <a:ext cx="4050792" cy="1737360"/>
          </a:xfrm>
          <a:prstGeom prst="rect">
            <a:avLst/>
          </a:prstGeom>
          <a:solidFill>
            <a:srgbClr val="F2F1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1"/>
          <p:cNvSpPr/>
          <p:nvPr/>
        </p:nvSpPr>
        <p:spPr>
          <a:xfrm>
            <a:off x="4828032" y="1316736"/>
            <a:ext cx="36484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6C35"/>
                </a:solidFill>
                <a:latin typeface="Calibri"/>
                <a:ea typeface="Calibri"/>
                <a:cs typeface="Calibri"/>
                <a:sym typeface="Calibri"/>
              </a:rPr>
              <a:t>HOW DOES PROMO REDUCE COST?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4828032" y="1664208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1"/>
          <p:cNvSpPr/>
          <p:nvPr/>
        </p:nvSpPr>
        <p:spPr>
          <a:xfrm>
            <a:off x="4974336" y="1609344"/>
            <a:ext cx="3520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Cap audit cuts over-capped bonus liability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1"/>
          <p:cNvSpPr/>
          <p:nvPr/>
        </p:nvSpPr>
        <p:spPr>
          <a:xfrm>
            <a:off x="4828032" y="1970532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1"/>
          <p:cNvSpPr/>
          <p:nvPr/>
        </p:nvSpPr>
        <p:spPr>
          <a:xfrm>
            <a:off x="4974336" y="1915668"/>
            <a:ext cx="3520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Abuse control removes low-value claims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4828032" y="2276856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1"/>
          <p:cNvSpPr/>
          <p:nvPr/>
        </p:nvSpPr>
        <p:spPr>
          <a:xfrm>
            <a:off x="4974336" y="2221992"/>
            <a:ext cx="3520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Duplicate and legacy cleanup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4828032" y="2583180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1"/>
          <p:cNvSpPr/>
          <p:nvPr/>
        </p:nvSpPr>
        <p:spPr>
          <a:xfrm>
            <a:off x="4974336" y="2528316"/>
            <a:ext cx="3520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Stronger QC reduces live errors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457200" y="3044952"/>
            <a:ext cx="4050792" cy="1737360"/>
          </a:xfrm>
          <a:prstGeom prst="rect">
            <a:avLst/>
          </a:prstGeom>
          <a:solidFill>
            <a:srgbClr val="F2F1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1"/>
          <p:cNvSpPr/>
          <p:nvPr/>
        </p:nvSpPr>
        <p:spPr>
          <a:xfrm>
            <a:off x="658368" y="3172968"/>
            <a:ext cx="36484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6C35"/>
                </a:solidFill>
                <a:latin typeface="Calibri"/>
                <a:ea typeface="Calibri"/>
                <a:cs typeface="Calibri"/>
                <a:sym typeface="Calibri"/>
              </a:rPr>
              <a:t>HOW DOES PROMO SUPPORT REVENUE?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658368" y="3520440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1"/>
          <p:cNvSpPr/>
          <p:nvPr/>
        </p:nvSpPr>
        <p:spPr>
          <a:xfrm>
            <a:off x="804672" y="3465576"/>
            <a:ext cx="3520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Monthly reactivation of lapsed players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658368" y="3826764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1"/>
          <p:cNvSpPr/>
          <p:nvPr/>
        </p:nvSpPr>
        <p:spPr>
          <a:xfrm>
            <a:off x="804672" y="3771900"/>
            <a:ext cx="3520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Segment campaigns matched to behaviour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658368" y="4133088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1"/>
          <p:cNvSpPr/>
          <p:nvPr/>
        </p:nvSpPr>
        <p:spPr>
          <a:xfrm>
            <a:off x="804672" y="4078224"/>
            <a:ext cx="3520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Cross-product bridging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658368" y="4439412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1"/>
          <p:cNvSpPr/>
          <p:nvPr/>
        </p:nvSpPr>
        <p:spPr>
          <a:xfrm>
            <a:off x="804672" y="4384548"/>
            <a:ext cx="3520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Attribution model (Q2) to prove impact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4626864" y="3044952"/>
            <a:ext cx="4050792" cy="1737360"/>
          </a:xfrm>
          <a:prstGeom prst="rect">
            <a:avLst/>
          </a:prstGeom>
          <a:solidFill>
            <a:srgbClr val="F2F1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1"/>
          <p:cNvSpPr/>
          <p:nvPr/>
        </p:nvSpPr>
        <p:spPr>
          <a:xfrm>
            <a:off x="4828032" y="3172968"/>
            <a:ext cx="36484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6C35"/>
                </a:solidFill>
                <a:latin typeface="Calibri"/>
                <a:ea typeface="Calibri"/>
                <a:cs typeface="Calibri"/>
                <a:sym typeface="Calibri"/>
              </a:rPr>
              <a:t>WHAT IS THE NEXT STEP?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4828032" y="3520440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1"/>
          <p:cNvSpPr/>
          <p:nvPr/>
        </p:nvSpPr>
        <p:spPr>
          <a:xfrm>
            <a:off x="4974336" y="3465576"/>
            <a:ext cx="3520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Align request template with Sales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4828032" y="3826764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1"/>
          <p:cNvSpPr/>
          <p:nvPr/>
        </p:nvSpPr>
        <p:spPr>
          <a:xfrm>
            <a:off x="4974336" y="3771900"/>
            <a:ext cx="3520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Start cap audit and sunset list now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4828032" y="4133088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1"/>
          <p:cNvSpPr/>
          <p:nvPr/>
        </p:nvSpPr>
        <p:spPr>
          <a:xfrm>
            <a:off x="4974336" y="4078224"/>
            <a:ext cx="3520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Pilot two campaigns by week three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4828032" y="4439412"/>
            <a:ext cx="64008" cy="64008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1"/>
          <p:cNvSpPr/>
          <p:nvPr/>
        </p:nvSpPr>
        <p:spPr>
          <a:xfrm>
            <a:off x="4974336" y="4384548"/>
            <a:ext cx="3520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4A56"/>
                </a:solidFill>
                <a:latin typeface="Calibri"/>
                <a:ea typeface="Calibri"/>
                <a:cs typeface="Calibri"/>
                <a:sym typeface="Calibri"/>
              </a:rPr>
              <a:t>Agree post-campaign data sharing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8138160" y="48463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11 / 12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F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2"/>
          <p:cNvSpPr/>
          <p:nvPr/>
        </p:nvSpPr>
        <p:spPr>
          <a:xfrm>
            <a:off x="502920" y="45720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B5924A"/>
                </a:solidFill>
                <a:latin typeface="Calibri"/>
                <a:ea typeface="Calibri"/>
                <a:cs typeface="Calibri"/>
                <a:sym typeface="Calibri"/>
              </a:rPr>
              <a:t>IN THE ROOM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2"/>
          <p:cNvSpPr/>
          <p:nvPr/>
        </p:nvSpPr>
        <p:spPr>
          <a:xfrm>
            <a:off x="502920" y="713232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i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Talking points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2"/>
          <p:cNvSpPr/>
          <p:nvPr/>
        </p:nvSpPr>
        <p:spPr>
          <a:xfrm>
            <a:off x="530352" y="1581912"/>
            <a:ext cx="82296" cy="82296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2"/>
          <p:cNvSpPr/>
          <p:nvPr/>
        </p:nvSpPr>
        <p:spPr>
          <a:xfrm>
            <a:off x="777240" y="1481328"/>
            <a:ext cx="7680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D6D2"/>
              </a:buClr>
              <a:buSzPts val="1350"/>
              <a:buFont typeface="Cambria"/>
              <a:buNone/>
            </a:pPr>
            <a:r>
              <a:rPr i="1" lang="en-US" sz="1350">
                <a:solidFill>
                  <a:srgbClr val="D8D6D2"/>
                </a:solidFill>
                <a:latin typeface="Cambria"/>
                <a:ea typeface="Cambria"/>
                <a:cs typeface="Cambria"/>
                <a:sym typeface="Cambria"/>
              </a:rPr>
              <a:t>“Promo adds more value when we are involved in campaign structure, QC, cost control, and performance review — not just execution.”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530352" y="2386584"/>
            <a:ext cx="82296" cy="82296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2"/>
          <p:cNvSpPr/>
          <p:nvPr/>
        </p:nvSpPr>
        <p:spPr>
          <a:xfrm>
            <a:off x="777240" y="2286000"/>
            <a:ext cx="7680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D6D2"/>
              </a:buClr>
              <a:buSzPts val="1350"/>
              <a:buFont typeface="Cambria"/>
              <a:buNone/>
            </a:pPr>
            <a:r>
              <a:rPr i="1" lang="en-US" sz="1350">
                <a:solidFill>
                  <a:srgbClr val="D8D6D2"/>
                </a:solidFill>
                <a:latin typeface="Cambria"/>
                <a:ea typeface="Cambria"/>
                <a:cs typeface="Cambria"/>
                <a:sym typeface="Cambria"/>
              </a:rPr>
              <a:t>“June showed that speed without control creates risk. Our next focus is stronger QC, exception tracking, and dashboard visibility — before we scale further.”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2"/>
          <p:cNvSpPr/>
          <p:nvPr/>
        </p:nvSpPr>
        <p:spPr>
          <a:xfrm>
            <a:off x="530352" y="3191256"/>
            <a:ext cx="82296" cy="82296"/>
          </a:xfrm>
          <a:prstGeom prst="ellipse">
            <a:avLst/>
          </a:prstGeom>
          <a:solidFill>
            <a:srgbClr val="B59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2"/>
          <p:cNvSpPr/>
          <p:nvPr/>
        </p:nvSpPr>
        <p:spPr>
          <a:xfrm>
            <a:off x="777240" y="3090672"/>
            <a:ext cx="7680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D6D2"/>
              </a:buClr>
              <a:buSzPts val="1350"/>
              <a:buFont typeface="Cambria"/>
              <a:buNone/>
            </a:pPr>
            <a:r>
              <a:rPr i="1" lang="en-US" sz="1350">
                <a:solidFill>
                  <a:srgbClr val="D8D6D2"/>
                </a:solidFill>
                <a:latin typeface="Cambria"/>
                <a:ea typeface="Cambria"/>
                <a:cs typeface="Cambria"/>
                <a:sym typeface="Cambria"/>
              </a:rPr>
              <a:t>“The goal is not more promos. It is promos that are measurable, less wasteful, and connected to deposit behaviour.”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7" name="Google Shape;477;p12"/>
          <p:cNvCxnSpPr/>
          <p:nvPr/>
        </p:nvCxnSpPr>
        <p:spPr>
          <a:xfrm>
            <a:off x="502920" y="4041648"/>
            <a:ext cx="8138160" cy="0"/>
          </a:xfrm>
          <a:prstGeom prst="straightConnector1">
            <a:avLst/>
          </a:prstGeom>
          <a:noFill/>
          <a:ln cap="flat" cmpd="sng" w="12700">
            <a:solidFill>
              <a:srgbClr val="3A3A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8" name="Google Shape;478;p12"/>
          <p:cNvSpPr/>
          <p:nvPr/>
        </p:nvSpPr>
        <p:spPr>
          <a:xfrm>
            <a:off x="502920" y="4187952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B5924A"/>
                </a:solidFill>
                <a:latin typeface="Calibri"/>
                <a:ea typeface="Calibri"/>
                <a:cs typeface="Calibri"/>
                <a:sym typeface="Calibri"/>
              </a:rPr>
              <a:t>Volume → value.  </a:t>
            </a:r>
            <a:r>
              <a:rPr lang="en-US" sz="1200">
                <a:solidFill>
                  <a:srgbClr val="D8D6D2"/>
                </a:solidFill>
                <a:latin typeface="Calibri"/>
                <a:ea typeface="Calibri"/>
                <a:cs typeface="Calibri"/>
                <a:sym typeface="Calibri"/>
              </a:rPr>
              <a:t>That starts with clearer briefs from Sales and a post-campaign data-sharing agreement.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2"/>
          <p:cNvSpPr/>
          <p:nvPr/>
        </p:nvSpPr>
        <p:spPr>
          <a:xfrm>
            <a:off x="502920" y="4681728"/>
            <a:ext cx="8138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C8C98"/>
                </a:solidFill>
                <a:latin typeface="Calibri"/>
                <a:ea typeface="Calibri"/>
                <a:cs typeface="Calibri"/>
                <a:sym typeface="Calibri"/>
              </a:rPr>
              <a:t>Promo Department · Value Creation Framework · July 2026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2026-07-07T10:46:29Z</dcterms:created>
  <dc:creator>Promo Department</dc:creator>
</cp:coreProperties>
</file>